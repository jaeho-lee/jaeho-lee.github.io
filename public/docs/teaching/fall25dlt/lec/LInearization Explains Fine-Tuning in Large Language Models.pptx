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slideLayouts/slideLayout3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1" r:id="rId1"/>
    <p:sldMasterId id="2147483693" r:id="rId2"/>
    <p:sldMasterId id="2147483682" r:id="rId3"/>
    <p:sldMasterId id="2147483688" r:id="rId4"/>
  </p:sldMasterIdLst>
  <p:notesMasterIdLst>
    <p:notesMasterId r:id="rId54"/>
  </p:notesMasterIdLst>
  <p:handoutMasterIdLst>
    <p:handoutMasterId r:id="rId55"/>
  </p:handoutMasterIdLst>
  <p:sldIdLst>
    <p:sldId id="371" r:id="rId5"/>
    <p:sldId id="565" r:id="rId6"/>
    <p:sldId id="566" r:id="rId7"/>
    <p:sldId id="574" r:id="rId8"/>
    <p:sldId id="570" r:id="rId9"/>
    <p:sldId id="571" r:id="rId10"/>
    <p:sldId id="575" r:id="rId11"/>
    <p:sldId id="573" r:id="rId12"/>
    <p:sldId id="572" r:id="rId13"/>
    <p:sldId id="582" r:id="rId14"/>
    <p:sldId id="581" r:id="rId15"/>
    <p:sldId id="591" r:id="rId16"/>
    <p:sldId id="583" r:id="rId17"/>
    <p:sldId id="585" r:id="rId18"/>
    <p:sldId id="587" r:id="rId19"/>
    <p:sldId id="595" r:id="rId20"/>
    <p:sldId id="596" r:id="rId21"/>
    <p:sldId id="597" r:id="rId22"/>
    <p:sldId id="588" r:id="rId23"/>
    <p:sldId id="599" r:id="rId24"/>
    <p:sldId id="586" r:id="rId25"/>
    <p:sldId id="601" r:id="rId26"/>
    <p:sldId id="589" r:id="rId27"/>
    <p:sldId id="604" r:id="rId28"/>
    <p:sldId id="584" r:id="rId29"/>
    <p:sldId id="605" r:id="rId30"/>
    <p:sldId id="606" r:id="rId31"/>
    <p:sldId id="607" r:id="rId32"/>
    <p:sldId id="608" r:id="rId33"/>
    <p:sldId id="590" r:id="rId34"/>
    <p:sldId id="609" r:id="rId35"/>
    <p:sldId id="610" r:id="rId36"/>
    <p:sldId id="611" r:id="rId37"/>
    <p:sldId id="594" r:id="rId38"/>
    <p:sldId id="612" r:id="rId39"/>
    <p:sldId id="613" r:id="rId40"/>
    <p:sldId id="614" r:id="rId41"/>
    <p:sldId id="615" r:id="rId42"/>
    <p:sldId id="616" r:id="rId43"/>
    <p:sldId id="598" r:id="rId44"/>
    <p:sldId id="617" r:id="rId45"/>
    <p:sldId id="618" r:id="rId46"/>
    <p:sldId id="567" r:id="rId47"/>
    <p:sldId id="619" r:id="rId48"/>
    <p:sldId id="522" r:id="rId49"/>
    <p:sldId id="592" r:id="rId50"/>
    <p:sldId id="593" r:id="rId51"/>
    <p:sldId id="602" r:id="rId52"/>
    <p:sldId id="603" r:id="rId5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in" id="{BD571490-99C3-479D-852A-1831CC906EB4}">
          <p14:sldIdLst>
            <p14:sldId id="371"/>
          </p14:sldIdLst>
        </p14:section>
        <p14:section name="Section 1 : Motivation" id="{A082D814-338A-4EF3-889D-ED4E14F89726}">
          <p14:sldIdLst>
            <p14:sldId id="565"/>
            <p14:sldId id="566"/>
          </p14:sldIdLst>
        </p14:section>
        <p14:section name="Section 2 : Problem Formulation" id="{75F568CE-3F51-4505-BAA8-758D732B80FB}">
          <p14:sldIdLst>
            <p14:sldId id="574"/>
            <p14:sldId id="570"/>
            <p14:sldId id="571"/>
          </p14:sldIdLst>
        </p14:section>
        <p14:section name="Section 3 : Proximity Promotes Linearity" id="{719400AF-F2EA-4044-B1DC-9901C51F2B85}">
          <p14:sldIdLst>
            <p14:sldId id="575"/>
            <p14:sldId id="573"/>
            <p14:sldId id="572"/>
          </p14:sldIdLst>
        </p14:section>
        <p14:section name="Lemma 3" id="{7E8D18FE-F49D-48C9-8CC0-E2526D124965}">
          <p14:sldIdLst>
            <p14:sldId id="582"/>
          </p14:sldIdLst>
        </p14:section>
        <p14:section name="Theorem 1" id="{C71423DD-7085-405D-8758-7A091D48A354}">
          <p14:sldIdLst>
            <p14:sldId id="581"/>
            <p14:sldId id="591"/>
            <p14:sldId id="583"/>
          </p14:sldIdLst>
        </p14:section>
        <p14:section name="Lemma 1" id="{3AF5366C-21EB-4EE1-B476-B30A055FAF01}">
          <p14:sldIdLst>
            <p14:sldId id="585"/>
          </p14:sldIdLst>
        </p14:section>
        <p14:section name="Theorem 2" id="{F16DF420-FF7F-4EC5-ABA7-62C9953D6255}">
          <p14:sldIdLst>
            <p14:sldId id="587"/>
            <p14:sldId id="595"/>
            <p14:sldId id="596"/>
            <p14:sldId id="597"/>
          </p14:sldIdLst>
        </p14:section>
        <p14:section name="Theorem 3" id="{1DA6FD00-0321-46CC-A7CE-50E12ADD9DB6}">
          <p14:sldIdLst>
            <p14:sldId id="588"/>
            <p14:sldId id="599"/>
            <p14:sldId id="586"/>
            <p14:sldId id="601"/>
          </p14:sldIdLst>
        </p14:section>
        <p14:section name="Theorem 4" id="{D040A66D-30F6-4CCF-A272-4F64297DEF1B}">
          <p14:sldIdLst>
            <p14:sldId id="589"/>
          </p14:sldIdLst>
        </p14:section>
        <p14:section name="Section 4 : Fine-Tuning Meets NTK Regression" id="{78F23A03-F5CF-4EA3-B18D-38B317312DCE}">
          <p14:sldIdLst>
            <p14:sldId id="604"/>
            <p14:sldId id="584"/>
            <p14:sldId id="605"/>
            <p14:sldId id="606"/>
            <p14:sldId id="607"/>
            <p14:sldId id="608"/>
            <p14:sldId id="590"/>
            <p14:sldId id="609"/>
          </p14:sldIdLst>
        </p14:section>
        <p14:section name="Section 5 : Spectral Perturbation of Layers" id="{787E6D35-DE42-4751-AC56-BE0EF51C003C}">
          <p14:sldIdLst>
            <p14:sldId id="610"/>
            <p14:sldId id="611"/>
            <p14:sldId id="594"/>
            <p14:sldId id="612"/>
            <p14:sldId id="613"/>
            <p14:sldId id="614"/>
            <p14:sldId id="615"/>
          </p14:sldIdLst>
        </p14:section>
        <p14:section name="Section 6 : Experiments" id="{679F7947-AF80-472D-AAA3-BE4BA49D8006}">
          <p14:sldIdLst>
            <p14:sldId id="616"/>
            <p14:sldId id="598"/>
            <p14:sldId id="617"/>
            <p14:sldId id="618"/>
          </p14:sldIdLst>
        </p14:section>
        <p14:section name="Limitation" id="{97A80A9B-BC59-4D9E-9097-30BE73A1EF1E}">
          <p14:sldIdLst>
            <p14:sldId id="567"/>
            <p14:sldId id="619"/>
          </p14:sldIdLst>
        </p14:section>
        <p14:section name="EOD" id="{3279CBBF-BF8C-40D7-88D0-962056E63E76}">
          <p14:sldIdLst>
            <p14:sldId id="522"/>
            <p14:sldId id="592"/>
            <p14:sldId id="593"/>
            <p14:sldId id="602"/>
            <p14:sldId id="60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권은지 (기계항공및원자력공학부)" initials="권(" lastIdx="1" clrIdx="0">
    <p:extLst>
      <p:ext uri="{19B8F6BF-5375-455C-9EA6-DF929625EA0E}">
        <p15:presenceInfo xmlns:p15="http://schemas.microsoft.com/office/powerpoint/2012/main" userId="S::silverground@unist.ac.kr::7388f872-24d5-4252-954b-a03efe0c0548" providerId="AD"/>
      </p:ext>
    </p:extLst>
  </p:cmAuthor>
  <p:cmAuthor id="2" name="김준석(전자전기공학과)" initials="김" lastIdx="1" clrIdx="1">
    <p:extLst>
      <p:ext uri="{19B8F6BF-5375-455C-9EA6-DF929625EA0E}">
        <p15:presenceInfo xmlns:p15="http://schemas.microsoft.com/office/powerpoint/2012/main" userId="S::adrs77@postech.ac.kr::c4c08a24-37a7-4c61-b031-141f34ff0bb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9CFE7"/>
    <a:srgbClr val="CDE4D2"/>
    <a:srgbClr val="6E91E3"/>
    <a:srgbClr val="FEDBDD"/>
    <a:srgbClr val="FEB2B5"/>
    <a:srgbClr val="DCE8EA"/>
    <a:srgbClr val="ADDBD9"/>
    <a:srgbClr val="EDF3C5"/>
    <a:srgbClr val="D8DD7E"/>
    <a:srgbClr val="8B55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0B0E97-6B19-46AE-8709-2FC2C55DBACA}" v="4796" dt="2025-12-13T13:19:16.2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38B1855-1B75-4FBE-930C-398BA8C253C6}" styleName="테마 스타일 2 - 강조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보통 스타일 4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22838BEF-8BB2-4498-84A7-C5851F593DF1}" styleName="보통 스타일 4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00" autoAdjust="0"/>
    <p:restoredTop sz="73653" autoAdjust="0"/>
  </p:normalViewPr>
  <p:slideViewPr>
    <p:cSldViewPr snapToGrid="0" showGuides="1">
      <p:cViewPr varScale="1">
        <p:scale>
          <a:sx n="122" d="100"/>
          <a:sy n="122" d="100"/>
        </p:scale>
        <p:origin x="90" y="31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howGuides="1">
      <p:cViewPr varScale="1">
        <p:scale>
          <a:sx n="104" d="100"/>
          <a:sy n="104" d="100"/>
        </p:scale>
        <p:origin x="1596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54" Type="http://schemas.openxmlformats.org/officeDocument/2006/relationships/notesMaster" Target="notesMasters/notesMaster1.xml"/><Relationship Id="rId62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presProps" Target="presProps.xml"/><Relationship Id="rId61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commentAuthors" Target="commentAuthor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김준석(전자전기공학과)" userId="c4c08a24-37a7-4c61-b031-141f34ff0bb5" providerId="ADAL" clId="{5A5D7159-5D4B-4930-8D24-CDAEE40F4512}"/>
    <pc:docChg chg="undo custSel addSld delSld modSld sldOrd addSection delSection modSection">
      <pc:chgData name="김준석(전자전기공학과)" userId="c4c08a24-37a7-4c61-b031-141f34ff0bb5" providerId="ADAL" clId="{5A5D7159-5D4B-4930-8D24-CDAEE40F4512}" dt="2025-12-13T13:19:16.292" v="7878" actId="20577"/>
      <pc:docMkLst>
        <pc:docMk/>
      </pc:docMkLst>
      <pc:sldChg chg="modSp mod">
        <pc:chgData name="김준석(전자전기공학과)" userId="c4c08a24-37a7-4c61-b031-141f34ff0bb5" providerId="ADAL" clId="{5A5D7159-5D4B-4930-8D24-CDAEE40F4512}" dt="2025-12-13T09:47:36.773" v="7082" actId="20577"/>
        <pc:sldMkLst>
          <pc:docMk/>
          <pc:sldMk cId="3363029573" sldId="371"/>
        </pc:sldMkLst>
        <pc:spChg chg="mod">
          <ac:chgData name="김준석(전자전기공학과)" userId="c4c08a24-37a7-4c61-b031-141f34ff0bb5" providerId="ADAL" clId="{5A5D7159-5D4B-4930-8D24-CDAEE40F4512}" dt="2025-12-13T09:47:36.773" v="7082" actId="20577"/>
          <ac:spMkLst>
            <pc:docMk/>
            <pc:sldMk cId="3363029573" sldId="371"/>
            <ac:spMk id="7" creationId="{BDCA8759-1272-0FBF-2DCB-8CED94BA641C}"/>
          </ac:spMkLst>
        </pc:spChg>
      </pc:sldChg>
      <pc:sldChg chg="del">
        <pc:chgData name="김준석(전자전기공학과)" userId="c4c08a24-37a7-4c61-b031-141f34ff0bb5" providerId="ADAL" clId="{5A5D7159-5D4B-4930-8D24-CDAEE40F4512}" dt="2025-12-10T15:13:50.892" v="4554" actId="47"/>
        <pc:sldMkLst>
          <pc:docMk/>
          <pc:sldMk cId="64707046" sldId="563"/>
        </pc:sldMkLst>
      </pc:sldChg>
      <pc:sldChg chg="del">
        <pc:chgData name="김준석(전자전기공학과)" userId="c4c08a24-37a7-4c61-b031-141f34ff0bb5" providerId="ADAL" clId="{5A5D7159-5D4B-4930-8D24-CDAEE40F4512}" dt="2025-12-10T15:13:50.228" v="4553" actId="47"/>
        <pc:sldMkLst>
          <pc:docMk/>
          <pc:sldMk cId="750544274" sldId="564"/>
        </pc:sldMkLst>
      </pc:sldChg>
      <pc:sldChg chg="modSp mod">
        <pc:chgData name="김준석(전자전기공학과)" userId="c4c08a24-37a7-4c61-b031-141f34ff0bb5" providerId="ADAL" clId="{5A5D7159-5D4B-4930-8D24-CDAEE40F4512}" dt="2025-12-10T15:15:32.249" v="4690" actId="207"/>
        <pc:sldMkLst>
          <pc:docMk/>
          <pc:sldMk cId="2386422519" sldId="566"/>
        </pc:sldMkLst>
        <pc:spChg chg="mod">
          <ac:chgData name="김준석(전자전기공학과)" userId="c4c08a24-37a7-4c61-b031-141f34ff0bb5" providerId="ADAL" clId="{5A5D7159-5D4B-4930-8D24-CDAEE40F4512}" dt="2025-12-10T15:15:32.249" v="4690" actId="207"/>
          <ac:spMkLst>
            <pc:docMk/>
            <pc:sldMk cId="2386422519" sldId="566"/>
            <ac:spMk id="273" creationId="{3483BEAD-3C2C-1AE7-AB6A-EB7B871FAA01}"/>
          </ac:spMkLst>
        </pc:spChg>
      </pc:sldChg>
      <pc:sldChg chg="add">
        <pc:chgData name="김준석(전자전기공학과)" userId="c4c08a24-37a7-4c61-b031-141f34ff0bb5" providerId="ADAL" clId="{5A5D7159-5D4B-4930-8D24-CDAEE40F4512}" dt="2025-12-13T09:47:16.191" v="7065"/>
        <pc:sldMkLst>
          <pc:docMk/>
          <pc:sldMk cId="2753711948" sldId="567"/>
        </pc:sldMkLst>
      </pc:sldChg>
      <pc:sldChg chg="add del">
        <pc:chgData name="김준석(전자전기공학과)" userId="c4c08a24-37a7-4c61-b031-141f34ff0bb5" providerId="ADAL" clId="{5A5D7159-5D4B-4930-8D24-CDAEE40F4512}" dt="2025-12-13T09:47:12.634" v="7064" actId="2696"/>
        <pc:sldMkLst>
          <pc:docMk/>
          <pc:sldMk cId="3052069549" sldId="567"/>
        </pc:sldMkLst>
      </pc:sldChg>
      <pc:sldChg chg="del">
        <pc:chgData name="김준석(전자전기공학과)" userId="c4c08a24-37a7-4c61-b031-141f34ff0bb5" providerId="ADAL" clId="{5A5D7159-5D4B-4930-8D24-CDAEE40F4512}" dt="2025-12-08T14:58:36.877" v="3831" actId="47"/>
        <pc:sldMkLst>
          <pc:docMk/>
          <pc:sldMk cId="2006462753" sldId="568"/>
        </pc:sldMkLst>
      </pc:sldChg>
      <pc:sldChg chg="addSp modSp mod">
        <pc:chgData name="김준석(전자전기공학과)" userId="c4c08a24-37a7-4c61-b031-141f34ff0bb5" providerId="ADAL" clId="{5A5D7159-5D4B-4930-8D24-CDAEE40F4512}" dt="2025-12-10T15:14:30.563" v="4565" actId="1035"/>
        <pc:sldMkLst>
          <pc:docMk/>
          <pc:sldMk cId="3433167851" sldId="570"/>
        </pc:sldMkLst>
        <pc:spChg chg="add mod">
          <ac:chgData name="김준석(전자전기공학과)" userId="c4c08a24-37a7-4c61-b031-141f34ff0bb5" providerId="ADAL" clId="{5A5D7159-5D4B-4930-8D24-CDAEE40F4512}" dt="2025-12-09T12:10:22.063" v="4448" actId="207"/>
          <ac:spMkLst>
            <pc:docMk/>
            <pc:sldMk cId="3433167851" sldId="570"/>
            <ac:spMk id="5" creationId="{69314C35-CC12-B315-B2E0-0FAA9EB7105F}"/>
          </ac:spMkLst>
        </pc:spChg>
        <pc:spChg chg="add mod">
          <ac:chgData name="김준석(전자전기공학과)" userId="c4c08a24-37a7-4c61-b031-141f34ff0bb5" providerId="ADAL" clId="{5A5D7159-5D4B-4930-8D24-CDAEE40F4512}" dt="2025-12-09T12:10:22.063" v="4448" actId="207"/>
          <ac:spMkLst>
            <pc:docMk/>
            <pc:sldMk cId="3433167851" sldId="570"/>
            <ac:spMk id="6" creationId="{1808F35F-47F3-25EC-4790-B214963CCD3C}"/>
          </ac:spMkLst>
        </pc:spChg>
        <pc:spChg chg="add mod">
          <ac:chgData name="김준석(전자전기공학과)" userId="c4c08a24-37a7-4c61-b031-141f34ff0bb5" providerId="ADAL" clId="{5A5D7159-5D4B-4930-8D24-CDAEE40F4512}" dt="2025-12-09T12:10:30.441" v="4451" actId="14100"/>
          <ac:spMkLst>
            <pc:docMk/>
            <pc:sldMk cId="3433167851" sldId="570"/>
            <ac:spMk id="7" creationId="{DB5A05DD-7710-87B2-5DEC-BC16BDB51A84}"/>
          </ac:spMkLst>
        </pc:spChg>
        <pc:spChg chg="add mod">
          <ac:chgData name="김준석(전자전기공학과)" userId="c4c08a24-37a7-4c61-b031-141f34ff0bb5" providerId="ADAL" clId="{5A5D7159-5D4B-4930-8D24-CDAEE40F4512}" dt="2025-12-09T12:10:38.181" v="4454" actId="14100"/>
          <ac:spMkLst>
            <pc:docMk/>
            <pc:sldMk cId="3433167851" sldId="570"/>
            <ac:spMk id="8" creationId="{8C0240CF-3E82-F5EE-A692-0379364EA917}"/>
          </ac:spMkLst>
        </pc:spChg>
        <pc:spChg chg="add mod">
          <ac:chgData name="김준석(전자전기공학과)" userId="c4c08a24-37a7-4c61-b031-141f34ff0bb5" providerId="ADAL" clId="{5A5D7159-5D4B-4930-8D24-CDAEE40F4512}" dt="2025-12-09T12:10:47.631" v="4457" actId="14100"/>
          <ac:spMkLst>
            <pc:docMk/>
            <pc:sldMk cId="3433167851" sldId="570"/>
            <ac:spMk id="9" creationId="{4E699C24-5DC6-ED7A-13B8-9A2E0AF2E377}"/>
          </ac:spMkLst>
        </pc:spChg>
        <pc:spChg chg="add mod">
          <ac:chgData name="김준석(전자전기공학과)" userId="c4c08a24-37a7-4c61-b031-141f34ff0bb5" providerId="ADAL" clId="{5A5D7159-5D4B-4930-8D24-CDAEE40F4512}" dt="2025-12-09T12:10:52.874" v="4460" actId="14100"/>
          <ac:spMkLst>
            <pc:docMk/>
            <pc:sldMk cId="3433167851" sldId="570"/>
            <ac:spMk id="10" creationId="{CF9CCED7-1158-9594-7AAB-4C9CA5EAA101}"/>
          </ac:spMkLst>
        </pc:spChg>
        <pc:spChg chg="add mod">
          <ac:chgData name="김준석(전자전기공학과)" userId="c4c08a24-37a7-4c61-b031-141f34ff0bb5" providerId="ADAL" clId="{5A5D7159-5D4B-4930-8D24-CDAEE40F4512}" dt="2025-12-09T12:11:01.143" v="4463" actId="14100"/>
          <ac:spMkLst>
            <pc:docMk/>
            <pc:sldMk cId="3433167851" sldId="570"/>
            <ac:spMk id="11" creationId="{D4643B5E-C30A-7EE8-DCEB-D85B31B76F5F}"/>
          </ac:spMkLst>
        </pc:spChg>
        <pc:spChg chg="add mod">
          <ac:chgData name="김준석(전자전기공학과)" userId="c4c08a24-37a7-4c61-b031-141f34ff0bb5" providerId="ADAL" clId="{5A5D7159-5D4B-4930-8D24-CDAEE40F4512}" dt="2025-12-10T15:14:30.563" v="4565" actId="1035"/>
          <ac:spMkLst>
            <pc:docMk/>
            <pc:sldMk cId="3433167851" sldId="570"/>
            <ac:spMk id="12" creationId="{D2E9AAEA-D94E-5680-F71F-BA75332D3B25}"/>
          </ac:spMkLst>
        </pc:spChg>
        <pc:spChg chg="mod">
          <ac:chgData name="김준석(전자전기공학과)" userId="c4c08a24-37a7-4c61-b031-141f34ff0bb5" providerId="ADAL" clId="{5A5D7159-5D4B-4930-8D24-CDAEE40F4512}" dt="2025-12-09T12:10:01.302" v="4441" actId="20577"/>
          <ac:spMkLst>
            <pc:docMk/>
            <pc:sldMk cId="3433167851" sldId="570"/>
            <ac:spMk id="273" creationId="{C3F23F09-2655-A238-95E8-3AEE5AAEC569}"/>
          </ac:spMkLst>
        </pc:spChg>
      </pc:sldChg>
      <pc:sldChg chg="addSp modSp mod">
        <pc:chgData name="김준석(전자전기공학과)" userId="c4c08a24-37a7-4c61-b031-141f34ff0bb5" providerId="ADAL" clId="{5A5D7159-5D4B-4930-8D24-CDAEE40F4512}" dt="2025-12-10T15:18:34.579" v="4763" actId="14100"/>
        <pc:sldMkLst>
          <pc:docMk/>
          <pc:sldMk cId="3761568633" sldId="571"/>
        </pc:sldMkLst>
        <pc:spChg chg="add mod">
          <ac:chgData name="김준석(전자전기공학과)" userId="c4c08a24-37a7-4c61-b031-141f34ff0bb5" providerId="ADAL" clId="{5A5D7159-5D4B-4930-8D24-CDAEE40F4512}" dt="2025-12-09T12:11:15.949" v="4465" actId="1076"/>
          <ac:spMkLst>
            <pc:docMk/>
            <pc:sldMk cId="3761568633" sldId="571"/>
            <ac:spMk id="4" creationId="{C50E35F0-8B92-0956-9910-821A4F1303B6}"/>
          </ac:spMkLst>
        </pc:spChg>
        <pc:spChg chg="add mod">
          <ac:chgData name="김준석(전자전기공학과)" userId="c4c08a24-37a7-4c61-b031-141f34ff0bb5" providerId="ADAL" clId="{5A5D7159-5D4B-4930-8D24-CDAEE40F4512}" dt="2025-12-09T12:12:02.360" v="4489" actId="1076"/>
          <ac:spMkLst>
            <pc:docMk/>
            <pc:sldMk cId="3761568633" sldId="571"/>
            <ac:spMk id="7" creationId="{A0C5C8C7-2751-D491-CF77-0C528505F6FC}"/>
          </ac:spMkLst>
        </pc:spChg>
        <pc:spChg chg="add mod">
          <ac:chgData name="김준석(전자전기공학과)" userId="c4c08a24-37a7-4c61-b031-141f34ff0bb5" providerId="ADAL" clId="{5A5D7159-5D4B-4930-8D24-CDAEE40F4512}" dt="2025-12-09T12:12:07.578" v="4493" actId="207"/>
          <ac:spMkLst>
            <pc:docMk/>
            <pc:sldMk cId="3761568633" sldId="571"/>
            <ac:spMk id="10" creationId="{583CD882-1CFF-0CE8-4F89-20EB2FAF2EA5}"/>
          </ac:spMkLst>
        </pc:spChg>
        <pc:spChg chg="add mod">
          <ac:chgData name="김준석(전자전기공학과)" userId="c4c08a24-37a7-4c61-b031-141f34ff0bb5" providerId="ADAL" clId="{5A5D7159-5D4B-4930-8D24-CDAEE40F4512}" dt="2025-12-10T15:18:25.173" v="4757" actId="14100"/>
          <ac:spMkLst>
            <pc:docMk/>
            <pc:sldMk cId="3761568633" sldId="571"/>
            <ac:spMk id="15" creationId="{EBA138B4-0A6A-86D7-EFC1-E8ECBF13EC3F}"/>
          </ac:spMkLst>
        </pc:spChg>
        <pc:spChg chg="add mod">
          <ac:chgData name="김준석(전자전기공학과)" userId="c4c08a24-37a7-4c61-b031-141f34ff0bb5" providerId="ADAL" clId="{5A5D7159-5D4B-4930-8D24-CDAEE40F4512}" dt="2025-12-10T15:18:30.618" v="4760" actId="14100"/>
          <ac:spMkLst>
            <pc:docMk/>
            <pc:sldMk cId="3761568633" sldId="571"/>
            <ac:spMk id="16" creationId="{C07AF1F1-103A-1638-1590-AFF040E27C6A}"/>
          </ac:spMkLst>
        </pc:spChg>
        <pc:spChg chg="mod">
          <ac:chgData name="김준석(전자전기공학과)" userId="c4c08a24-37a7-4c61-b031-141f34ff0bb5" providerId="ADAL" clId="{5A5D7159-5D4B-4930-8D24-CDAEE40F4512}" dt="2025-12-09T12:11:52.412" v="4487" actId="20577"/>
          <ac:spMkLst>
            <pc:docMk/>
            <pc:sldMk cId="3761568633" sldId="571"/>
            <ac:spMk id="17" creationId="{04B2B9B6-3702-D7AC-D96C-28540FD8B33C}"/>
          </ac:spMkLst>
        </pc:spChg>
        <pc:spChg chg="add mod">
          <ac:chgData name="김준석(전자전기공학과)" userId="c4c08a24-37a7-4c61-b031-141f34ff0bb5" providerId="ADAL" clId="{5A5D7159-5D4B-4930-8D24-CDAEE40F4512}" dt="2025-12-10T15:18:34.579" v="4763" actId="14100"/>
          <ac:spMkLst>
            <pc:docMk/>
            <pc:sldMk cId="3761568633" sldId="571"/>
            <ac:spMk id="18" creationId="{39482135-7089-1153-5BB2-76954289AB49}"/>
          </ac:spMkLst>
        </pc:spChg>
        <pc:spChg chg="mod">
          <ac:chgData name="김준석(전자전기공학과)" userId="c4c08a24-37a7-4c61-b031-141f34ff0bb5" providerId="ADAL" clId="{5A5D7159-5D4B-4930-8D24-CDAEE40F4512}" dt="2025-12-10T15:18:14.901" v="4754" actId="207"/>
          <ac:spMkLst>
            <pc:docMk/>
            <pc:sldMk cId="3761568633" sldId="571"/>
            <ac:spMk id="258" creationId="{8ECE616B-7792-FBCE-9490-8322E81C5D58}"/>
          </ac:spMkLst>
        </pc:spChg>
      </pc:sldChg>
      <pc:sldChg chg="addSp delSp modSp mod">
        <pc:chgData name="김준석(전자전기공학과)" userId="c4c08a24-37a7-4c61-b031-141f34ff0bb5" providerId="ADAL" clId="{5A5D7159-5D4B-4930-8D24-CDAEE40F4512}" dt="2025-12-10T15:20:56.955" v="4809" actId="207"/>
        <pc:sldMkLst>
          <pc:docMk/>
          <pc:sldMk cId="414964064" sldId="572"/>
        </pc:sldMkLst>
        <pc:spChg chg="mod">
          <ac:chgData name="김준석(전자전기공학과)" userId="c4c08a24-37a7-4c61-b031-141f34ff0bb5" providerId="ADAL" clId="{5A5D7159-5D4B-4930-8D24-CDAEE40F4512}" dt="2025-12-10T15:20:53.662" v="4808" actId="207"/>
          <ac:spMkLst>
            <pc:docMk/>
            <pc:sldMk cId="414964064" sldId="572"/>
            <ac:spMk id="12" creationId="{B442C45D-F091-DDB4-4FA8-47516A3C47DD}"/>
          </ac:spMkLst>
        </pc:spChg>
        <pc:spChg chg="mod">
          <ac:chgData name="김준석(전자전기공학과)" userId="c4c08a24-37a7-4c61-b031-141f34ff0bb5" providerId="ADAL" clId="{5A5D7159-5D4B-4930-8D24-CDAEE40F4512}" dt="2025-12-10T15:20:53.662" v="4808" actId="207"/>
          <ac:spMkLst>
            <pc:docMk/>
            <pc:sldMk cId="414964064" sldId="572"/>
            <ac:spMk id="13" creationId="{5CE85BB2-92C6-071F-FA22-967469D59A8C}"/>
          </ac:spMkLst>
        </pc:spChg>
        <pc:spChg chg="mod">
          <ac:chgData name="김준석(전자전기공학과)" userId="c4c08a24-37a7-4c61-b031-141f34ff0bb5" providerId="ADAL" clId="{5A5D7159-5D4B-4930-8D24-CDAEE40F4512}" dt="2025-12-10T15:20:56.955" v="4809" actId="207"/>
          <ac:spMkLst>
            <pc:docMk/>
            <pc:sldMk cId="414964064" sldId="572"/>
            <ac:spMk id="15" creationId="{28CEB9D0-A251-A02D-EF32-9B89EFE18A19}"/>
          </ac:spMkLst>
        </pc:spChg>
        <pc:cxnChg chg="add mod">
          <ac:chgData name="김준석(전자전기공학과)" userId="c4c08a24-37a7-4c61-b031-141f34ff0bb5" providerId="ADAL" clId="{5A5D7159-5D4B-4930-8D24-CDAEE40F4512}" dt="2025-12-10T15:20:36.424" v="4807" actId="14100"/>
          <ac:cxnSpMkLst>
            <pc:docMk/>
            <pc:sldMk cId="414964064" sldId="572"/>
            <ac:cxnSpMk id="4" creationId="{07E7D520-46E9-030B-270A-68565DD47CB8}"/>
          </ac:cxnSpMkLst>
        </pc:cxnChg>
      </pc:sldChg>
      <pc:sldChg chg="addSp modSp mod">
        <pc:chgData name="김준석(전자전기공학과)" userId="c4c08a24-37a7-4c61-b031-141f34ff0bb5" providerId="ADAL" clId="{5A5D7159-5D4B-4930-8D24-CDAEE40F4512}" dt="2025-12-10T15:19:51.906" v="4803" actId="20577"/>
        <pc:sldMkLst>
          <pc:docMk/>
          <pc:sldMk cId="1433918430" sldId="573"/>
        </pc:sldMkLst>
        <pc:spChg chg="add mod">
          <ac:chgData name="김준석(전자전기공학과)" userId="c4c08a24-37a7-4c61-b031-141f34ff0bb5" providerId="ADAL" clId="{5A5D7159-5D4B-4930-8D24-CDAEE40F4512}" dt="2025-12-10T15:19:13.406" v="4767" actId="1076"/>
          <ac:spMkLst>
            <pc:docMk/>
            <pc:sldMk cId="1433918430" sldId="573"/>
            <ac:spMk id="4" creationId="{CC2CEBFE-2893-0B21-7BD7-EB24D7FA2020}"/>
          </ac:spMkLst>
        </pc:spChg>
        <pc:spChg chg="add mod">
          <ac:chgData name="김준석(전자전기공학과)" userId="c4c08a24-37a7-4c61-b031-141f34ff0bb5" providerId="ADAL" clId="{5A5D7159-5D4B-4930-8D24-CDAEE40F4512}" dt="2025-12-10T15:19:06.331" v="4765" actId="1076"/>
          <ac:spMkLst>
            <pc:docMk/>
            <pc:sldMk cId="1433918430" sldId="573"/>
            <ac:spMk id="5" creationId="{F11BDCB9-4344-7CCA-8BCC-C0CBA8958EF2}"/>
          </ac:spMkLst>
        </pc:spChg>
        <pc:spChg chg="add mod">
          <ac:chgData name="김준석(전자전기공학과)" userId="c4c08a24-37a7-4c61-b031-141f34ff0bb5" providerId="ADAL" clId="{5A5D7159-5D4B-4930-8D24-CDAEE40F4512}" dt="2025-12-10T15:19:09.502" v="4766" actId="1076"/>
          <ac:spMkLst>
            <pc:docMk/>
            <pc:sldMk cId="1433918430" sldId="573"/>
            <ac:spMk id="6" creationId="{69D1600B-EAB2-7722-1720-946170A859B8}"/>
          </ac:spMkLst>
        </pc:spChg>
        <pc:spChg chg="mod">
          <ac:chgData name="김준석(전자전기공학과)" userId="c4c08a24-37a7-4c61-b031-141f34ff0bb5" providerId="ADAL" clId="{5A5D7159-5D4B-4930-8D24-CDAEE40F4512}" dt="2025-12-10T15:19:51.906" v="4803" actId="20577"/>
          <ac:spMkLst>
            <pc:docMk/>
            <pc:sldMk cId="1433918430" sldId="573"/>
            <ac:spMk id="273" creationId="{C02BE61D-4A8D-C7CB-1ECD-55C8A5E7D914}"/>
          </ac:spMkLst>
        </pc:spChg>
      </pc:sldChg>
      <pc:sldChg chg="delSp mod">
        <pc:chgData name="김준석(전자전기공학과)" userId="c4c08a24-37a7-4c61-b031-141f34ff0bb5" providerId="ADAL" clId="{5A5D7159-5D4B-4930-8D24-CDAEE40F4512}" dt="2025-12-09T12:12:18.932" v="4494" actId="478"/>
        <pc:sldMkLst>
          <pc:docMk/>
          <pc:sldMk cId="1164385654" sldId="575"/>
        </pc:sldMkLst>
      </pc:sldChg>
      <pc:sldChg chg="del">
        <pc:chgData name="김준석(전자전기공학과)" userId="c4c08a24-37a7-4c61-b031-141f34ff0bb5" providerId="ADAL" clId="{5A5D7159-5D4B-4930-8D24-CDAEE40F4512}" dt="2025-12-13T09:46:33.806" v="7055" actId="47"/>
        <pc:sldMkLst>
          <pc:docMk/>
          <pc:sldMk cId="3667496983" sldId="576"/>
        </pc:sldMkLst>
      </pc:sldChg>
      <pc:sldChg chg="del">
        <pc:chgData name="김준석(전자전기공학과)" userId="c4c08a24-37a7-4c61-b031-141f34ff0bb5" providerId="ADAL" clId="{5A5D7159-5D4B-4930-8D24-CDAEE40F4512}" dt="2025-12-13T09:47:07.962" v="7063" actId="47"/>
        <pc:sldMkLst>
          <pc:docMk/>
          <pc:sldMk cId="2953050755" sldId="577"/>
        </pc:sldMkLst>
      </pc:sldChg>
      <pc:sldChg chg="del">
        <pc:chgData name="김준석(전자전기공학과)" userId="c4c08a24-37a7-4c61-b031-141f34ff0bb5" providerId="ADAL" clId="{5A5D7159-5D4B-4930-8D24-CDAEE40F4512}" dt="2025-12-13T09:46:57.468" v="7060" actId="47"/>
        <pc:sldMkLst>
          <pc:docMk/>
          <pc:sldMk cId="3015378957" sldId="578"/>
        </pc:sldMkLst>
      </pc:sldChg>
      <pc:sldChg chg="addSp delSp modSp mod">
        <pc:chgData name="김준석(전자전기공학과)" userId="c4c08a24-37a7-4c61-b031-141f34ff0bb5" providerId="ADAL" clId="{5A5D7159-5D4B-4930-8D24-CDAEE40F4512}" dt="2025-12-13T10:51:44.411" v="7875" actId="113"/>
        <pc:sldMkLst>
          <pc:docMk/>
          <pc:sldMk cId="2807758436" sldId="581"/>
        </pc:sldMkLst>
        <pc:spChg chg="add mod">
          <ac:chgData name="김준석(전자전기공학과)" userId="c4c08a24-37a7-4c61-b031-141f34ff0bb5" providerId="ADAL" clId="{5A5D7159-5D4B-4930-8D24-CDAEE40F4512}" dt="2025-12-13T10:51:44.411" v="7875" actId="113"/>
          <ac:spMkLst>
            <pc:docMk/>
            <pc:sldMk cId="2807758436" sldId="581"/>
            <ac:spMk id="4" creationId="{28E0FE0B-5494-3DDF-9CD9-FFE3F03B6B86}"/>
          </ac:spMkLst>
        </pc:spChg>
        <pc:spChg chg="add mod">
          <ac:chgData name="김준석(전자전기공학과)" userId="c4c08a24-37a7-4c61-b031-141f34ff0bb5" providerId="ADAL" clId="{5A5D7159-5D4B-4930-8D24-CDAEE40F4512}" dt="2025-12-10T15:30:17.423" v="5119" actId="14100"/>
          <ac:spMkLst>
            <pc:docMk/>
            <pc:sldMk cId="2807758436" sldId="581"/>
            <ac:spMk id="6" creationId="{856D0070-1F30-29DE-D465-9FE1CD2B734B}"/>
          </ac:spMkLst>
        </pc:spChg>
        <pc:spChg chg="add mod">
          <ac:chgData name="김준석(전자전기공학과)" userId="c4c08a24-37a7-4c61-b031-141f34ff0bb5" providerId="ADAL" clId="{5A5D7159-5D4B-4930-8D24-CDAEE40F4512}" dt="2025-12-10T15:30:45.762" v="5127" actId="14100"/>
          <ac:spMkLst>
            <pc:docMk/>
            <pc:sldMk cId="2807758436" sldId="581"/>
            <ac:spMk id="7" creationId="{2BFDBBD6-8DA6-210A-159A-A15FA7037904}"/>
          </ac:spMkLst>
        </pc:spChg>
        <pc:spChg chg="mod">
          <ac:chgData name="김준석(전자전기공학과)" userId="c4c08a24-37a7-4c61-b031-141f34ff0bb5" providerId="ADAL" clId="{5A5D7159-5D4B-4930-8D24-CDAEE40F4512}" dt="2025-12-13T10:50:33.528" v="7873" actId="113"/>
          <ac:spMkLst>
            <pc:docMk/>
            <pc:sldMk cId="2807758436" sldId="581"/>
            <ac:spMk id="8" creationId="{FFA3C536-AA24-0394-A4D6-436B652C87C6}"/>
          </ac:spMkLst>
        </pc:spChg>
        <pc:spChg chg="add mod">
          <ac:chgData name="김준석(전자전기공학과)" userId="c4c08a24-37a7-4c61-b031-141f34ff0bb5" providerId="ADAL" clId="{5A5D7159-5D4B-4930-8D24-CDAEE40F4512}" dt="2025-12-13T03:54:03.724" v="5285" actId="14100"/>
          <ac:spMkLst>
            <pc:docMk/>
            <pc:sldMk cId="2807758436" sldId="581"/>
            <ac:spMk id="10" creationId="{45C22814-B0BF-84DD-3C1B-FFF393AA6D6E}"/>
          </ac:spMkLst>
        </pc:spChg>
        <pc:spChg chg="add mod">
          <ac:chgData name="김준석(전자전기공학과)" userId="c4c08a24-37a7-4c61-b031-141f34ff0bb5" providerId="ADAL" clId="{5A5D7159-5D4B-4930-8D24-CDAEE40F4512}" dt="2025-12-13T03:54:10.261" v="5288" actId="14100"/>
          <ac:spMkLst>
            <pc:docMk/>
            <pc:sldMk cId="2807758436" sldId="581"/>
            <ac:spMk id="11" creationId="{97B9CB72-A510-F959-2D0D-D680DB19D81B}"/>
          </ac:spMkLst>
        </pc:spChg>
        <pc:spChg chg="add mod">
          <ac:chgData name="김준석(전자전기공학과)" userId="c4c08a24-37a7-4c61-b031-141f34ff0bb5" providerId="ADAL" clId="{5A5D7159-5D4B-4930-8D24-CDAEE40F4512}" dt="2025-12-13T03:54:20.216" v="5292" actId="1076"/>
          <ac:spMkLst>
            <pc:docMk/>
            <pc:sldMk cId="2807758436" sldId="581"/>
            <ac:spMk id="12" creationId="{F742B3C5-43C9-A6CF-E085-2D1CD363AFDA}"/>
          </ac:spMkLst>
        </pc:spChg>
      </pc:sldChg>
      <pc:sldChg chg="modSp mod ord">
        <pc:chgData name="김준석(전자전기공학과)" userId="c4c08a24-37a7-4c61-b031-141f34ff0bb5" providerId="ADAL" clId="{5A5D7159-5D4B-4930-8D24-CDAEE40F4512}" dt="2025-12-13T04:15:56.031" v="5546" actId="1036"/>
        <pc:sldMkLst>
          <pc:docMk/>
          <pc:sldMk cId="389106254" sldId="582"/>
        </pc:sldMkLst>
        <pc:spChg chg="mod">
          <ac:chgData name="김준석(전자전기공학과)" userId="c4c08a24-37a7-4c61-b031-141f34ff0bb5" providerId="ADAL" clId="{5A5D7159-5D4B-4930-8D24-CDAEE40F4512}" dt="2025-12-13T04:15:56.031" v="5546" actId="1036"/>
          <ac:spMkLst>
            <pc:docMk/>
            <pc:sldMk cId="389106254" sldId="582"/>
            <ac:spMk id="8" creationId="{8F6B82E2-20A8-195F-8318-49415662D616}"/>
          </ac:spMkLst>
        </pc:spChg>
        <pc:spChg chg="mod">
          <ac:chgData name="김준석(전자전기공학과)" userId="c4c08a24-37a7-4c61-b031-141f34ff0bb5" providerId="ADAL" clId="{5A5D7159-5D4B-4930-8D24-CDAEE40F4512}" dt="2025-12-13T04:15:56.031" v="5546" actId="1036"/>
          <ac:spMkLst>
            <pc:docMk/>
            <pc:sldMk cId="389106254" sldId="582"/>
            <ac:spMk id="9" creationId="{8D2CEA45-6FC0-2813-B952-D2E6E405A069}"/>
          </ac:spMkLst>
        </pc:spChg>
      </pc:sldChg>
      <pc:sldChg chg="addSp modSp add mod">
        <pc:chgData name="김준석(전자전기공학과)" userId="c4c08a24-37a7-4c61-b031-141f34ff0bb5" providerId="ADAL" clId="{5A5D7159-5D4B-4930-8D24-CDAEE40F4512}" dt="2025-12-13T10:49:54.730" v="7868" actId="113"/>
        <pc:sldMkLst>
          <pc:docMk/>
          <pc:sldMk cId="369399661" sldId="583"/>
        </pc:sldMkLst>
        <pc:spChg chg="mod">
          <ac:chgData name="김준석(전자전기공학과)" userId="c4c08a24-37a7-4c61-b031-141f34ff0bb5" providerId="ADAL" clId="{5A5D7159-5D4B-4930-8D24-CDAEE40F4512}" dt="2025-12-13T10:49:54.730" v="7868" actId="113"/>
          <ac:spMkLst>
            <pc:docMk/>
            <pc:sldMk cId="369399661" sldId="583"/>
            <ac:spMk id="8" creationId="{D025E90B-71C1-ADCE-6C4E-79B025999249}"/>
          </ac:spMkLst>
        </pc:spChg>
        <pc:picChg chg="add mod">
          <ac:chgData name="김준석(전자전기공학과)" userId="c4c08a24-37a7-4c61-b031-141f34ff0bb5" providerId="ADAL" clId="{5A5D7159-5D4B-4930-8D24-CDAEE40F4512}" dt="2025-12-13T05:41:27.151" v="6435" actId="1076"/>
          <ac:picMkLst>
            <pc:docMk/>
            <pc:sldMk cId="369399661" sldId="583"/>
            <ac:picMk id="4" creationId="{F2814019-441A-3083-0FA4-C02018025A5C}"/>
          </ac:picMkLst>
        </pc:picChg>
      </pc:sldChg>
      <pc:sldChg chg="modSp add mod">
        <pc:chgData name="김준석(전자전기공학과)" userId="c4c08a24-37a7-4c61-b031-141f34ff0bb5" providerId="ADAL" clId="{5A5D7159-5D4B-4930-8D24-CDAEE40F4512}" dt="2025-12-13T10:46:56.236" v="7837" actId="5793"/>
        <pc:sldMkLst>
          <pc:docMk/>
          <pc:sldMk cId="163541704" sldId="584"/>
        </pc:sldMkLst>
        <pc:spChg chg="mod">
          <ac:chgData name="김준석(전자전기공학과)" userId="c4c08a24-37a7-4c61-b031-141f34ff0bb5" providerId="ADAL" clId="{5A5D7159-5D4B-4930-8D24-CDAEE40F4512}" dt="2025-12-13T10:46:56.236" v="7837" actId="5793"/>
          <ac:spMkLst>
            <pc:docMk/>
            <pc:sldMk cId="163541704" sldId="584"/>
            <ac:spMk id="12" creationId="{CFD891D7-464E-DB98-2EDA-C7B47E02C640}"/>
          </ac:spMkLst>
        </pc:spChg>
      </pc:sldChg>
      <pc:sldChg chg="modSp add del mod">
        <pc:chgData name="김준석(전자전기공학과)" userId="c4c08a24-37a7-4c61-b031-141f34ff0bb5" providerId="ADAL" clId="{5A5D7159-5D4B-4930-8D24-CDAEE40F4512}" dt="2025-12-13T06:07:07.885" v="6436" actId="47"/>
        <pc:sldMkLst>
          <pc:docMk/>
          <pc:sldMk cId="3980125894" sldId="584"/>
        </pc:sldMkLst>
        <pc:spChg chg="mod">
          <ac:chgData name="김준석(전자전기공학과)" userId="c4c08a24-37a7-4c61-b031-141f34ff0bb5" providerId="ADAL" clId="{5A5D7159-5D4B-4930-8D24-CDAEE40F4512}" dt="2025-12-13T05:39:54.017" v="6418" actId="21"/>
          <ac:spMkLst>
            <pc:docMk/>
            <pc:sldMk cId="3980125894" sldId="584"/>
            <ac:spMk id="8" creationId="{63FB6C47-D99A-088B-72DF-25ED58280F29}"/>
          </ac:spMkLst>
        </pc:spChg>
      </pc:sldChg>
      <pc:sldChg chg="add del">
        <pc:chgData name="김준석(전자전기공학과)" userId="c4c08a24-37a7-4c61-b031-141f34ff0bb5" providerId="ADAL" clId="{5A5D7159-5D4B-4930-8D24-CDAEE40F4512}" dt="2025-12-13T09:46:28.741" v="7053" actId="2696"/>
        <pc:sldMkLst>
          <pc:docMk/>
          <pc:sldMk cId="4236910833" sldId="584"/>
        </pc:sldMkLst>
      </pc:sldChg>
      <pc:sldChg chg="modSp add mod">
        <pc:chgData name="김준석(전자전기공학과)" userId="c4c08a24-37a7-4c61-b031-141f34ff0bb5" providerId="ADAL" clId="{5A5D7159-5D4B-4930-8D24-CDAEE40F4512}" dt="2025-12-13T04:27:53.933" v="5752" actId="1035"/>
        <pc:sldMkLst>
          <pc:docMk/>
          <pc:sldMk cId="2714541543" sldId="585"/>
        </pc:sldMkLst>
        <pc:spChg chg="mod">
          <ac:chgData name="김준석(전자전기공학과)" userId="c4c08a24-37a7-4c61-b031-141f34ff0bb5" providerId="ADAL" clId="{5A5D7159-5D4B-4930-8D24-CDAEE40F4512}" dt="2025-12-08T11:58:11.573" v="1573" actId="20577"/>
          <ac:spMkLst>
            <pc:docMk/>
            <pc:sldMk cId="2714541543" sldId="585"/>
            <ac:spMk id="2" creationId="{8B00C4D3-CC61-A47A-EBDA-5FA4222CCF6D}"/>
          </ac:spMkLst>
        </pc:spChg>
        <pc:spChg chg="mod">
          <ac:chgData name="김준석(전자전기공학과)" userId="c4c08a24-37a7-4c61-b031-141f34ff0bb5" providerId="ADAL" clId="{5A5D7159-5D4B-4930-8D24-CDAEE40F4512}" dt="2025-12-13T04:27:48.993" v="5742" actId="122"/>
          <ac:spMkLst>
            <pc:docMk/>
            <pc:sldMk cId="2714541543" sldId="585"/>
            <ac:spMk id="8" creationId="{E9284D0C-6445-6D51-5C4C-4B4C7E32BF77}"/>
          </ac:spMkLst>
        </pc:spChg>
        <pc:spChg chg="mod">
          <ac:chgData name="김준석(전자전기공학과)" userId="c4c08a24-37a7-4c61-b031-141f34ff0bb5" providerId="ADAL" clId="{5A5D7159-5D4B-4930-8D24-CDAEE40F4512}" dt="2025-12-13T04:27:53.933" v="5752" actId="1035"/>
          <ac:spMkLst>
            <pc:docMk/>
            <pc:sldMk cId="2714541543" sldId="585"/>
            <ac:spMk id="9" creationId="{D2B51CBD-A912-DE7C-CFA7-7E742021FCE8}"/>
          </ac:spMkLst>
        </pc:spChg>
      </pc:sldChg>
      <pc:sldChg chg="addSp delSp modSp add mod">
        <pc:chgData name="김준석(전자전기공학과)" userId="c4c08a24-37a7-4c61-b031-141f34ff0bb5" providerId="ADAL" clId="{5A5D7159-5D4B-4930-8D24-CDAEE40F4512}" dt="2025-12-13T10:48:23.909" v="7853" actId="14100"/>
        <pc:sldMkLst>
          <pc:docMk/>
          <pc:sldMk cId="2298961206" sldId="586"/>
        </pc:sldMkLst>
        <pc:spChg chg="mod">
          <ac:chgData name="김준석(전자전기공학과)" userId="c4c08a24-37a7-4c61-b031-141f34ff0bb5" providerId="ADAL" clId="{5A5D7159-5D4B-4930-8D24-CDAEE40F4512}" dt="2025-12-08T12:43:32.254" v="1943" actId="20577"/>
          <ac:spMkLst>
            <pc:docMk/>
            <pc:sldMk cId="2298961206" sldId="586"/>
            <ac:spMk id="2" creationId="{90D11331-43D5-EA51-5A7A-B97F4C6974C0}"/>
          </ac:spMkLst>
        </pc:spChg>
        <pc:spChg chg="add mod">
          <ac:chgData name="김준석(전자전기공학과)" userId="c4c08a24-37a7-4c61-b031-141f34ff0bb5" providerId="ADAL" clId="{5A5D7159-5D4B-4930-8D24-CDAEE40F4512}" dt="2025-12-13T10:48:12.978" v="7849" actId="113"/>
          <ac:spMkLst>
            <pc:docMk/>
            <pc:sldMk cId="2298961206" sldId="586"/>
            <ac:spMk id="4" creationId="{1DDE0D06-0552-DA9B-0E20-3D72BF153371}"/>
          </ac:spMkLst>
        </pc:spChg>
        <pc:spChg chg="add mod">
          <ac:chgData name="김준석(전자전기공학과)" userId="c4c08a24-37a7-4c61-b031-141f34ff0bb5" providerId="ADAL" clId="{5A5D7159-5D4B-4930-8D24-CDAEE40F4512}" dt="2025-12-13T06:49:58.170" v="6733" actId="1076"/>
          <ac:spMkLst>
            <pc:docMk/>
            <pc:sldMk cId="2298961206" sldId="586"/>
            <ac:spMk id="5" creationId="{B5BFDFAE-17A7-5947-82ED-DCB17C453415}"/>
          </ac:spMkLst>
        </pc:spChg>
        <pc:spChg chg="add mod">
          <ac:chgData name="김준석(전자전기공학과)" userId="c4c08a24-37a7-4c61-b031-141f34ff0bb5" providerId="ADAL" clId="{5A5D7159-5D4B-4930-8D24-CDAEE40F4512}" dt="2025-12-13T10:48:18.611" v="7851" actId="1076"/>
          <ac:spMkLst>
            <pc:docMk/>
            <pc:sldMk cId="2298961206" sldId="586"/>
            <ac:spMk id="6" creationId="{D06E83E2-2F86-8EB4-A315-89AF6120D8C7}"/>
          </ac:spMkLst>
        </pc:spChg>
        <pc:spChg chg="add mod">
          <ac:chgData name="김준석(전자전기공학과)" userId="c4c08a24-37a7-4c61-b031-141f34ff0bb5" providerId="ADAL" clId="{5A5D7159-5D4B-4930-8D24-CDAEE40F4512}" dt="2025-12-13T06:50:01.388" v="6735" actId="1076"/>
          <ac:spMkLst>
            <pc:docMk/>
            <pc:sldMk cId="2298961206" sldId="586"/>
            <ac:spMk id="7" creationId="{84871336-47AD-8E32-55E2-04961992CC2D}"/>
          </ac:spMkLst>
        </pc:spChg>
        <pc:spChg chg="add mod">
          <ac:chgData name="김준석(전자전기공학과)" userId="c4c08a24-37a7-4c61-b031-141f34ff0bb5" providerId="ADAL" clId="{5A5D7159-5D4B-4930-8D24-CDAEE40F4512}" dt="2025-12-13T10:48:17.126" v="7850" actId="1076"/>
          <ac:spMkLst>
            <pc:docMk/>
            <pc:sldMk cId="2298961206" sldId="586"/>
            <ac:spMk id="8" creationId="{53D8C528-8F2C-CA64-9624-D377F35C7469}"/>
          </ac:spMkLst>
        </pc:spChg>
        <pc:spChg chg="mod">
          <ac:chgData name="김준석(전자전기공학과)" userId="c4c08a24-37a7-4c61-b031-141f34ff0bb5" providerId="ADAL" clId="{5A5D7159-5D4B-4930-8D24-CDAEE40F4512}" dt="2025-12-08T13:03:57.801" v="2526" actId="14100"/>
          <ac:spMkLst>
            <pc:docMk/>
            <pc:sldMk cId="2298961206" sldId="586"/>
            <ac:spMk id="9" creationId="{C775D7CE-E0D7-504E-A583-959FCA0B9F9B}"/>
          </ac:spMkLst>
        </pc:spChg>
        <pc:spChg chg="add del mod ord">
          <ac:chgData name="김준석(전자전기공학과)" userId="c4c08a24-37a7-4c61-b031-141f34ff0bb5" providerId="ADAL" clId="{5A5D7159-5D4B-4930-8D24-CDAEE40F4512}" dt="2025-12-13T06:56:15.497" v="6800" actId="478"/>
          <ac:spMkLst>
            <pc:docMk/>
            <pc:sldMk cId="2298961206" sldId="586"/>
            <ac:spMk id="10" creationId="{76E46D32-E3E4-113E-3516-5C84136514BD}"/>
          </ac:spMkLst>
        </pc:spChg>
        <pc:spChg chg="add del mod ord">
          <ac:chgData name="김준석(전자전기공학과)" userId="c4c08a24-37a7-4c61-b031-141f34ff0bb5" providerId="ADAL" clId="{5A5D7159-5D4B-4930-8D24-CDAEE40F4512}" dt="2025-12-13T06:56:15.497" v="6800" actId="478"/>
          <ac:spMkLst>
            <pc:docMk/>
            <pc:sldMk cId="2298961206" sldId="586"/>
            <ac:spMk id="11" creationId="{719B84C3-7020-4BAD-4500-8CD7211B37D0}"/>
          </ac:spMkLst>
        </pc:spChg>
        <pc:spChg chg="add del mod ord">
          <ac:chgData name="김준석(전자전기공학과)" userId="c4c08a24-37a7-4c61-b031-141f34ff0bb5" providerId="ADAL" clId="{5A5D7159-5D4B-4930-8D24-CDAEE40F4512}" dt="2025-12-13T06:56:15.497" v="6800" actId="478"/>
          <ac:spMkLst>
            <pc:docMk/>
            <pc:sldMk cId="2298961206" sldId="586"/>
            <ac:spMk id="13" creationId="{61C40142-4B0A-19E1-1E89-BAC5B9FACC6C}"/>
          </ac:spMkLst>
        </pc:spChg>
        <pc:spChg chg="add mod">
          <ac:chgData name="김준석(전자전기공학과)" userId="c4c08a24-37a7-4c61-b031-141f34ff0bb5" providerId="ADAL" clId="{5A5D7159-5D4B-4930-8D24-CDAEE40F4512}" dt="2025-12-13T06:57:55.191" v="6818" actId="207"/>
          <ac:spMkLst>
            <pc:docMk/>
            <pc:sldMk cId="2298961206" sldId="586"/>
            <ac:spMk id="14" creationId="{C307C8C6-FF73-CF15-5584-413D93F05348}"/>
          </ac:spMkLst>
        </pc:spChg>
        <pc:spChg chg="add mod">
          <ac:chgData name="김준석(전자전기공학과)" userId="c4c08a24-37a7-4c61-b031-141f34ff0bb5" providerId="ADAL" clId="{5A5D7159-5D4B-4930-8D24-CDAEE40F4512}" dt="2025-12-13T10:48:21.468" v="7852" actId="1076"/>
          <ac:spMkLst>
            <pc:docMk/>
            <pc:sldMk cId="2298961206" sldId="586"/>
            <ac:spMk id="15" creationId="{FA342907-2350-4498-A7C3-6A25C7D6DF8E}"/>
          </ac:spMkLst>
        </pc:spChg>
        <pc:spChg chg="add mod">
          <ac:chgData name="김준석(전자전기공학과)" userId="c4c08a24-37a7-4c61-b031-141f34ff0bb5" providerId="ADAL" clId="{5A5D7159-5D4B-4930-8D24-CDAEE40F4512}" dt="2025-12-13T06:58:06.033" v="6824" actId="14100"/>
          <ac:spMkLst>
            <pc:docMk/>
            <pc:sldMk cId="2298961206" sldId="586"/>
            <ac:spMk id="16" creationId="{328C6EF6-3BA2-E78B-C12E-71DAF91343DB}"/>
          </ac:spMkLst>
        </pc:spChg>
        <pc:spChg chg="add mod">
          <ac:chgData name="김준석(전자전기공학과)" userId="c4c08a24-37a7-4c61-b031-141f34ff0bb5" providerId="ADAL" clId="{5A5D7159-5D4B-4930-8D24-CDAEE40F4512}" dt="2025-12-13T06:58:28.140" v="6830" actId="14100"/>
          <ac:spMkLst>
            <pc:docMk/>
            <pc:sldMk cId="2298961206" sldId="586"/>
            <ac:spMk id="17" creationId="{8DE47105-1735-6B58-906D-6D83FC3503B8}"/>
          </ac:spMkLst>
        </pc:spChg>
        <pc:spChg chg="add mod">
          <ac:chgData name="김준석(전자전기공학과)" userId="c4c08a24-37a7-4c61-b031-141f34ff0bb5" providerId="ADAL" clId="{5A5D7159-5D4B-4930-8D24-CDAEE40F4512}" dt="2025-12-13T10:48:23.909" v="7853" actId="14100"/>
          <ac:spMkLst>
            <pc:docMk/>
            <pc:sldMk cId="2298961206" sldId="586"/>
            <ac:spMk id="18" creationId="{57DF8044-6103-84E7-E8C3-3217A4931B11}"/>
          </ac:spMkLst>
        </pc:spChg>
      </pc:sldChg>
      <pc:sldChg chg="new del">
        <pc:chgData name="김준석(전자전기공학과)" userId="c4c08a24-37a7-4c61-b031-141f34ff0bb5" providerId="ADAL" clId="{5A5D7159-5D4B-4930-8D24-CDAEE40F4512}" dt="2025-12-08T12:43:28.633" v="1940" actId="680"/>
        <pc:sldMkLst>
          <pc:docMk/>
          <pc:sldMk cId="4159672353" sldId="586"/>
        </pc:sldMkLst>
      </pc:sldChg>
      <pc:sldChg chg="addSp delSp modSp add mod ord">
        <pc:chgData name="김준석(전자전기공학과)" userId="c4c08a24-37a7-4c61-b031-141f34ff0bb5" providerId="ADAL" clId="{5A5D7159-5D4B-4930-8D24-CDAEE40F4512}" dt="2025-12-13T10:49:44.174" v="7867" actId="113"/>
        <pc:sldMkLst>
          <pc:docMk/>
          <pc:sldMk cId="990555238" sldId="587"/>
        </pc:sldMkLst>
        <pc:spChg chg="add mod">
          <ac:chgData name="김준석(전자전기공학과)" userId="c4c08a24-37a7-4c61-b031-141f34ff0bb5" providerId="ADAL" clId="{5A5D7159-5D4B-4930-8D24-CDAEE40F4512}" dt="2025-12-13T04:28:48.638" v="5756" actId="14100"/>
          <ac:spMkLst>
            <pc:docMk/>
            <pc:sldMk cId="990555238" sldId="587"/>
            <ac:spMk id="4" creationId="{66989566-3287-5629-9DAB-1F66D2ECDD76}"/>
          </ac:spMkLst>
        </pc:spChg>
        <pc:spChg chg="add mod">
          <ac:chgData name="김준석(전자전기공학과)" userId="c4c08a24-37a7-4c61-b031-141f34ff0bb5" providerId="ADAL" clId="{5A5D7159-5D4B-4930-8D24-CDAEE40F4512}" dt="2025-12-13T04:32:06.004" v="5815" actId="1076"/>
          <ac:spMkLst>
            <pc:docMk/>
            <pc:sldMk cId="990555238" sldId="587"/>
            <ac:spMk id="5" creationId="{F2B94C56-5737-0FD7-5F73-4394575DC89D}"/>
          </ac:spMkLst>
        </pc:spChg>
        <pc:spChg chg="add mod">
          <ac:chgData name="김준석(전자전기공학과)" userId="c4c08a24-37a7-4c61-b031-141f34ff0bb5" providerId="ADAL" clId="{5A5D7159-5D4B-4930-8D24-CDAEE40F4512}" dt="2025-12-13T04:32:08.214" v="5816" actId="1076"/>
          <ac:spMkLst>
            <pc:docMk/>
            <pc:sldMk cId="990555238" sldId="587"/>
            <ac:spMk id="6" creationId="{5ECAA406-A952-E59D-256B-E8B5F894DCA9}"/>
          </ac:spMkLst>
        </pc:spChg>
        <pc:spChg chg="add del mod">
          <ac:chgData name="김준석(전자전기공학과)" userId="c4c08a24-37a7-4c61-b031-141f34ff0bb5" providerId="ADAL" clId="{5A5D7159-5D4B-4930-8D24-CDAEE40F4512}" dt="2025-12-13T04:36:24.570" v="5835" actId="478"/>
          <ac:spMkLst>
            <pc:docMk/>
            <pc:sldMk cId="990555238" sldId="587"/>
            <ac:spMk id="7" creationId="{128DF0D5-6460-A54B-FE1C-FEE34C4F3C1E}"/>
          </ac:spMkLst>
        </pc:spChg>
        <pc:spChg chg="mod">
          <ac:chgData name="김준석(전자전기공학과)" userId="c4c08a24-37a7-4c61-b031-141f34ff0bb5" providerId="ADAL" clId="{5A5D7159-5D4B-4930-8D24-CDAEE40F4512}" dt="2025-12-13T10:49:44.174" v="7867" actId="113"/>
          <ac:spMkLst>
            <pc:docMk/>
            <pc:sldMk cId="990555238" sldId="587"/>
            <ac:spMk id="8" creationId="{F6AAC98F-667B-3783-175C-B84DB56988ED}"/>
          </ac:spMkLst>
        </pc:spChg>
        <pc:spChg chg="add mod">
          <ac:chgData name="김준석(전자전기공학과)" userId="c4c08a24-37a7-4c61-b031-141f34ff0bb5" providerId="ADAL" clId="{5A5D7159-5D4B-4930-8D24-CDAEE40F4512}" dt="2025-12-13T04:36:55.997" v="5843" actId="207"/>
          <ac:spMkLst>
            <pc:docMk/>
            <pc:sldMk cId="990555238" sldId="587"/>
            <ac:spMk id="10" creationId="{D2D36509-92FC-6A0C-2A96-E6ABAB56A372}"/>
          </ac:spMkLst>
        </pc:spChg>
        <pc:spChg chg="add mod">
          <ac:chgData name="김준석(전자전기공학과)" userId="c4c08a24-37a7-4c61-b031-141f34ff0bb5" providerId="ADAL" clId="{5A5D7159-5D4B-4930-8D24-CDAEE40F4512}" dt="2025-12-13T04:37:01.474" v="5845" actId="1076"/>
          <ac:spMkLst>
            <pc:docMk/>
            <pc:sldMk cId="990555238" sldId="587"/>
            <ac:spMk id="11" creationId="{E4004193-FDF5-A91C-1866-8DE6A4CEC732}"/>
          </ac:spMkLst>
        </pc:spChg>
        <pc:spChg chg="add mod">
          <ac:chgData name="김준석(전자전기공학과)" userId="c4c08a24-37a7-4c61-b031-141f34ff0bb5" providerId="ADAL" clId="{5A5D7159-5D4B-4930-8D24-CDAEE40F4512}" dt="2025-12-13T04:37:09.068" v="5848" actId="14100"/>
          <ac:spMkLst>
            <pc:docMk/>
            <pc:sldMk cId="990555238" sldId="587"/>
            <ac:spMk id="12" creationId="{7FEDFFAB-4ACC-B29F-6220-8996FCC55587}"/>
          </ac:spMkLst>
        </pc:spChg>
        <pc:spChg chg="add mod">
          <ac:chgData name="김준석(전자전기공학과)" userId="c4c08a24-37a7-4c61-b031-141f34ff0bb5" providerId="ADAL" clId="{5A5D7159-5D4B-4930-8D24-CDAEE40F4512}" dt="2025-12-13T04:43:51.375" v="5901" actId="14100"/>
          <ac:spMkLst>
            <pc:docMk/>
            <pc:sldMk cId="990555238" sldId="587"/>
            <ac:spMk id="13" creationId="{A6E2979F-04E4-9D60-AA5D-EC8486559D1E}"/>
          </ac:spMkLst>
        </pc:spChg>
        <pc:spChg chg="add del mod">
          <ac:chgData name="김준석(전자전기공학과)" userId="c4c08a24-37a7-4c61-b031-141f34ff0bb5" providerId="ADAL" clId="{5A5D7159-5D4B-4930-8D24-CDAEE40F4512}" dt="2025-12-13T04:43:47.285" v="5898" actId="478"/>
          <ac:spMkLst>
            <pc:docMk/>
            <pc:sldMk cId="990555238" sldId="587"/>
            <ac:spMk id="14" creationId="{C0CF2D9B-40BC-DA8B-3EC1-4B9ED941CAC3}"/>
          </ac:spMkLst>
        </pc:spChg>
        <pc:spChg chg="add del mod">
          <ac:chgData name="김준석(전자전기공학과)" userId="c4c08a24-37a7-4c61-b031-141f34ff0bb5" providerId="ADAL" clId="{5A5D7159-5D4B-4930-8D24-CDAEE40F4512}" dt="2025-12-13T04:43:52.101" v="5902" actId="478"/>
          <ac:spMkLst>
            <pc:docMk/>
            <pc:sldMk cId="990555238" sldId="587"/>
            <ac:spMk id="15" creationId="{D1A03B77-5430-C741-E1A5-9B49A313F817}"/>
          </ac:spMkLst>
        </pc:spChg>
        <pc:spChg chg="add mod">
          <ac:chgData name="김준석(전자전기공학과)" userId="c4c08a24-37a7-4c61-b031-141f34ff0bb5" providerId="ADAL" clId="{5A5D7159-5D4B-4930-8D24-CDAEE40F4512}" dt="2025-12-13T04:46:07.192" v="5940" actId="14100"/>
          <ac:spMkLst>
            <pc:docMk/>
            <pc:sldMk cId="990555238" sldId="587"/>
            <ac:spMk id="16" creationId="{B3D8A29F-F645-A7A1-5D20-B46FFBB71215}"/>
          </ac:spMkLst>
        </pc:spChg>
      </pc:sldChg>
      <pc:sldChg chg="addSp delSp modSp add mod ord">
        <pc:chgData name="김준석(전자전기공학과)" userId="c4c08a24-37a7-4c61-b031-141f34ff0bb5" providerId="ADAL" clId="{5A5D7159-5D4B-4930-8D24-CDAEE40F4512}" dt="2025-12-13T10:49:04.479" v="7861" actId="113"/>
        <pc:sldMkLst>
          <pc:docMk/>
          <pc:sldMk cId="2371347812" sldId="588"/>
        </pc:sldMkLst>
        <pc:spChg chg="mod">
          <ac:chgData name="김준석(전자전기공학과)" userId="c4c08a24-37a7-4c61-b031-141f34ff0bb5" providerId="ADAL" clId="{5A5D7159-5D4B-4930-8D24-CDAEE40F4512}" dt="2025-12-13T10:49:04.479" v="7861" actId="113"/>
          <ac:spMkLst>
            <pc:docMk/>
            <pc:sldMk cId="2371347812" sldId="588"/>
            <ac:spMk id="4" creationId="{94804E01-4E68-3382-9D58-FB742B92999F}"/>
          </ac:spMkLst>
        </pc:spChg>
        <pc:spChg chg="add del mod">
          <ac:chgData name="김준석(전자전기공학과)" userId="c4c08a24-37a7-4c61-b031-141f34ff0bb5" providerId="ADAL" clId="{5A5D7159-5D4B-4930-8D24-CDAEE40F4512}" dt="2025-12-13T06:11:52.023" v="6473" actId="478"/>
          <ac:spMkLst>
            <pc:docMk/>
            <pc:sldMk cId="2371347812" sldId="588"/>
            <ac:spMk id="5" creationId="{F96E4B73-9E2A-AB8C-24F3-AD337E279256}"/>
          </ac:spMkLst>
        </pc:spChg>
        <pc:spChg chg="add mod">
          <ac:chgData name="김준석(전자전기공학과)" userId="c4c08a24-37a7-4c61-b031-141f34ff0bb5" providerId="ADAL" clId="{5A5D7159-5D4B-4930-8D24-CDAEE40F4512}" dt="2025-12-13T06:11:28.369" v="6464" actId="14100"/>
          <ac:spMkLst>
            <pc:docMk/>
            <pc:sldMk cId="2371347812" sldId="588"/>
            <ac:spMk id="6" creationId="{07FC2A90-2BDA-EA31-C263-94ED46B3053D}"/>
          </ac:spMkLst>
        </pc:spChg>
        <pc:spChg chg="add mod">
          <ac:chgData name="김준석(전자전기공학과)" userId="c4c08a24-37a7-4c61-b031-141f34ff0bb5" providerId="ADAL" clId="{5A5D7159-5D4B-4930-8D24-CDAEE40F4512}" dt="2025-12-13T06:27:39.643" v="6631" actId="1076"/>
          <ac:spMkLst>
            <pc:docMk/>
            <pc:sldMk cId="2371347812" sldId="588"/>
            <ac:spMk id="7" creationId="{71A76DD4-7EAE-3698-7E54-F6DBD917CA6C}"/>
          </ac:spMkLst>
        </pc:spChg>
        <pc:spChg chg="add mod">
          <ac:chgData name="김준석(전자전기공학과)" userId="c4c08a24-37a7-4c61-b031-141f34ff0bb5" providerId="ADAL" clId="{5A5D7159-5D4B-4930-8D24-CDAEE40F4512}" dt="2025-12-13T06:11:56.540" v="6474" actId="207"/>
          <ac:spMkLst>
            <pc:docMk/>
            <pc:sldMk cId="2371347812" sldId="588"/>
            <ac:spMk id="8" creationId="{C765B7E8-FCD0-CD36-2DF2-0511EB4435D7}"/>
          </ac:spMkLst>
        </pc:spChg>
        <pc:spChg chg="add mod">
          <ac:chgData name="김준석(전자전기공학과)" userId="c4c08a24-37a7-4c61-b031-141f34ff0bb5" providerId="ADAL" clId="{5A5D7159-5D4B-4930-8D24-CDAEE40F4512}" dt="2025-12-13T06:27:51.141" v="6634" actId="1076"/>
          <ac:spMkLst>
            <pc:docMk/>
            <pc:sldMk cId="2371347812" sldId="588"/>
            <ac:spMk id="10" creationId="{5AA0F4ED-804F-8952-A0FF-528752FAC96C}"/>
          </ac:spMkLst>
        </pc:spChg>
        <pc:spChg chg="add mod">
          <ac:chgData name="김준석(전자전기공학과)" userId="c4c08a24-37a7-4c61-b031-141f34ff0bb5" providerId="ADAL" clId="{5A5D7159-5D4B-4930-8D24-CDAEE40F4512}" dt="2025-12-13T06:28:39.585" v="6645" actId="1035"/>
          <ac:spMkLst>
            <pc:docMk/>
            <pc:sldMk cId="2371347812" sldId="588"/>
            <ac:spMk id="11" creationId="{71AA819E-9D17-4C05-7E92-7B957F53929E}"/>
          </ac:spMkLst>
        </pc:spChg>
        <pc:spChg chg="add mod">
          <ac:chgData name="김준석(전자전기공학과)" userId="c4c08a24-37a7-4c61-b031-141f34ff0bb5" providerId="ADAL" clId="{5A5D7159-5D4B-4930-8D24-CDAEE40F4512}" dt="2025-12-13T06:28:39.585" v="6645" actId="1035"/>
          <ac:spMkLst>
            <pc:docMk/>
            <pc:sldMk cId="2371347812" sldId="588"/>
            <ac:spMk id="12" creationId="{15A29CD8-1671-13E1-D783-EE2DEDB2763B}"/>
          </ac:spMkLst>
        </pc:spChg>
      </pc:sldChg>
      <pc:sldChg chg="addSp modSp add mod">
        <pc:chgData name="김준석(전자전기공학과)" userId="c4c08a24-37a7-4c61-b031-141f34ff0bb5" providerId="ADAL" clId="{5A5D7159-5D4B-4930-8D24-CDAEE40F4512}" dt="2025-12-13T10:47:59.170" v="7847" actId="14100"/>
        <pc:sldMkLst>
          <pc:docMk/>
          <pc:sldMk cId="584901535" sldId="589"/>
        </pc:sldMkLst>
        <pc:spChg chg="mod">
          <ac:chgData name="김준석(전자전기공학과)" userId="c4c08a24-37a7-4c61-b031-141f34ff0bb5" providerId="ADAL" clId="{5A5D7159-5D4B-4930-8D24-CDAEE40F4512}" dt="2025-12-08T14:50:38.973" v="3517" actId="20577"/>
          <ac:spMkLst>
            <pc:docMk/>
            <pc:sldMk cId="584901535" sldId="589"/>
            <ac:spMk id="2" creationId="{D0EA988E-A9CE-539C-4F26-0BC2C579EF02}"/>
          </ac:spMkLst>
        </pc:spChg>
        <pc:spChg chg="mod">
          <ac:chgData name="김준석(전자전기공학과)" userId="c4c08a24-37a7-4c61-b031-141f34ff0bb5" providerId="ADAL" clId="{5A5D7159-5D4B-4930-8D24-CDAEE40F4512}" dt="2025-12-13T10:47:54.619" v="7845" actId="113"/>
          <ac:spMkLst>
            <pc:docMk/>
            <pc:sldMk cId="584901535" sldId="589"/>
            <ac:spMk id="4" creationId="{3EF6A0A7-FF81-E996-8432-778DBC0307E7}"/>
          </ac:spMkLst>
        </pc:spChg>
        <pc:spChg chg="add mod">
          <ac:chgData name="김준석(전자전기공학과)" userId="c4c08a24-37a7-4c61-b031-141f34ff0bb5" providerId="ADAL" clId="{5A5D7159-5D4B-4930-8D24-CDAEE40F4512}" dt="2025-12-13T10:47:59.170" v="7847" actId="14100"/>
          <ac:spMkLst>
            <pc:docMk/>
            <pc:sldMk cId="584901535" sldId="589"/>
            <ac:spMk id="5" creationId="{8D687265-F82B-53DD-9AEB-C19A372F0AA3}"/>
          </ac:spMkLst>
        </pc:spChg>
        <pc:spChg chg="add mod">
          <ac:chgData name="김준석(전자전기공학과)" userId="c4c08a24-37a7-4c61-b031-141f34ff0bb5" providerId="ADAL" clId="{5A5D7159-5D4B-4930-8D24-CDAEE40F4512}" dt="2025-12-13T10:46:18.717" v="7821" actId="1076"/>
          <ac:spMkLst>
            <pc:docMk/>
            <pc:sldMk cId="584901535" sldId="589"/>
            <ac:spMk id="6" creationId="{44D6484B-ACB1-B1B8-6408-C2FED9D30666}"/>
          </ac:spMkLst>
        </pc:spChg>
        <pc:spChg chg="add mod">
          <ac:chgData name="김준석(전자전기공학과)" userId="c4c08a24-37a7-4c61-b031-141f34ff0bb5" providerId="ADAL" clId="{5A5D7159-5D4B-4930-8D24-CDAEE40F4512}" dt="2025-12-13T10:46:23.363" v="7824" actId="14100"/>
          <ac:spMkLst>
            <pc:docMk/>
            <pc:sldMk cId="584901535" sldId="589"/>
            <ac:spMk id="7" creationId="{5E262BAC-946E-CC4E-676C-9729FC6A9718}"/>
          </ac:spMkLst>
        </pc:spChg>
        <pc:spChg chg="mod">
          <ac:chgData name="김준석(전자전기공학과)" userId="c4c08a24-37a7-4c61-b031-141f34ff0bb5" providerId="ADAL" clId="{5A5D7159-5D4B-4930-8D24-CDAEE40F4512}" dt="2025-12-08T14:58:15.467" v="3830" actId="14100"/>
          <ac:spMkLst>
            <pc:docMk/>
            <pc:sldMk cId="584901535" sldId="589"/>
            <ac:spMk id="9" creationId="{7CA62499-53FE-53DA-EE45-08F7921B2749}"/>
          </ac:spMkLst>
        </pc:spChg>
        <pc:picChg chg="add mod">
          <ac:chgData name="김준석(전자전기공학과)" userId="c4c08a24-37a7-4c61-b031-141f34ff0bb5" providerId="ADAL" clId="{5A5D7159-5D4B-4930-8D24-CDAEE40F4512}" dt="2025-12-13T10:47:34.982" v="7841" actId="1076"/>
          <ac:picMkLst>
            <pc:docMk/>
            <pc:sldMk cId="584901535" sldId="589"/>
            <ac:picMk id="8" creationId="{C0DB9BC0-5F90-883A-64BD-C37E72B8A370}"/>
          </ac:picMkLst>
        </pc:picChg>
      </pc:sldChg>
      <pc:sldChg chg="modSp add del mod">
        <pc:chgData name="김준석(전자전기공학과)" userId="c4c08a24-37a7-4c61-b031-141f34ff0bb5" providerId="ADAL" clId="{5A5D7159-5D4B-4930-8D24-CDAEE40F4512}" dt="2025-12-13T09:45:09.707" v="7048" actId="47"/>
        <pc:sldMkLst>
          <pc:docMk/>
          <pc:sldMk cId="2156684930" sldId="590"/>
        </pc:sldMkLst>
        <pc:spChg chg="mod">
          <ac:chgData name="김준석(전자전기공학과)" userId="c4c08a24-37a7-4c61-b031-141f34ff0bb5" providerId="ADAL" clId="{5A5D7159-5D4B-4930-8D24-CDAEE40F4512}" dt="2025-12-13T09:42:07.255" v="7046" actId="114"/>
          <ac:spMkLst>
            <pc:docMk/>
            <pc:sldMk cId="2156684930" sldId="590"/>
            <ac:spMk id="4" creationId="{B050F32A-85C8-16FB-E1AC-DFABA0343C5C}"/>
          </ac:spMkLst>
        </pc:spChg>
      </pc:sldChg>
      <pc:sldChg chg="add del">
        <pc:chgData name="김준석(전자전기공학과)" userId="c4c08a24-37a7-4c61-b031-141f34ff0bb5" providerId="ADAL" clId="{5A5D7159-5D4B-4930-8D24-CDAEE40F4512}" dt="2025-12-13T09:46:28.741" v="7053" actId="2696"/>
        <pc:sldMkLst>
          <pc:docMk/>
          <pc:sldMk cId="2778132769" sldId="590"/>
        </pc:sldMkLst>
      </pc:sldChg>
      <pc:sldChg chg="add">
        <pc:chgData name="김준석(전자전기공학과)" userId="c4c08a24-37a7-4c61-b031-141f34ff0bb5" providerId="ADAL" clId="{5A5D7159-5D4B-4930-8D24-CDAEE40F4512}" dt="2025-12-13T09:46:32.007" v="7054"/>
        <pc:sldMkLst>
          <pc:docMk/>
          <pc:sldMk cId="3245887408" sldId="590"/>
        </pc:sldMkLst>
      </pc:sldChg>
      <pc:sldChg chg="addSp delSp modSp add mod">
        <pc:chgData name="김준석(전자전기공학과)" userId="c4c08a24-37a7-4c61-b031-141f34ff0bb5" providerId="ADAL" clId="{5A5D7159-5D4B-4930-8D24-CDAEE40F4512}" dt="2025-12-13T10:50:26.036" v="7872" actId="113"/>
        <pc:sldMkLst>
          <pc:docMk/>
          <pc:sldMk cId="1550122141" sldId="591"/>
        </pc:sldMkLst>
        <pc:spChg chg="add mod">
          <ac:chgData name="김준석(전자전기공학과)" userId="c4c08a24-37a7-4c61-b031-141f34ff0bb5" providerId="ADAL" clId="{5A5D7159-5D4B-4930-8D24-CDAEE40F4512}" dt="2025-12-13T03:57:40.453" v="5314" actId="1076"/>
          <ac:spMkLst>
            <pc:docMk/>
            <pc:sldMk cId="1550122141" sldId="591"/>
            <ac:spMk id="5" creationId="{2F16D794-F59C-0F90-2988-22040DB763BC}"/>
          </ac:spMkLst>
        </pc:spChg>
        <pc:spChg chg="mod">
          <ac:chgData name="김준석(전자전기공학과)" userId="c4c08a24-37a7-4c61-b031-141f34ff0bb5" providerId="ADAL" clId="{5A5D7159-5D4B-4930-8D24-CDAEE40F4512}" dt="2025-12-13T10:50:11.308" v="7869" actId="113"/>
          <ac:spMkLst>
            <pc:docMk/>
            <pc:sldMk cId="1550122141" sldId="591"/>
            <ac:spMk id="8" creationId="{D1C45B72-1E94-CEDB-ADAB-A80A20AD631C}"/>
          </ac:spMkLst>
        </pc:spChg>
        <pc:spChg chg="add del mod">
          <ac:chgData name="김준석(전자전기공학과)" userId="c4c08a24-37a7-4c61-b031-141f34ff0bb5" providerId="ADAL" clId="{5A5D7159-5D4B-4930-8D24-CDAEE40F4512}" dt="2025-12-13T04:09:10.751" v="5432" actId="478"/>
          <ac:spMkLst>
            <pc:docMk/>
            <pc:sldMk cId="1550122141" sldId="591"/>
            <ac:spMk id="10" creationId="{BF8A238A-D5F6-B6A7-FB95-E18CD573FABF}"/>
          </ac:spMkLst>
        </pc:spChg>
        <pc:spChg chg="add mod">
          <ac:chgData name="김준석(전자전기공학과)" userId="c4c08a24-37a7-4c61-b031-141f34ff0bb5" providerId="ADAL" clId="{5A5D7159-5D4B-4930-8D24-CDAEE40F4512}" dt="2025-12-13T10:50:21.675" v="7871" actId="113"/>
          <ac:spMkLst>
            <pc:docMk/>
            <pc:sldMk cId="1550122141" sldId="591"/>
            <ac:spMk id="12" creationId="{F34EDE65-4C10-1767-36D3-7BA2A6A47BED}"/>
          </ac:spMkLst>
        </pc:spChg>
        <pc:spChg chg="add mod">
          <ac:chgData name="김준석(전자전기공학과)" userId="c4c08a24-37a7-4c61-b031-141f34ff0bb5" providerId="ADAL" clId="{5A5D7159-5D4B-4930-8D24-CDAEE40F4512}" dt="2025-12-13T04:09:30.690" v="5434" actId="207"/>
          <ac:spMkLst>
            <pc:docMk/>
            <pc:sldMk cId="1550122141" sldId="591"/>
            <ac:spMk id="13" creationId="{D38BC582-5CE4-57C4-5603-41EAD5781DDF}"/>
          </ac:spMkLst>
        </pc:spChg>
        <pc:spChg chg="add mod">
          <ac:chgData name="김준석(전자전기공학과)" userId="c4c08a24-37a7-4c61-b031-141f34ff0bb5" providerId="ADAL" clId="{5A5D7159-5D4B-4930-8D24-CDAEE40F4512}" dt="2025-12-13T10:50:26.036" v="7872" actId="113"/>
          <ac:spMkLst>
            <pc:docMk/>
            <pc:sldMk cId="1550122141" sldId="591"/>
            <ac:spMk id="15" creationId="{8E419715-EF20-F5B6-4435-6E2B0AA5E71C}"/>
          </ac:spMkLst>
        </pc:spChg>
        <pc:spChg chg="add mod">
          <ac:chgData name="김준석(전자전기공학과)" userId="c4c08a24-37a7-4c61-b031-141f34ff0bb5" providerId="ADAL" clId="{5A5D7159-5D4B-4930-8D24-CDAEE40F4512}" dt="2025-12-13T04:09:49.961" v="5438" actId="207"/>
          <ac:spMkLst>
            <pc:docMk/>
            <pc:sldMk cId="1550122141" sldId="591"/>
            <ac:spMk id="16" creationId="{6273FD75-3908-8529-88B7-1AC48D124266}"/>
          </ac:spMkLst>
        </pc:spChg>
        <pc:spChg chg="add mod">
          <ac:chgData name="김준석(전자전기공학과)" userId="c4c08a24-37a7-4c61-b031-141f34ff0bb5" providerId="ADAL" clId="{5A5D7159-5D4B-4930-8D24-CDAEE40F4512}" dt="2025-12-13T04:14:06.829" v="5451" actId="14100"/>
          <ac:spMkLst>
            <pc:docMk/>
            <pc:sldMk cId="1550122141" sldId="591"/>
            <ac:spMk id="17" creationId="{AA6CA0A5-4FE1-6DCD-E68E-19C1F6BC0AAD}"/>
          </ac:spMkLst>
        </pc:spChg>
        <pc:spChg chg="add mod">
          <ac:chgData name="김준석(전자전기공학과)" userId="c4c08a24-37a7-4c61-b031-141f34ff0bb5" providerId="ADAL" clId="{5A5D7159-5D4B-4930-8D24-CDAEE40F4512}" dt="2025-12-13T04:14:11.666" v="5454" actId="14100"/>
          <ac:spMkLst>
            <pc:docMk/>
            <pc:sldMk cId="1550122141" sldId="591"/>
            <ac:spMk id="18" creationId="{7BD3EFC3-2CD3-3B81-1C2A-AD45168070C6}"/>
          </ac:spMkLst>
        </pc:spChg>
      </pc:sldChg>
      <pc:sldChg chg="add del">
        <pc:chgData name="김준석(전자전기공학과)" userId="c4c08a24-37a7-4c61-b031-141f34ff0bb5" providerId="ADAL" clId="{5A5D7159-5D4B-4930-8D24-CDAEE40F4512}" dt="2025-12-10T15:39:07.422" v="5263" actId="47"/>
        <pc:sldMkLst>
          <pc:docMk/>
          <pc:sldMk cId="3897308887" sldId="591"/>
        </pc:sldMkLst>
      </pc:sldChg>
      <pc:sldChg chg="add">
        <pc:chgData name="김준석(전자전기공학과)" userId="c4c08a24-37a7-4c61-b031-141f34ff0bb5" providerId="ADAL" clId="{5A5D7159-5D4B-4930-8D24-CDAEE40F4512}" dt="2025-12-13T04:12:37.836" v="5445"/>
        <pc:sldMkLst>
          <pc:docMk/>
          <pc:sldMk cId="691294545" sldId="592"/>
        </pc:sldMkLst>
      </pc:sldChg>
      <pc:sldChg chg="add">
        <pc:chgData name="김준석(전자전기공학과)" userId="c4c08a24-37a7-4c61-b031-141f34ff0bb5" providerId="ADAL" clId="{5A5D7159-5D4B-4930-8D24-CDAEE40F4512}" dt="2025-12-13T04:16:02.832" v="5547"/>
        <pc:sldMkLst>
          <pc:docMk/>
          <pc:sldMk cId="3551221634" sldId="593"/>
        </pc:sldMkLst>
      </pc:sldChg>
      <pc:sldChg chg="add">
        <pc:chgData name="김준석(전자전기공학과)" userId="c4c08a24-37a7-4c61-b031-141f34ff0bb5" providerId="ADAL" clId="{5A5D7159-5D4B-4930-8D24-CDAEE40F4512}" dt="2025-12-13T09:46:46.264" v="7057"/>
        <pc:sldMkLst>
          <pc:docMk/>
          <pc:sldMk cId="198003187" sldId="594"/>
        </pc:sldMkLst>
      </pc:sldChg>
      <pc:sldChg chg="modSp add del">
        <pc:chgData name="김준석(전자전기공학과)" userId="c4c08a24-37a7-4c61-b031-141f34ff0bb5" providerId="ADAL" clId="{5A5D7159-5D4B-4930-8D24-CDAEE40F4512}" dt="2025-12-13T05:24:56.505" v="6228" actId="47"/>
        <pc:sldMkLst>
          <pc:docMk/>
          <pc:sldMk cId="1095405089" sldId="594"/>
        </pc:sldMkLst>
        <pc:spChg chg="mod">
          <ac:chgData name="김준석(전자전기공학과)" userId="c4c08a24-37a7-4c61-b031-141f34ff0bb5" providerId="ADAL" clId="{5A5D7159-5D4B-4930-8D24-CDAEE40F4512}" dt="2025-12-13T04:33:36.923" v="5823" actId="20577"/>
          <ac:spMkLst>
            <pc:docMk/>
            <pc:sldMk cId="1095405089" sldId="594"/>
            <ac:spMk id="8" creationId="{F810AF68-1711-E5E5-B67A-68E0A14F94C1}"/>
          </ac:spMkLst>
        </pc:spChg>
      </pc:sldChg>
      <pc:sldChg chg="add del">
        <pc:chgData name="김준석(전자전기공학과)" userId="c4c08a24-37a7-4c61-b031-141f34ff0bb5" providerId="ADAL" clId="{5A5D7159-5D4B-4930-8D24-CDAEE40F4512}" dt="2025-12-13T09:46:42.822" v="7056" actId="2696"/>
        <pc:sldMkLst>
          <pc:docMk/>
          <pc:sldMk cId="2513851053" sldId="594"/>
        </pc:sldMkLst>
      </pc:sldChg>
      <pc:sldChg chg="addSp delSp modSp add mod">
        <pc:chgData name="김준석(전자전기공학과)" userId="c4c08a24-37a7-4c61-b031-141f34ff0bb5" providerId="ADAL" clId="{5A5D7159-5D4B-4930-8D24-CDAEE40F4512}" dt="2025-12-13T13:19:16.292" v="7878" actId="20577"/>
        <pc:sldMkLst>
          <pc:docMk/>
          <pc:sldMk cId="1161158081" sldId="595"/>
        </pc:sldMkLst>
        <pc:spChg chg="add mod">
          <ac:chgData name="김준석(전자전기공학과)" userId="c4c08a24-37a7-4c61-b031-141f34ff0bb5" providerId="ADAL" clId="{5A5D7159-5D4B-4930-8D24-CDAEE40F4512}" dt="2025-12-13T04:54:54.170" v="5959" actId="207"/>
          <ac:spMkLst>
            <pc:docMk/>
            <pc:sldMk cId="1161158081" sldId="595"/>
            <ac:spMk id="4" creationId="{BCD1FD0C-C7DC-0132-2BF3-1687C1B21036}"/>
          </ac:spMkLst>
        </pc:spChg>
        <pc:spChg chg="add mod">
          <ac:chgData name="김준석(전자전기공학과)" userId="c4c08a24-37a7-4c61-b031-141f34ff0bb5" providerId="ADAL" clId="{5A5D7159-5D4B-4930-8D24-CDAEE40F4512}" dt="2025-12-13T04:54:50.437" v="5958" actId="207"/>
          <ac:spMkLst>
            <pc:docMk/>
            <pc:sldMk cId="1161158081" sldId="595"/>
            <ac:spMk id="5" creationId="{CF66CFAC-1151-1206-F588-7D9341B201DC}"/>
          </ac:spMkLst>
        </pc:spChg>
        <pc:spChg chg="add mod">
          <ac:chgData name="김준석(전자전기공학과)" userId="c4c08a24-37a7-4c61-b031-141f34ff0bb5" providerId="ADAL" clId="{5A5D7159-5D4B-4930-8D24-CDAEE40F4512}" dt="2025-12-13T04:54:59.881" v="5962" actId="14100"/>
          <ac:spMkLst>
            <pc:docMk/>
            <pc:sldMk cId="1161158081" sldId="595"/>
            <ac:spMk id="6" creationId="{B8F6C678-68FF-A136-24B7-A9491E9279FC}"/>
          </ac:spMkLst>
        </pc:spChg>
        <pc:spChg chg="add mod">
          <ac:chgData name="김준석(전자전기공학과)" userId="c4c08a24-37a7-4c61-b031-141f34ff0bb5" providerId="ADAL" clId="{5A5D7159-5D4B-4930-8D24-CDAEE40F4512}" dt="2025-12-13T04:55:05.336" v="5965" actId="14100"/>
          <ac:spMkLst>
            <pc:docMk/>
            <pc:sldMk cId="1161158081" sldId="595"/>
            <ac:spMk id="7" creationId="{D43C060D-A663-5EBF-8131-83BDC03922E4}"/>
          </ac:spMkLst>
        </pc:spChg>
        <pc:spChg chg="mod">
          <ac:chgData name="김준석(전자전기공학과)" userId="c4c08a24-37a7-4c61-b031-141f34ff0bb5" providerId="ADAL" clId="{5A5D7159-5D4B-4930-8D24-CDAEE40F4512}" dt="2025-12-13T10:49:34.345" v="7866" actId="113"/>
          <ac:spMkLst>
            <pc:docMk/>
            <pc:sldMk cId="1161158081" sldId="595"/>
            <ac:spMk id="8" creationId="{73B14F83-8741-FF85-6725-6D6A7093338C}"/>
          </ac:spMkLst>
        </pc:spChg>
        <pc:spChg chg="add mod">
          <ac:chgData name="김준석(전자전기공학과)" userId="c4c08a24-37a7-4c61-b031-141f34ff0bb5" providerId="ADAL" clId="{5A5D7159-5D4B-4930-8D24-CDAEE40F4512}" dt="2025-12-13T04:55:21.255" v="5969" actId="14100"/>
          <ac:spMkLst>
            <pc:docMk/>
            <pc:sldMk cId="1161158081" sldId="595"/>
            <ac:spMk id="10" creationId="{99506023-0B80-744B-F89A-CCD30DCA10A4}"/>
          </ac:spMkLst>
        </pc:spChg>
        <pc:spChg chg="add mod">
          <ac:chgData name="김준석(전자전기공학과)" userId="c4c08a24-37a7-4c61-b031-141f34ff0bb5" providerId="ADAL" clId="{5A5D7159-5D4B-4930-8D24-CDAEE40F4512}" dt="2025-12-13T04:56:59.451" v="5989" actId="1076"/>
          <ac:spMkLst>
            <pc:docMk/>
            <pc:sldMk cId="1161158081" sldId="595"/>
            <ac:spMk id="11" creationId="{EED9F706-7449-F7C1-9C35-C73E4524F43D}"/>
          </ac:spMkLst>
        </pc:spChg>
        <pc:spChg chg="add mod">
          <ac:chgData name="김준석(전자전기공학과)" userId="c4c08a24-37a7-4c61-b031-141f34ff0bb5" providerId="ADAL" clId="{5A5D7159-5D4B-4930-8D24-CDAEE40F4512}" dt="2025-12-13T04:57:21.672" v="5997" actId="207"/>
          <ac:spMkLst>
            <pc:docMk/>
            <pc:sldMk cId="1161158081" sldId="595"/>
            <ac:spMk id="12" creationId="{414A37D4-7BD6-7C08-602C-0B64B57CE56C}"/>
          </ac:spMkLst>
        </pc:spChg>
        <pc:spChg chg="add mod">
          <ac:chgData name="김준석(전자전기공학과)" userId="c4c08a24-37a7-4c61-b031-141f34ff0bb5" providerId="ADAL" clId="{5A5D7159-5D4B-4930-8D24-CDAEE40F4512}" dt="2025-12-13T13:19:16.292" v="7878" actId="20577"/>
          <ac:spMkLst>
            <pc:docMk/>
            <pc:sldMk cId="1161158081" sldId="595"/>
            <ac:spMk id="14" creationId="{77F4F5BD-EBC2-5728-1291-0C8C8120385D}"/>
          </ac:spMkLst>
        </pc:spChg>
        <pc:spChg chg="add del mod">
          <ac:chgData name="김준석(전자전기공학과)" userId="c4c08a24-37a7-4c61-b031-141f34ff0bb5" providerId="ADAL" clId="{5A5D7159-5D4B-4930-8D24-CDAEE40F4512}" dt="2025-12-13T13:13:23.122" v="7877" actId="478"/>
          <ac:spMkLst>
            <pc:docMk/>
            <pc:sldMk cId="1161158081" sldId="595"/>
            <ac:spMk id="16" creationId="{532C862D-734C-1C62-3E3D-7B128B1B98A9}"/>
          </ac:spMkLst>
        </pc:spChg>
        <pc:spChg chg="add del mod">
          <ac:chgData name="김준석(전자전기공학과)" userId="c4c08a24-37a7-4c61-b031-141f34ff0bb5" providerId="ADAL" clId="{5A5D7159-5D4B-4930-8D24-CDAEE40F4512}" dt="2025-12-13T13:13:22.148" v="7876" actId="478"/>
          <ac:spMkLst>
            <pc:docMk/>
            <pc:sldMk cId="1161158081" sldId="595"/>
            <ac:spMk id="17" creationId="{4BDE4D93-5B6A-CEF0-41BD-407C6DB3D5D9}"/>
          </ac:spMkLst>
        </pc:spChg>
        <pc:spChg chg="add mod">
          <ac:chgData name="김준석(전자전기공학과)" userId="c4c08a24-37a7-4c61-b031-141f34ff0bb5" providerId="ADAL" clId="{5A5D7159-5D4B-4930-8D24-CDAEE40F4512}" dt="2025-12-13T04:58:45.293" v="6054" actId="1076"/>
          <ac:spMkLst>
            <pc:docMk/>
            <pc:sldMk cId="1161158081" sldId="595"/>
            <ac:spMk id="18" creationId="{8A42470A-8985-02BC-AA93-47FE91C8614F}"/>
          </ac:spMkLst>
        </pc:spChg>
        <pc:spChg chg="add mod">
          <ac:chgData name="김준석(전자전기공학과)" userId="c4c08a24-37a7-4c61-b031-141f34ff0bb5" providerId="ADAL" clId="{5A5D7159-5D4B-4930-8D24-CDAEE40F4512}" dt="2025-12-13T04:59:18.154" v="6064" actId="14100"/>
          <ac:spMkLst>
            <pc:docMk/>
            <pc:sldMk cId="1161158081" sldId="595"/>
            <ac:spMk id="19" creationId="{A0A08A0E-2BE3-170B-9813-98BF7DC88F6B}"/>
          </ac:spMkLst>
        </pc:spChg>
      </pc:sldChg>
      <pc:sldChg chg="addSp delSp modSp add mod">
        <pc:chgData name="김준석(전자전기공학과)" userId="c4c08a24-37a7-4c61-b031-141f34ff0bb5" providerId="ADAL" clId="{5A5D7159-5D4B-4930-8D24-CDAEE40F4512}" dt="2025-12-13T10:49:28.948" v="7865" actId="1076"/>
        <pc:sldMkLst>
          <pc:docMk/>
          <pc:sldMk cId="1608964995" sldId="596"/>
        </pc:sldMkLst>
        <pc:spChg chg="del">
          <ac:chgData name="김준석(전자전기공학과)" userId="c4c08a24-37a7-4c61-b031-141f34ff0bb5" providerId="ADAL" clId="{5A5D7159-5D4B-4930-8D24-CDAEE40F4512}" dt="2025-12-13T05:01:33.332" v="6088" actId="478"/>
          <ac:spMkLst>
            <pc:docMk/>
            <pc:sldMk cId="1608964995" sldId="596"/>
            <ac:spMk id="4" creationId="{FD2ED524-EB41-8802-AE3A-3A03EC21A9CD}"/>
          </ac:spMkLst>
        </pc:spChg>
        <pc:spChg chg="del">
          <ac:chgData name="김준석(전자전기공학과)" userId="c4c08a24-37a7-4c61-b031-141f34ff0bb5" providerId="ADAL" clId="{5A5D7159-5D4B-4930-8D24-CDAEE40F4512}" dt="2025-12-13T05:01:33.332" v="6088" actId="478"/>
          <ac:spMkLst>
            <pc:docMk/>
            <pc:sldMk cId="1608964995" sldId="596"/>
            <ac:spMk id="5" creationId="{BF20C046-948A-11DD-6FC0-F7E00586AAA0}"/>
          </ac:spMkLst>
        </pc:spChg>
        <pc:spChg chg="del">
          <ac:chgData name="김준석(전자전기공학과)" userId="c4c08a24-37a7-4c61-b031-141f34ff0bb5" providerId="ADAL" clId="{5A5D7159-5D4B-4930-8D24-CDAEE40F4512}" dt="2025-12-13T05:01:33.332" v="6088" actId="478"/>
          <ac:spMkLst>
            <pc:docMk/>
            <pc:sldMk cId="1608964995" sldId="596"/>
            <ac:spMk id="6" creationId="{68CE76E3-7962-20BE-AD27-02EDB1923D26}"/>
          </ac:spMkLst>
        </pc:spChg>
        <pc:spChg chg="mod">
          <ac:chgData name="김준석(전자전기공학과)" userId="c4c08a24-37a7-4c61-b031-141f34ff0bb5" providerId="ADAL" clId="{5A5D7159-5D4B-4930-8D24-CDAEE40F4512}" dt="2025-12-13T10:49:26.279" v="7864" actId="113"/>
          <ac:spMkLst>
            <pc:docMk/>
            <pc:sldMk cId="1608964995" sldId="596"/>
            <ac:spMk id="8" creationId="{A0612B27-6EF4-7B6C-B112-025BAFB6A2F1}"/>
          </ac:spMkLst>
        </pc:spChg>
        <pc:spChg chg="del">
          <ac:chgData name="김준석(전자전기공학과)" userId="c4c08a24-37a7-4c61-b031-141f34ff0bb5" providerId="ADAL" clId="{5A5D7159-5D4B-4930-8D24-CDAEE40F4512}" dt="2025-12-13T05:01:33.332" v="6088" actId="478"/>
          <ac:spMkLst>
            <pc:docMk/>
            <pc:sldMk cId="1608964995" sldId="596"/>
            <ac:spMk id="10" creationId="{9C2AE278-2BC0-DBDA-F0BB-00B60089D32F}"/>
          </ac:spMkLst>
        </pc:spChg>
        <pc:spChg chg="del">
          <ac:chgData name="김준석(전자전기공학과)" userId="c4c08a24-37a7-4c61-b031-141f34ff0bb5" providerId="ADAL" clId="{5A5D7159-5D4B-4930-8D24-CDAEE40F4512}" dt="2025-12-13T05:01:33.332" v="6088" actId="478"/>
          <ac:spMkLst>
            <pc:docMk/>
            <pc:sldMk cId="1608964995" sldId="596"/>
            <ac:spMk id="11" creationId="{6BAD2C2B-5281-B5D8-EE3A-D80979EAFDBE}"/>
          </ac:spMkLst>
        </pc:spChg>
        <pc:spChg chg="del">
          <ac:chgData name="김준석(전자전기공학과)" userId="c4c08a24-37a7-4c61-b031-141f34ff0bb5" providerId="ADAL" clId="{5A5D7159-5D4B-4930-8D24-CDAEE40F4512}" dt="2025-12-13T05:01:33.332" v="6088" actId="478"/>
          <ac:spMkLst>
            <pc:docMk/>
            <pc:sldMk cId="1608964995" sldId="596"/>
            <ac:spMk id="12" creationId="{CAC4871C-52C2-8E91-8287-4AB81C9E301B}"/>
          </ac:spMkLst>
        </pc:spChg>
        <pc:spChg chg="add mod">
          <ac:chgData name="김준석(전자전기공학과)" userId="c4c08a24-37a7-4c61-b031-141f34ff0bb5" providerId="ADAL" clId="{5A5D7159-5D4B-4930-8D24-CDAEE40F4512}" dt="2025-12-13T10:49:28.948" v="7865" actId="1076"/>
          <ac:spMkLst>
            <pc:docMk/>
            <pc:sldMk cId="1608964995" sldId="596"/>
            <ac:spMk id="13" creationId="{26EDBC0C-38BC-D3F2-2CB4-AE02D845E2CF}"/>
          </ac:spMkLst>
        </pc:spChg>
        <pc:spChg chg="del">
          <ac:chgData name="김준석(전자전기공학과)" userId="c4c08a24-37a7-4c61-b031-141f34ff0bb5" providerId="ADAL" clId="{5A5D7159-5D4B-4930-8D24-CDAEE40F4512}" dt="2025-12-13T05:01:44.993" v="6091" actId="478"/>
          <ac:spMkLst>
            <pc:docMk/>
            <pc:sldMk cId="1608964995" sldId="596"/>
            <ac:spMk id="14" creationId="{0DEE9FDC-A8BD-C0C0-FCB6-059442DE0DEC}"/>
          </ac:spMkLst>
        </pc:spChg>
        <pc:spChg chg="add mod">
          <ac:chgData name="김준석(전자전기공학과)" userId="c4c08a24-37a7-4c61-b031-141f34ff0bb5" providerId="ADAL" clId="{5A5D7159-5D4B-4930-8D24-CDAEE40F4512}" dt="2025-12-13T05:07:54.573" v="6141" actId="207"/>
          <ac:spMkLst>
            <pc:docMk/>
            <pc:sldMk cId="1608964995" sldId="596"/>
            <ac:spMk id="15" creationId="{1CBB721C-83ED-0DCB-D123-94082485FD93}"/>
          </ac:spMkLst>
        </pc:spChg>
        <pc:spChg chg="del">
          <ac:chgData name="김준석(전자전기공학과)" userId="c4c08a24-37a7-4c61-b031-141f34ff0bb5" providerId="ADAL" clId="{5A5D7159-5D4B-4930-8D24-CDAEE40F4512}" dt="2025-12-13T05:01:33.332" v="6088" actId="478"/>
          <ac:spMkLst>
            <pc:docMk/>
            <pc:sldMk cId="1608964995" sldId="596"/>
            <ac:spMk id="16" creationId="{DBE4AB6A-7A04-7868-CDC6-CD52C736DDCB}"/>
          </ac:spMkLst>
        </pc:spChg>
        <pc:spChg chg="del">
          <ac:chgData name="김준석(전자전기공학과)" userId="c4c08a24-37a7-4c61-b031-141f34ff0bb5" providerId="ADAL" clId="{5A5D7159-5D4B-4930-8D24-CDAEE40F4512}" dt="2025-12-13T05:01:33.332" v="6088" actId="478"/>
          <ac:spMkLst>
            <pc:docMk/>
            <pc:sldMk cId="1608964995" sldId="596"/>
            <ac:spMk id="17" creationId="{2317C0E4-E160-C6ED-782F-11001C0E6B0B}"/>
          </ac:spMkLst>
        </pc:spChg>
        <pc:spChg chg="del">
          <ac:chgData name="김준석(전자전기공학과)" userId="c4c08a24-37a7-4c61-b031-141f34ff0bb5" providerId="ADAL" clId="{5A5D7159-5D4B-4930-8D24-CDAEE40F4512}" dt="2025-12-13T05:01:33.332" v="6088" actId="478"/>
          <ac:spMkLst>
            <pc:docMk/>
            <pc:sldMk cId="1608964995" sldId="596"/>
            <ac:spMk id="18" creationId="{FAD26E57-61EB-FAFE-F3FE-AF1A1FBB2622}"/>
          </ac:spMkLst>
        </pc:spChg>
        <pc:spChg chg="del">
          <ac:chgData name="김준석(전자전기공학과)" userId="c4c08a24-37a7-4c61-b031-141f34ff0bb5" providerId="ADAL" clId="{5A5D7159-5D4B-4930-8D24-CDAEE40F4512}" dt="2025-12-13T05:01:33.332" v="6088" actId="478"/>
          <ac:spMkLst>
            <pc:docMk/>
            <pc:sldMk cId="1608964995" sldId="596"/>
            <ac:spMk id="19" creationId="{55B5D347-C130-CDA7-078E-483039B05C97}"/>
          </ac:spMkLst>
        </pc:spChg>
        <pc:spChg chg="add mod">
          <ac:chgData name="김준석(전자전기공학과)" userId="c4c08a24-37a7-4c61-b031-141f34ff0bb5" providerId="ADAL" clId="{5A5D7159-5D4B-4930-8D24-CDAEE40F4512}" dt="2025-12-13T05:08:03.505" v="6145" actId="14100"/>
          <ac:spMkLst>
            <pc:docMk/>
            <pc:sldMk cId="1608964995" sldId="596"/>
            <ac:spMk id="20" creationId="{45683FC7-CD47-5A92-ADC4-49DC721E8E5B}"/>
          </ac:spMkLst>
        </pc:spChg>
        <pc:spChg chg="add mod">
          <ac:chgData name="김준석(전자전기공학과)" userId="c4c08a24-37a7-4c61-b031-141f34ff0bb5" providerId="ADAL" clId="{5A5D7159-5D4B-4930-8D24-CDAEE40F4512}" dt="2025-12-13T05:08:06.048" v="6147" actId="1076"/>
          <ac:spMkLst>
            <pc:docMk/>
            <pc:sldMk cId="1608964995" sldId="596"/>
            <ac:spMk id="21" creationId="{85C98CA7-D824-9425-8ED6-9AAE392E2BAD}"/>
          </ac:spMkLst>
        </pc:spChg>
        <pc:spChg chg="add mod">
          <ac:chgData name="김준석(전자전기공학과)" userId="c4c08a24-37a7-4c61-b031-141f34ff0bb5" providerId="ADAL" clId="{5A5D7159-5D4B-4930-8D24-CDAEE40F4512}" dt="2025-12-13T05:08:08.792" v="6149" actId="1076"/>
          <ac:spMkLst>
            <pc:docMk/>
            <pc:sldMk cId="1608964995" sldId="596"/>
            <ac:spMk id="22" creationId="{6A59AB74-C84F-0BD9-0EEF-E3C85577087F}"/>
          </ac:spMkLst>
        </pc:spChg>
        <pc:spChg chg="add mod">
          <ac:chgData name="김준석(전자전기공학과)" userId="c4c08a24-37a7-4c61-b031-141f34ff0bb5" providerId="ADAL" clId="{5A5D7159-5D4B-4930-8D24-CDAEE40F4512}" dt="2025-12-13T05:08:15.227" v="6151" actId="1076"/>
          <ac:spMkLst>
            <pc:docMk/>
            <pc:sldMk cId="1608964995" sldId="596"/>
            <ac:spMk id="23" creationId="{EE3ED573-2192-2AA6-F3B0-1CCD5790B810}"/>
          </ac:spMkLst>
        </pc:spChg>
        <pc:spChg chg="add mod">
          <ac:chgData name="김준석(전자전기공학과)" userId="c4c08a24-37a7-4c61-b031-141f34ff0bb5" providerId="ADAL" clId="{5A5D7159-5D4B-4930-8D24-CDAEE40F4512}" dt="2025-12-13T05:16:21.334" v="6164" actId="207"/>
          <ac:spMkLst>
            <pc:docMk/>
            <pc:sldMk cId="1608964995" sldId="596"/>
            <ac:spMk id="24" creationId="{A2B66CF3-3767-7BCC-E99F-116760FFF486}"/>
          </ac:spMkLst>
        </pc:spChg>
        <pc:spChg chg="add mod">
          <ac:chgData name="김준석(전자전기공학과)" userId="c4c08a24-37a7-4c61-b031-141f34ff0bb5" providerId="ADAL" clId="{5A5D7159-5D4B-4930-8D24-CDAEE40F4512}" dt="2025-12-13T05:17:55.247" v="6184" actId="14100"/>
          <ac:spMkLst>
            <pc:docMk/>
            <pc:sldMk cId="1608964995" sldId="596"/>
            <ac:spMk id="25" creationId="{C968D7EF-7390-D851-934E-824D4D243ADD}"/>
          </ac:spMkLst>
        </pc:spChg>
        <pc:spChg chg="add mod">
          <ac:chgData name="김준석(전자전기공학과)" userId="c4c08a24-37a7-4c61-b031-141f34ff0bb5" providerId="ADAL" clId="{5A5D7159-5D4B-4930-8D24-CDAEE40F4512}" dt="2025-12-13T05:16:21.334" v="6164" actId="207"/>
          <ac:spMkLst>
            <pc:docMk/>
            <pc:sldMk cId="1608964995" sldId="596"/>
            <ac:spMk id="26" creationId="{8E49B92D-580A-7027-904D-7C4051B7DE44}"/>
          </ac:spMkLst>
        </pc:spChg>
        <pc:spChg chg="add del mod">
          <ac:chgData name="김준석(전자전기공학과)" userId="c4c08a24-37a7-4c61-b031-141f34ff0bb5" providerId="ADAL" clId="{5A5D7159-5D4B-4930-8D24-CDAEE40F4512}" dt="2025-12-13T05:16:46.986" v="6180" actId="478"/>
          <ac:spMkLst>
            <pc:docMk/>
            <pc:sldMk cId="1608964995" sldId="596"/>
            <ac:spMk id="29" creationId="{ACFFD0C1-51D1-919E-0316-52A2F7C85489}"/>
          </ac:spMkLst>
        </pc:spChg>
        <pc:spChg chg="add del mod">
          <ac:chgData name="김준석(전자전기공학과)" userId="c4c08a24-37a7-4c61-b031-141f34ff0bb5" providerId="ADAL" clId="{5A5D7159-5D4B-4930-8D24-CDAEE40F4512}" dt="2025-12-13T05:16:47.651" v="6181" actId="478"/>
          <ac:spMkLst>
            <pc:docMk/>
            <pc:sldMk cId="1608964995" sldId="596"/>
            <ac:spMk id="30" creationId="{F200727E-D80F-BAF3-708D-8F8B5A360DBA}"/>
          </ac:spMkLst>
        </pc:spChg>
        <pc:spChg chg="add del mod">
          <ac:chgData name="김준석(전자전기공학과)" userId="c4c08a24-37a7-4c61-b031-141f34ff0bb5" providerId="ADAL" clId="{5A5D7159-5D4B-4930-8D24-CDAEE40F4512}" dt="2025-12-13T05:19:46.810" v="6187" actId="478"/>
          <ac:spMkLst>
            <pc:docMk/>
            <pc:sldMk cId="1608964995" sldId="596"/>
            <ac:spMk id="35" creationId="{DAC8B288-6C30-86C1-E624-0A2668291EDA}"/>
          </ac:spMkLst>
        </pc:spChg>
        <pc:spChg chg="add mod">
          <ac:chgData name="김준석(전자전기공학과)" userId="c4c08a24-37a7-4c61-b031-141f34ff0bb5" providerId="ADAL" clId="{5A5D7159-5D4B-4930-8D24-CDAEE40F4512}" dt="2025-12-13T05:20:42.660" v="6190" actId="1076"/>
          <ac:spMkLst>
            <pc:docMk/>
            <pc:sldMk cId="1608964995" sldId="596"/>
            <ac:spMk id="36" creationId="{4BE384C0-D5A6-503F-5015-49139CE54921}"/>
          </ac:spMkLst>
        </pc:spChg>
        <pc:picChg chg="add mod">
          <ac:chgData name="김준석(전자전기공학과)" userId="c4c08a24-37a7-4c61-b031-141f34ff0bb5" providerId="ADAL" clId="{5A5D7159-5D4B-4930-8D24-CDAEE40F4512}" dt="2025-12-13T05:16:59.858" v="6183" actId="1076"/>
          <ac:picMkLst>
            <pc:docMk/>
            <pc:sldMk cId="1608964995" sldId="596"/>
            <ac:picMk id="34" creationId="{5E3F19FA-54FF-1AA2-8C9D-E0F13C054A66}"/>
          </ac:picMkLst>
        </pc:picChg>
        <pc:cxnChg chg="add mod">
          <ac:chgData name="김준석(전자전기공학과)" userId="c4c08a24-37a7-4c61-b031-141f34ff0bb5" providerId="ADAL" clId="{5A5D7159-5D4B-4930-8D24-CDAEE40F4512}" dt="2025-12-13T05:16:47.651" v="6181" actId="478"/>
          <ac:cxnSpMkLst>
            <pc:docMk/>
            <pc:sldMk cId="1608964995" sldId="596"/>
            <ac:cxnSpMk id="28" creationId="{1B26DCC8-CDA0-9D61-7FC7-54AC359330C6}"/>
          </ac:cxnSpMkLst>
        </pc:cxnChg>
      </pc:sldChg>
      <pc:sldChg chg="addSp delSp modSp add mod">
        <pc:chgData name="김준석(전자전기공학과)" userId="c4c08a24-37a7-4c61-b031-141f34ff0bb5" providerId="ADAL" clId="{5A5D7159-5D4B-4930-8D24-CDAEE40F4512}" dt="2025-12-13T10:49:17.380" v="7863" actId="113"/>
        <pc:sldMkLst>
          <pc:docMk/>
          <pc:sldMk cId="3194089459" sldId="597"/>
        </pc:sldMkLst>
        <pc:spChg chg="mod">
          <ac:chgData name="김준석(전자전기공학과)" userId="c4c08a24-37a7-4c61-b031-141f34ff0bb5" providerId="ADAL" clId="{5A5D7159-5D4B-4930-8D24-CDAEE40F4512}" dt="2025-12-13T05:41:08.637" v="6429"/>
          <ac:spMkLst>
            <pc:docMk/>
            <pc:sldMk cId="3194089459" sldId="597"/>
            <ac:spMk id="3" creationId="{87F0E1B9-6E7B-B052-3801-7C63C9F1117F}"/>
          </ac:spMkLst>
        </pc:spChg>
        <pc:spChg chg="add mod">
          <ac:chgData name="김준석(전자전기공학과)" userId="c4c08a24-37a7-4c61-b031-141f34ff0bb5" providerId="ADAL" clId="{5A5D7159-5D4B-4930-8D24-CDAEE40F4512}" dt="2025-12-13T05:39:50.007" v="6417" actId="1035"/>
          <ac:spMkLst>
            <pc:docMk/>
            <pc:sldMk cId="3194089459" sldId="597"/>
            <ac:spMk id="4" creationId="{BC30C37B-FB6C-B694-670E-6ECD455EE4AF}"/>
          </ac:spMkLst>
        </pc:spChg>
        <pc:spChg chg="add mod">
          <ac:chgData name="김준석(전자전기공학과)" userId="c4c08a24-37a7-4c61-b031-141f34ff0bb5" providerId="ADAL" clId="{5A5D7159-5D4B-4930-8D24-CDAEE40F4512}" dt="2025-12-13T10:49:17.380" v="7863" actId="113"/>
          <ac:spMkLst>
            <pc:docMk/>
            <pc:sldMk cId="3194089459" sldId="597"/>
            <ac:spMk id="6" creationId="{6A7C04FF-7536-D508-D164-2B4EF3C1C4A4}"/>
          </ac:spMkLst>
        </pc:spChg>
        <pc:spChg chg="add mod">
          <ac:chgData name="김준석(전자전기공학과)" userId="c4c08a24-37a7-4c61-b031-141f34ff0bb5" providerId="ADAL" clId="{5A5D7159-5D4B-4930-8D24-CDAEE40F4512}" dt="2025-12-13T05:40:23.676" v="6427" actId="1076"/>
          <ac:spMkLst>
            <pc:docMk/>
            <pc:sldMk cId="3194089459" sldId="597"/>
            <ac:spMk id="7" creationId="{2B22EB79-5E1E-4D29-D1D9-42D5CC24D46D}"/>
          </ac:spMkLst>
        </pc:spChg>
        <pc:spChg chg="mod">
          <ac:chgData name="김준석(전자전기공학과)" userId="c4c08a24-37a7-4c61-b031-141f34ff0bb5" providerId="ADAL" clId="{5A5D7159-5D4B-4930-8D24-CDAEE40F4512}" dt="2025-12-13T10:49:13.531" v="7862" actId="113"/>
          <ac:spMkLst>
            <pc:docMk/>
            <pc:sldMk cId="3194089459" sldId="597"/>
            <ac:spMk id="8" creationId="{0F95E298-B1C5-C812-8234-D45C38576427}"/>
          </ac:spMkLst>
        </pc:spChg>
        <pc:spChg chg="del">
          <ac:chgData name="김준석(전자전기공학과)" userId="c4c08a24-37a7-4c61-b031-141f34ff0bb5" providerId="ADAL" clId="{5A5D7159-5D4B-4930-8D24-CDAEE40F4512}" dt="2025-12-13T05:25:23.079" v="6231" actId="478"/>
          <ac:spMkLst>
            <pc:docMk/>
            <pc:sldMk cId="3194089459" sldId="597"/>
            <ac:spMk id="13" creationId="{DE5AE83D-EEAD-7C11-A39F-8E204972F084}"/>
          </ac:spMkLst>
        </pc:spChg>
        <pc:spChg chg="del">
          <ac:chgData name="김준석(전자전기공학과)" userId="c4c08a24-37a7-4c61-b031-141f34ff0bb5" providerId="ADAL" clId="{5A5D7159-5D4B-4930-8D24-CDAEE40F4512}" dt="2025-12-13T05:25:23.079" v="6231" actId="478"/>
          <ac:spMkLst>
            <pc:docMk/>
            <pc:sldMk cId="3194089459" sldId="597"/>
            <ac:spMk id="15" creationId="{73292DC2-240B-3269-A5ED-FB7D6909B936}"/>
          </ac:spMkLst>
        </pc:spChg>
        <pc:spChg chg="del">
          <ac:chgData name="김준석(전자전기공학과)" userId="c4c08a24-37a7-4c61-b031-141f34ff0bb5" providerId="ADAL" clId="{5A5D7159-5D4B-4930-8D24-CDAEE40F4512}" dt="2025-12-13T05:25:23.079" v="6231" actId="478"/>
          <ac:spMkLst>
            <pc:docMk/>
            <pc:sldMk cId="3194089459" sldId="597"/>
            <ac:spMk id="20" creationId="{B964F695-758B-DC43-F612-35F20002D8B7}"/>
          </ac:spMkLst>
        </pc:spChg>
        <pc:spChg chg="del">
          <ac:chgData name="김준석(전자전기공학과)" userId="c4c08a24-37a7-4c61-b031-141f34ff0bb5" providerId="ADAL" clId="{5A5D7159-5D4B-4930-8D24-CDAEE40F4512}" dt="2025-12-13T05:25:23.079" v="6231" actId="478"/>
          <ac:spMkLst>
            <pc:docMk/>
            <pc:sldMk cId="3194089459" sldId="597"/>
            <ac:spMk id="21" creationId="{CE553EB8-532B-B927-2AD5-3DE28D0876C2}"/>
          </ac:spMkLst>
        </pc:spChg>
        <pc:spChg chg="del">
          <ac:chgData name="김준석(전자전기공학과)" userId="c4c08a24-37a7-4c61-b031-141f34ff0bb5" providerId="ADAL" clId="{5A5D7159-5D4B-4930-8D24-CDAEE40F4512}" dt="2025-12-13T05:25:23.079" v="6231" actId="478"/>
          <ac:spMkLst>
            <pc:docMk/>
            <pc:sldMk cId="3194089459" sldId="597"/>
            <ac:spMk id="22" creationId="{1AF3FDF9-45BF-D368-CFA4-4165B05B05F9}"/>
          </ac:spMkLst>
        </pc:spChg>
        <pc:spChg chg="del">
          <ac:chgData name="김준석(전자전기공학과)" userId="c4c08a24-37a7-4c61-b031-141f34ff0bb5" providerId="ADAL" clId="{5A5D7159-5D4B-4930-8D24-CDAEE40F4512}" dt="2025-12-13T05:25:23.079" v="6231" actId="478"/>
          <ac:spMkLst>
            <pc:docMk/>
            <pc:sldMk cId="3194089459" sldId="597"/>
            <ac:spMk id="23" creationId="{9AA76A2E-2C5F-7D3E-78C7-63037E817967}"/>
          </ac:spMkLst>
        </pc:spChg>
        <pc:spChg chg="del">
          <ac:chgData name="김준석(전자전기공학과)" userId="c4c08a24-37a7-4c61-b031-141f34ff0bb5" providerId="ADAL" clId="{5A5D7159-5D4B-4930-8D24-CDAEE40F4512}" dt="2025-12-13T05:25:23.079" v="6231" actId="478"/>
          <ac:spMkLst>
            <pc:docMk/>
            <pc:sldMk cId="3194089459" sldId="597"/>
            <ac:spMk id="24" creationId="{2138BB78-9A6E-4A04-022C-E6F3A44F32DC}"/>
          </ac:spMkLst>
        </pc:spChg>
        <pc:spChg chg="del">
          <ac:chgData name="김준석(전자전기공학과)" userId="c4c08a24-37a7-4c61-b031-141f34ff0bb5" providerId="ADAL" clId="{5A5D7159-5D4B-4930-8D24-CDAEE40F4512}" dt="2025-12-13T05:25:23.079" v="6231" actId="478"/>
          <ac:spMkLst>
            <pc:docMk/>
            <pc:sldMk cId="3194089459" sldId="597"/>
            <ac:spMk id="25" creationId="{D4E78F0F-0D60-0EAF-6ED7-6EAEBA566B2B}"/>
          </ac:spMkLst>
        </pc:spChg>
        <pc:spChg chg="del">
          <ac:chgData name="김준석(전자전기공학과)" userId="c4c08a24-37a7-4c61-b031-141f34ff0bb5" providerId="ADAL" clId="{5A5D7159-5D4B-4930-8D24-CDAEE40F4512}" dt="2025-12-13T05:25:23.079" v="6231" actId="478"/>
          <ac:spMkLst>
            <pc:docMk/>
            <pc:sldMk cId="3194089459" sldId="597"/>
            <ac:spMk id="26" creationId="{676D695D-CCA1-E14B-6730-F0EBD8FB73AA}"/>
          </ac:spMkLst>
        </pc:spChg>
        <pc:spChg chg="del">
          <ac:chgData name="김준석(전자전기공학과)" userId="c4c08a24-37a7-4c61-b031-141f34ff0bb5" providerId="ADAL" clId="{5A5D7159-5D4B-4930-8D24-CDAEE40F4512}" dt="2025-12-13T05:25:23.079" v="6231" actId="478"/>
          <ac:spMkLst>
            <pc:docMk/>
            <pc:sldMk cId="3194089459" sldId="597"/>
            <ac:spMk id="36" creationId="{3448F683-CB4E-8282-708A-317D6E16881B}"/>
          </ac:spMkLst>
        </pc:spChg>
        <pc:picChg chg="add mod">
          <ac:chgData name="김준석(전자전기공학과)" userId="c4c08a24-37a7-4c61-b031-141f34ff0bb5" providerId="ADAL" clId="{5A5D7159-5D4B-4930-8D24-CDAEE40F4512}" dt="2025-12-13T05:41:18.769" v="6433" actId="1076"/>
          <ac:picMkLst>
            <pc:docMk/>
            <pc:sldMk cId="3194089459" sldId="597"/>
            <ac:picMk id="1026" creationId="{881F3189-6539-686C-FD01-C96A158E90B7}"/>
          </ac:picMkLst>
        </pc:picChg>
      </pc:sldChg>
      <pc:sldChg chg="add del">
        <pc:chgData name="김준석(전자전기공학과)" userId="c4c08a24-37a7-4c61-b031-141f34ff0bb5" providerId="ADAL" clId="{5A5D7159-5D4B-4930-8D24-CDAEE40F4512}" dt="2025-12-13T06:44:45.004" v="6730" actId="47"/>
        <pc:sldMkLst>
          <pc:docMk/>
          <pc:sldMk cId="555436995" sldId="598"/>
        </pc:sldMkLst>
      </pc:sldChg>
      <pc:sldChg chg="add">
        <pc:chgData name="김준석(전자전기공학과)" userId="c4c08a24-37a7-4c61-b031-141f34ff0bb5" providerId="ADAL" clId="{5A5D7159-5D4B-4930-8D24-CDAEE40F4512}" dt="2025-12-13T09:46:54.589" v="7059"/>
        <pc:sldMkLst>
          <pc:docMk/>
          <pc:sldMk cId="2961200358" sldId="598"/>
        </pc:sldMkLst>
      </pc:sldChg>
      <pc:sldChg chg="add del">
        <pc:chgData name="김준석(전자전기공학과)" userId="c4c08a24-37a7-4c61-b031-141f34ff0bb5" providerId="ADAL" clId="{5A5D7159-5D4B-4930-8D24-CDAEE40F4512}" dt="2025-12-13T09:46:51.826" v="7058" actId="2696"/>
        <pc:sldMkLst>
          <pc:docMk/>
          <pc:sldMk cId="3590167135" sldId="598"/>
        </pc:sldMkLst>
      </pc:sldChg>
      <pc:sldChg chg="addSp delSp modSp add mod">
        <pc:chgData name="김준석(전자전기공학과)" userId="c4c08a24-37a7-4c61-b031-141f34ff0bb5" providerId="ADAL" clId="{5A5D7159-5D4B-4930-8D24-CDAEE40F4512}" dt="2025-12-13T10:48:57.897" v="7860" actId="1076"/>
        <pc:sldMkLst>
          <pc:docMk/>
          <pc:sldMk cId="3598035352" sldId="599"/>
        </pc:sldMkLst>
        <pc:spChg chg="mod">
          <ac:chgData name="김준석(전자전기공학과)" userId="c4c08a24-37a7-4c61-b031-141f34ff0bb5" providerId="ADAL" clId="{5A5D7159-5D4B-4930-8D24-CDAEE40F4512}" dt="2025-12-13T10:48:44.446" v="7856" actId="113"/>
          <ac:spMkLst>
            <pc:docMk/>
            <pc:sldMk cId="3598035352" sldId="599"/>
            <ac:spMk id="4" creationId="{400DD4B7-5727-BC98-D8BD-B47E852C3287}"/>
          </ac:spMkLst>
        </pc:spChg>
        <pc:spChg chg="add mod">
          <ac:chgData name="김준석(전자전기공학과)" userId="c4c08a24-37a7-4c61-b031-141f34ff0bb5" providerId="ADAL" clId="{5A5D7159-5D4B-4930-8D24-CDAEE40F4512}" dt="2025-12-13T06:32:30.427" v="6670" actId="14100"/>
          <ac:spMkLst>
            <pc:docMk/>
            <pc:sldMk cId="3598035352" sldId="599"/>
            <ac:spMk id="5" creationId="{3D55CAC8-6561-1796-7E64-C2F7A51130EB}"/>
          </ac:spMkLst>
        </pc:spChg>
        <pc:spChg chg="del">
          <ac:chgData name="김준석(전자전기공학과)" userId="c4c08a24-37a7-4c61-b031-141f34ff0bb5" providerId="ADAL" clId="{5A5D7159-5D4B-4930-8D24-CDAEE40F4512}" dt="2025-12-13T06:29:40.894" v="6651" actId="478"/>
          <ac:spMkLst>
            <pc:docMk/>
            <pc:sldMk cId="3598035352" sldId="599"/>
            <ac:spMk id="6" creationId="{D11CCE35-46B3-B438-AF24-D214B460E076}"/>
          </ac:spMkLst>
        </pc:spChg>
        <pc:spChg chg="del">
          <ac:chgData name="김준석(전자전기공학과)" userId="c4c08a24-37a7-4c61-b031-141f34ff0bb5" providerId="ADAL" clId="{5A5D7159-5D4B-4930-8D24-CDAEE40F4512}" dt="2025-12-13T06:29:40.894" v="6651" actId="478"/>
          <ac:spMkLst>
            <pc:docMk/>
            <pc:sldMk cId="3598035352" sldId="599"/>
            <ac:spMk id="7" creationId="{6F381F44-9A0E-BE5B-B45E-4CB3BB823628}"/>
          </ac:spMkLst>
        </pc:spChg>
        <pc:spChg chg="del">
          <ac:chgData name="김준석(전자전기공학과)" userId="c4c08a24-37a7-4c61-b031-141f34ff0bb5" providerId="ADAL" clId="{5A5D7159-5D4B-4930-8D24-CDAEE40F4512}" dt="2025-12-13T06:29:40.894" v="6651" actId="478"/>
          <ac:spMkLst>
            <pc:docMk/>
            <pc:sldMk cId="3598035352" sldId="599"/>
            <ac:spMk id="8" creationId="{B0A7DD7C-CFF6-5CCA-F6D9-F12F7F91D8DD}"/>
          </ac:spMkLst>
        </pc:spChg>
        <pc:spChg chg="del">
          <ac:chgData name="김준석(전자전기공학과)" userId="c4c08a24-37a7-4c61-b031-141f34ff0bb5" providerId="ADAL" clId="{5A5D7159-5D4B-4930-8D24-CDAEE40F4512}" dt="2025-12-13T06:29:40.894" v="6651" actId="478"/>
          <ac:spMkLst>
            <pc:docMk/>
            <pc:sldMk cId="3598035352" sldId="599"/>
            <ac:spMk id="10" creationId="{EA538439-675D-7E07-6361-45782E1EBDC1}"/>
          </ac:spMkLst>
        </pc:spChg>
        <pc:spChg chg="del">
          <ac:chgData name="김준석(전자전기공학과)" userId="c4c08a24-37a7-4c61-b031-141f34ff0bb5" providerId="ADAL" clId="{5A5D7159-5D4B-4930-8D24-CDAEE40F4512}" dt="2025-12-13T06:29:40.894" v="6651" actId="478"/>
          <ac:spMkLst>
            <pc:docMk/>
            <pc:sldMk cId="3598035352" sldId="599"/>
            <ac:spMk id="11" creationId="{14689007-44BB-27B6-2258-63E51FD8F09C}"/>
          </ac:spMkLst>
        </pc:spChg>
        <pc:spChg chg="del">
          <ac:chgData name="김준석(전자전기공학과)" userId="c4c08a24-37a7-4c61-b031-141f34ff0bb5" providerId="ADAL" clId="{5A5D7159-5D4B-4930-8D24-CDAEE40F4512}" dt="2025-12-13T06:29:40.894" v="6651" actId="478"/>
          <ac:spMkLst>
            <pc:docMk/>
            <pc:sldMk cId="3598035352" sldId="599"/>
            <ac:spMk id="12" creationId="{3B9BB33B-6AC2-4BC1-31E1-39DBF443D473}"/>
          </ac:spMkLst>
        </pc:spChg>
        <pc:spChg chg="add mod">
          <ac:chgData name="김준석(전자전기공학과)" userId="c4c08a24-37a7-4c61-b031-141f34ff0bb5" providerId="ADAL" clId="{5A5D7159-5D4B-4930-8D24-CDAEE40F4512}" dt="2025-12-13T10:48:57.897" v="7860" actId="1076"/>
          <ac:spMkLst>
            <pc:docMk/>
            <pc:sldMk cId="3598035352" sldId="599"/>
            <ac:spMk id="13" creationId="{B30909DD-7D31-D884-5C31-0C8121D263F1}"/>
          </ac:spMkLst>
        </pc:spChg>
        <pc:spChg chg="add mod">
          <ac:chgData name="김준석(전자전기공학과)" userId="c4c08a24-37a7-4c61-b031-141f34ff0bb5" providerId="ADAL" clId="{5A5D7159-5D4B-4930-8D24-CDAEE40F4512}" dt="2025-12-13T10:48:49.807" v="7857" actId="1076"/>
          <ac:spMkLst>
            <pc:docMk/>
            <pc:sldMk cId="3598035352" sldId="599"/>
            <ac:spMk id="14" creationId="{B096C0FC-DBED-20B3-1F40-BD21DD24D59C}"/>
          </ac:spMkLst>
        </pc:spChg>
        <pc:spChg chg="add mod">
          <ac:chgData name="김준석(전자전기공학과)" userId="c4c08a24-37a7-4c61-b031-141f34ff0bb5" providerId="ADAL" clId="{5A5D7159-5D4B-4930-8D24-CDAEE40F4512}" dt="2025-12-13T10:48:52.890" v="7859" actId="1076"/>
          <ac:spMkLst>
            <pc:docMk/>
            <pc:sldMk cId="3598035352" sldId="599"/>
            <ac:spMk id="15" creationId="{C8D01DA1-EF41-8D16-719A-A9BC039F0457}"/>
          </ac:spMkLst>
        </pc:spChg>
        <pc:spChg chg="add mod">
          <ac:chgData name="김준석(전자전기공학과)" userId="c4c08a24-37a7-4c61-b031-141f34ff0bb5" providerId="ADAL" clId="{5A5D7159-5D4B-4930-8D24-CDAEE40F4512}" dt="2025-12-13T06:32:49.959" v="6681" actId="207"/>
          <ac:spMkLst>
            <pc:docMk/>
            <pc:sldMk cId="3598035352" sldId="599"/>
            <ac:spMk id="16" creationId="{65BD8004-2446-9E89-D7FA-DB80EA382D9F}"/>
          </ac:spMkLst>
        </pc:spChg>
        <pc:spChg chg="add mod">
          <ac:chgData name="김준석(전자전기공학과)" userId="c4c08a24-37a7-4c61-b031-141f34ff0bb5" providerId="ADAL" clId="{5A5D7159-5D4B-4930-8D24-CDAEE40F4512}" dt="2025-12-13T06:33:02.140" v="6686" actId="207"/>
          <ac:spMkLst>
            <pc:docMk/>
            <pc:sldMk cId="3598035352" sldId="599"/>
            <ac:spMk id="17" creationId="{EC9C4079-5E09-2B09-F05D-1F517B7DD5C7}"/>
          </ac:spMkLst>
        </pc:spChg>
        <pc:spChg chg="add mod">
          <ac:chgData name="김준석(전자전기공학과)" userId="c4c08a24-37a7-4c61-b031-141f34ff0bb5" providerId="ADAL" clId="{5A5D7159-5D4B-4930-8D24-CDAEE40F4512}" dt="2025-12-13T10:48:51.272" v="7858" actId="1076"/>
          <ac:spMkLst>
            <pc:docMk/>
            <pc:sldMk cId="3598035352" sldId="599"/>
            <ac:spMk id="18" creationId="{A73E9B5C-FC5B-B675-E373-91638D358CD8}"/>
          </ac:spMkLst>
        </pc:spChg>
        <pc:spChg chg="add mod">
          <ac:chgData name="김준석(전자전기공학과)" userId="c4c08a24-37a7-4c61-b031-141f34ff0bb5" providerId="ADAL" clId="{5A5D7159-5D4B-4930-8D24-CDAEE40F4512}" dt="2025-12-13T06:36:52.510" v="6692" actId="14100"/>
          <ac:spMkLst>
            <pc:docMk/>
            <pc:sldMk cId="3598035352" sldId="599"/>
            <ac:spMk id="19" creationId="{0B9D7235-F88E-A19B-6DF6-D5573459CEC7}"/>
          </ac:spMkLst>
        </pc:spChg>
        <pc:spChg chg="add mod">
          <ac:chgData name="김준석(전자전기공학과)" userId="c4c08a24-37a7-4c61-b031-141f34ff0bb5" providerId="ADAL" clId="{5A5D7159-5D4B-4930-8D24-CDAEE40F4512}" dt="2025-12-13T06:37:46.958" v="6708" actId="1076"/>
          <ac:spMkLst>
            <pc:docMk/>
            <pc:sldMk cId="3598035352" sldId="599"/>
            <ac:spMk id="20" creationId="{348CE512-2795-6512-216B-10129DAF8EF2}"/>
          </ac:spMkLst>
        </pc:spChg>
        <pc:spChg chg="add mod">
          <ac:chgData name="김준석(전자전기공학과)" userId="c4c08a24-37a7-4c61-b031-141f34ff0bb5" providerId="ADAL" clId="{5A5D7159-5D4B-4930-8D24-CDAEE40F4512}" dt="2025-12-13T06:37:50.616" v="6710" actId="1076"/>
          <ac:spMkLst>
            <pc:docMk/>
            <pc:sldMk cId="3598035352" sldId="599"/>
            <ac:spMk id="21" creationId="{8B8E701D-B95C-682E-16A1-E9B1D015FF95}"/>
          </ac:spMkLst>
        </pc:spChg>
        <pc:spChg chg="add del mod">
          <ac:chgData name="김준석(전자전기공학과)" userId="c4c08a24-37a7-4c61-b031-141f34ff0bb5" providerId="ADAL" clId="{5A5D7159-5D4B-4930-8D24-CDAEE40F4512}" dt="2025-12-13T06:43:43.976" v="6725" actId="478"/>
          <ac:spMkLst>
            <pc:docMk/>
            <pc:sldMk cId="3598035352" sldId="599"/>
            <ac:spMk id="27" creationId="{9DE0A80D-D665-4AE2-93CE-77615AC0027F}"/>
          </ac:spMkLst>
        </pc:spChg>
        <pc:cxnChg chg="add mod">
          <ac:chgData name="김준석(전자전기공학과)" userId="c4c08a24-37a7-4c61-b031-141f34ff0bb5" providerId="ADAL" clId="{5A5D7159-5D4B-4930-8D24-CDAEE40F4512}" dt="2025-12-13T06:43:29.829" v="6721" actId="1076"/>
          <ac:cxnSpMkLst>
            <pc:docMk/>
            <pc:sldMk cId="3598035352" sldId="599"/>
            <ac:cxnSpMk id="23" creationId="{F28070DA-D1DC-8B64-6E04-81437D685317}"/>
          </ac:cxnSpMkLst>
        </pc:cxnChg>
        <pc:cxnChg chg="add mod">
          <ac:chgData name="김준석(전자전기공학과)" userId="c4c08a24-37a7-4c61-b031-141f34ff0bb5" providerId="ADAL" clId="{5A5D7159-5D4B-4930-8D24-CDAEE40F4512}" dt="2025-12-13T06:43:32.846" v="6723" actId="1076"/>
          <ac:cxnSpMkLst>
            <pc:docMk/>
            <pc:sldMk cId="3598035352" sldId="599"/>
            <ac:cxnSpMk id="26" creationId="{02D16AD8-7FE7-80D3-DFE3-5FCAFF77B33B}"/>
          </ac:cxnSpMkLst>
        </pc:cxnChg>
      </pc:sldChg>
      <pc:sldChg chg="add del">
        <pc:chgData name="김준석(전자전기공학과)" userId="c4c08a24-37a7-4c61-b031-141f34ff0bb5" providerId="ADAL" clId="{5A5D7159-5D4B-4930-8D24-CDAEE40F4512}" dt="2025-12-13T07:36:11.433" v="6955" actId="47"/>
        <pc:sldMkLst>
          <pc:docMk/>
          <pc:sldMk cId="112053115" sldId="600"/>
        </pc:sldMkLst>
      </pc:sldChg>
      <pc:sldChg chg="addSp delSp modSp add mod">
        <pc:chgData name="김준석(전자전기공학과)" userId="c4c08a24-37a7-4c61-b031-141f34ff0bb5" providerId="ADAL" clId="{5A5D7159-5D4B-4930-8D24-CDAEE40F4512}" dt="2025-12-13T10:48:04.898" v="7848" actId="113"/>
        <pc:sldMkLst>
          <pc:docMk/>
          <pc:sldMk cId="4222390979" sldId="601"/>
        </pc:sldMkLst>
        <pc:spChg chg="mod">
          <ac:chgData name="김준석(전자전기공학과)" userId="c4c08a24-37a7-4c61-b031-141f34ff0bb5" providerId="ADAL" clId="{5A5D7159-5D4B-4930-8D24-CDAEE40F4512}" dt="2025-12-13T10:48:04.898" v="7848" actId="113"/>
          <ac:spMkLst>
            <pc:docMk/>
            <pc:sldMk cId="4222390979" sldId="601"/>
            <ac:spMk id="4" creationId="{3AF64297-BE4E-7185-5428-7AF4B5A15C26}"/>
          </ac:spMkLst>
        </pc:spChg>
        <pc:spChg chg="del">
          <ac:chgData name="김준석(전자전기공학과)" userId="c4c08a24-37a7-4c61-b031-141f34ff0bb5" providerId="ADAL" clId="{5A5D7159-5D4B-4930-8D24-CDAEE40F4512}" dt="2025-12-13T07:02:41.245" v="6865" actId="478"/>
          <ac:spMkLst>
            <pc:docMk/>
            <pc:sldMk cId="4222390979" sldId="601"/>
            <ac:spMk id="5" creationId="{2E8D67D3-DB18-5505-B3CD-4C5552900D99}"/>
          </ac:spMkLst>
        </pc:spChg>
        <pc:spChg chg="del">
          <ac:chgData name="김준석(전자전기공학과)" userId="c4c08a24-37a7-4c61-b031-141f34ff0bb5" providerId="ADAL" clId="{5A5D7159-5D4B-4930-8D24-CDAEE40F4512}" dt="2025-12-13T07:02:42.563" v="6866" actId="478"/>
          <ac:spMkLst>
            <pc:docMk/>
            <pc:sldMk cId="4222390979" sldId="601"/>
            <ac:spMk id="6" creationId="{0EEC747E-1C87-15CC-1F7D-EDF45704D72A}"/>
          </ac:spMkLst>
        </pc:spChg>
        <pc:spChg chg="del">
          <ac:chgData name="김준석(전자전기공학과)" userId="c4c08a24-37a7-4c61-b031-141f34ff0bb5" providerId="ADAL" clId="{5A5D7159-5D4B-4930-8D24-CDAEE40F4512}" dt="2025-12-13T07:02:40.501" v="6864" actId="478"/>
          <ac:spMkLst>
            <pc:docMk/>
            <pc:sldMk cId="4222390979" sldId="601"/>
            <ac:spMk id="7" creationId="{44727639-BCF1-7EA7-3A0E-80C8B474B3B9}"/>
          </ac:spMkLst>
        </pc:spChg>
        <pc:spChg chg="del">
          <ac:chgData name="김준석(전자전기공학과)" userId="c4c08a24-37a7-4c61-b031-141f34ff0bb5" providerId="ADAL" clId="{5A5D7159-5D4B-4930-8D24-CDAEE40F4512}" dt="2025-12-13T07:02:43.419" v="6867" actId="478"/>
          <ac:spMkLst>
            <pc:docMk/>
            <pc:sldMk cId="4222390979" sldId="601"/>
            <ac:spMk id="8" creationId="{3FF39EFB-4E7B-AF59-4A06-362E2BB401F2}"/>
          </ac:spMkLst>
        </pc:spChg>
        <pc:spChg chg="del">
          <ac:chgData name="김준석(전자전기공학과)" userId="c4c08a24-37a7-4c61-b031-141f34ff0bb5" providerId="ADAL" clId="{5A5D7159-5D4B-4930-8D24-CDAEE40F4512}" dt="2025-12-13T07:03:04.865" v="6870" actId="478"/>
          <ac:spMkLst>
            <pc:docMk/>
            <pc:sldMk cId="4222390979" sldId="601"/>
            <ac:spMk id="14" creationId="{C01DCB2F-4247-7CB3-16B3-C0B87E3055F8}"/>
          </ac:spMkLst>
        </pc:spChg>
        <pc:spChg chg="del">
          <ac:chgData name="김준석(전자전기공학과)" userId="c4c08a24-37a7-4c61-b031-141f34ff0bb5" providerId="ADAL" clId="{5A5D7159-5D4B-4930-8D24-CDAEE40F4512}" dt="2025-12-13T07:03:04.865" v="6870" actId="478"/>
          <ac:spMkLst>
            <pc:docMk/>
            <pc:sldMk cId="4222390979" sldId="601"/>
            <ac:spMk id="15" creationId="{F2FB4D45-F0D4-890F-D9C4-680590CD204A}"/>
          </ac:spMkLst>
        </pc:spChg>
        <pc:spChg chg="del">
          <ac:chgData name="김준석(전자전기공학과)" userId="c4c08a24-37a7-4c61-b031-141f34ff0bb5" providerId="ADAL" clId="{5A5D7159-5D4B-4930-8D24-CDAEE40F4512}" dt="2025-12-13T07:03:04.865" v="6870" actId="478"/>
          <ac:spMkLst>
            <pc:docMk/>
            <pc:sldMk cId="4222390979" sldId="601"/>
            <ac:spMk id="16" creationId="{6D5D51AE-B535-1DDD-1153-D7DEA8321BD4}"/>
          </ac:spMkLst>
        </pc:spChg>
        <pc:spChg chg="del">
          <ac:chgData name="김준석(전자전기공학과)" userId="c4c08a24-37a7-4c61-b031-141f34ff0bb5" providerId="ADAL" clId="{5A5D7159-5D4B-4930-8D24-CDAEE40F4512}" dt="2025-12-13T07:03:04.865" v="6870" actId="478"/>
          <ac:spMkLst>
            <pc:docMk/>
            <pc:sldMk cId="4222390979" sldId="601"/>
            <ac:spMk id="17" creationId="{40AA0DDE-249B-53B9-50AF-3F32EEE51B69}"/>
          </ac:spMkLst>
        </pc:spChg>
        <pc:spChg chg="del">
          <ac:chgData name="김준석(전자전기공학과)" userId="c4c08a24-37a7-4c61-b031-141f34ff0bb5" providerId="ADAL" clId="{5A5D7159-5D4B-4930-8D24-CDAEE40F4512}" dt="2025-12-13T07:03:04.865" v="6870" actId="478"/>
          <ac:spMkLst>
            <pc:docMk/>
            <pc:sldMk cId="4222390979" sldId="601"/>
            <ac:spMk id="18" creationId="{CCE35210-7F91-E6C8-D9F9-6722487FFB97}"/>
          </ac:spMkLst>
        </pc:spChg>
        <pc:picChg chg="add del mod">
          <ac:chgData name="김준석(전자전기공학과)" userId="c4c08a24-37a7-4c61-b031-141f34ff0bb5" providerId="ADAL" clId="{5A5D7159-5D4B-4930-8D24-CDAEE40F4512}" dt="2025-12-13T07:32:43.330" v="6921" actId="478"/>
          <ac:picMkLst>
            <pc:docMk/>
            <pc:sldMk cId="4222390979" sldId="601"/>
            <ac:picMk id="11" creationId="{B157D977-6689-BB89-2BB4-61859B5A1FE8}"/>
          </ac:picMkLst>
        </pc:picChg>
        <pc:picChg chg="add mod">
          <ac:chgData name="김준석(전자전기공학과)" userId="c4c08a24-37a7-4c61-b031-141f34ff0bb5" providerId="ADAL" clId="{5A5D7159-5D4B-4930-8D24-CDAEE40F4512}" dt="2025-12-13T07:34:23.061" v="6951" actId="1076"/>
          <ac:picMkLst>
            <pc:docMk/>
            <pc:sldMk cId="4222390979" sldId="601"/>
            <ac:picMk id="12" creationId="{70E93550-B87A-E39D-63D8-AF147B9C5918}"/>
          </ac:picMkLst>
        </pc:picChg>
      </pc:sldChg>
      <pc:sldChg chg="add">
        <pc:chgData name="김준석(전자전기공학과)" userId="c4c08a24-37a7-4c61-b031-141f34ff0bb5" providerId="ADAL" clId="{5A5D7159-5D4B-4930-8D24-CDAEE40F4512}" dt="2025-12-13T09:45:06.394" v="7047"/>
        <pc:sldMkLst>
          <pc:docMk/>
          <pc:sldMk cId="392208287" sldId="602"/>
        </pc:sldMkLst>
      </pc:sldChg>
      <pc:sldChg chg="add">
        <pc:chgData name="김준석(전자전기공학과)" userId="c4c08a24-37a7-4c61-b031-141f34ff0bb5" providerId="ADAL" clId="{5A5D7159-5D4B-4930-8D24-CDAEE40F4512}" dt="2025-12-13T09:45:06.394" v="7047"/>
        <pc:sldMkLst>
          <pc:docMk/>
          <pc:sldMk cId="2515441423" sldId="603"/>
        </pc:sldMkLst>
      </pc:sldChg>
      <pc:sldChg chg="add">
        <pc:chgData name="김준석(전자전기공학과)" userId="c4c08a24-37a7-4c61-b031-141f34ff0bb5" providerId="ADAL" clId="{5A5D7159-5D4B-4930-8D24-CDAEE40F4512}" dt="2025-12-13T09:46:32.007" v="7054"/>
        <pc:sldMkLst>
          <pc:docMk/>
          <pc:sldMk cId="2202964888" sldId="604"/>
        </pc:sldMkLst>
      </pc:sldChg>
      <pc:sldChg chg="add del">
        <pc:chgData name="김준석(전자전기공학과)" userId="c4c08a24-37a7-4c61-b031-141f34ff0bb5" providerId="ADAL" clId="{5A5D7159-5D4B-4930-8D24-CDAEE40F4512}" dt="2025-12-13T09:46:28.741" v="7053" actId="2696"/>
        <pc:sldMkLst>
          <pc:docMk/>
          <pc:sldMk cId="2256357707" sldId="604"/>
        </pc:sldMkLst>
      </pc:sldChg>
      <pc:sldChg chg="add del">
        <pc:chgData name="김준석(전자전기공학과)" userId="c4c08a24-37a7-4c61-b031-141f34ff0bb5" providerId="ADAL" clId="{5A5D7159-5D4B-4930-8D24-CDAEE40F4512}" dt="2025-12-13T09:46:28.741" v="7053" actId="2696"/>
        <pc:sldMkLst>
          <pc:docMk/>
          <pc:sldMk cId="1953979084" sldId="605"/>
        </pc:sldMkLst>
      </pc:sldChg>
      <pc:sldChg chg="modSp add mod">
        <pc:chgData name="김준석(전자전기공학과)" userId="c4c08a24-37a7-4c61-b031-141f34ff0bb5" providerId="ADAL" clId="{5A5D7159-5D4B-4930-8D24-CDAEE40F4512}" dt="2025-12-13T10:47:49.289" v="7844" actId="113"/>
        <pc:sldMkLst>
          <pc:docMk/>
          <pc:sldMk cId="3192378372" sldId="605"/>
        </pc:sldMkLst>
        <pc:spChg chg="mod">
          <ac:chgData name="김준석(전자전기공학과)" userId="c4c08a24-37a7-4c61-b031-141f34ff0bb5" providerId="ADAL" clId="{5A5D7159-5D4B-4930-8D24-CDAEE40F4512}" dt="2025-12-13T10:47:49.289" v="7844" actId="113"/>
          <ac:spMkLst>
            <pc:docMk/>
            <pc:sldMk cId="3192378372" sldId="605"/>
            <ac:spMk id="14" creationId="{26BF7D4F-6153-A9AF-3CAA-89EB99F8F987}"/>
          </ac:spMkLst>
        </pc:spChg>
      </pc:sldChg>
      <pc:sldChg chg="add del">
        <pc:chgData name="김준석(전자전기공학과)" userId="c4c08a24-37a7-4c61-b031-141f34ff0bb5" providerId="ADAL" clId="{5A5D7159-5D4B-4930-8D24-CDAEE40F4512}" dt="2025-12-13T09:46:28.741" v="7053" actId="2696"/>
        <pc:sldMkLst>
          <pc:docMk/>
          <pc:sldMk cId="1312772185" sldId="606"/>
        </pc:sldMkLst>
      </pc:sldChg>
      <pc:sldChg chg="add">
        <pc:chgData name="김준석(전자전기공학과)" userId="c4c08a24-37a7-4c61-b031-141f34ff0bb5" providerId="ADAL" clId="{5A5D7159-5D4B-4930-8D24-CDAEE40F4512}" dt="2025-12-13T09:46:32.007" v="7054"/>
        <pc:sldMkLst>
          <pc:docMk/>
          <pc:sldMk cId="3420476001" sldId="606"/>
        </pc:sldMkLst>
      </pc:sldChg>
      <pc:sldChg chg="modSp add mod">
        <pc:chgData name="김준석(전자전기공학과)" userId="c4c08a24-37a7-4c61-b031-141f34ff0bb5" providerId="ADAL" clId="{5A5D7159-5D4B-4930-8D24-CDAEE40F4512}" dt="2025-12-13T10:50:49.526" v="7874" actId="2711"/>
        <pc:sldMkLst>
          <pc:docMk/>
          <pc:sldMk cId="690700271" sldId="607"/>
        </pc:sldMkLst>
        <pc:spChg chg="mod">
          <ac:chgData name="김준석(전자전기공학과)" userId="c4c08a24-37a7-4c61-b031-141f34ff0bb5" providerId="ADAL" clId="{5A5D7159-5D4B-4930-8D24-CDAEE40F4512}" dt="2025-12-13T10:50:49.526" v="7874" actId="2711"/>
          <ac:spMkLst>
            <pc:docMk/>
            <pc:sldMk cId="690700271" sldId="607"/>
            <ac:spMk id="8" creationId="{877EF219-33AD-28A4-2238-A59A8C02F50E}"/>
          </ac:spMkLst>
        </pc:spChg>
      </pc:sldChg>
      <pc:sldChg chg="add del">
        <pc:chgData name="김준석(전자전기공학과)" userId="c4c08a24-37a7-4c61-b031-141f34ff0bb5" providerId="ADAL" clId="{5A5D7159-5D4B-4930-8D24-CDAEE40F4512}" dt="2025-12-13T09:46:28.741" v="7053" actId="2696"/>
        <pc:sldMkLst>
          <pc:docMk/>
          <pc:sldMk cId="2363778921" sldId="607"/>
        </pc:sldMkLst>
      </pc:sldChg>
      <pc:sldChg chg="add del">
        <pc:chgData name="김준석(전자전기공학과)" userId="c4c08a24-37a7-4c61-b031-141f34ff0bb5" providerId="ADAL" clId="{5A5D7159-5D4B-4930-8D24-CDAEE40F4512}" dt="2025-12-13T09:46:28.741" v="7053" actId="2696"/>
        <pc:sldMkLst>
          <pc:docMk/>
          <pc:sldMk cId="3744872080" sldId="608"/>
        </pc:sldMkLst>
      </pc:sldChg>
      <pc:sldChg chg="add">
        <pc:chgData name="김준석(전자전기공학과)" userId="c4c08a24-37a7-4c61-b031-141f34ff0bb5" providerId="ADAL" clId="{5A5D7159-5D4B-4930-8D24-CDAEE40F4512}" dt="2025-12-13T09:46:32.007" v="7054"/>
        <pc:sldMkLst>
          <pc:docMk/>
          <pc:sldMk cId="4030905888" sldId="608"/>
        </pc:sldMkLst>
      </pc:sldChg>
      <pc:sldChg chg="add del">
        <pc:chgData name="김준석(전자전기공학과)" userId="c4c08a24-37a7-4c61-b031-141f34ff0bb5" providerId="ADAL" clId="{5A5D7159-5D4B-4930-8D24-CDAEE40F4512}" dt="2025-12-13T09:46:28.741" v="7053" actId="2696"/>
        <pc:sldMkLst>
          <pc:docMk/>
          <pc:sldMk cId="299335495" sldId="609"/>
        </pc:sldMkLst>
      </pc:sldChg>
      <pc:sldChg chg="add">
        <pc:chgData name="김준석(전자전기공학과)" userId="c4c08a24-37a7-4c61-b031-141f34ff0bb5" providerId="ADAL" clId="{5A5D7159-5D4B-4930-8D24-CDAEE40F4512}" dt="2025-12-13T09:46:32.007" v="7054"/>
        <pc:sldMkLst>
          <pc:docMk/>
          <pc:sldMk cId="1424736293" sldId="609"/>
        </pc:sldMkLst>
      </pc:sldChg>
      <pc:sldChg chg="add del">
        <pc:chgData name="김준석(전자전기공학과)" userId="c4c08a24-37a7-4c61-b031-141f34ff0bb5" providerId="ADAL" clId="{5A5D7159-5D4B-4930-8D24-CDAEE40F4512}" dt="2025-12-13T09:46:42.822" v="7056" actId="2696"/>
        <pc:sldMkLst>
          <pc:docMk/>
          <pc:sldMk cId="1292203191" sldId="610"/>
        </pc:sldMkLst>
      </pc:sldChg>
      <pc:sldChg chg="add">
        <pc:chgData name="김준석(전자전기공학과)" userId="c4c08a24-37a7-4c61-b031-141f34ff0bb5" providerId="ADAL" clId="{5A5D7159-5D4B-4930-8D24-CDAEE40F4512}" dt="2025-12-13T09:46:46.264" v="7057"/>
        <pc:sldMkLst>
          <pc:docMk/>
          <pc:sldMk cId="4060629621" sldId="610"/>
        </pc:sldMkLst>
      </pc:sldChg>
      <pc:sldChg chg="add del">
        <pc:chgData name="김준석(전자전기공학과)" userId="c4c08a24-37a7-4c61-b031-141f34ff0bb5" providerId="ADAL" clId="{5A5D7159-5D4B-4930-8D24-CDAEE40F4512}" dt="2025-12-13T09:46:42.822" v="7056" actId="2696"/>
        <pc:sldMkLst>
          <pc:docMk/>
          <pc:sldMk cId="708347809" sldId="611"/>
        </pc:sldMkLst>
      </pc:sldChg>
      <pc:sldChg chg="add">
        <pc:chgData name="김준석(전자전기공학과)" userId="c4c08a24-37a7-4c61-b031-141f34ff0bb5" providerId="ADAL" clId="{5A5D7159-5D4B-4930-8D24-CDAEE40F4512}" dt="2025-12-13T09:46:46.264" v="7057"/>
        <pc:sldMkLst>
          <pc:docMk/>
          <pc:sldMk cId="3246101956" sldId="611"/>
        </pc:sldMkLst>
      </pc:sldChg>
      <pc:sldChg chg="add del">
        <pc:chgData name="김준석(전자전기공학과)" userId="c4c08a24-37a7-4c61-b031-141f34ff0bb5" providerId="ADAL" clId="{5A5D7159-5D4B-4930-8D24-CDAEE40F4512}" dt="2025-12-13T09:46:42.822" v="7056" actId="2696"/>
        <pc:sldMkLst>
          <pc:docMk/>
          <pc:sldMk cId="333348091" sldId="612"/>
        </pc:sldMkLst>
      </pc:sldChg>
      <pc:sldChg chg="add">
        <pc:chgData name="김준석(전자전기공학과)" userId="c4c08a24-37a7-4c61-b031-141f34ff0bb5" providerId="ADAL" clId="{5A5D7159-5D4B-4930-8D24-CDAEE40F4512}" dt="2025-12-13T09:46:46.264" v="7057"/>
        <pc:sldMkLst>
          <pc:docMk/>
          <pc:sldMk cId="2894833212" sldId="612"/>
        </pc:sldMkLst>
      </pc:sldChg>
      <pc:sldChg chg="add del">
        <pc:chgData name="김준석(전자전기공학과)" userId="c4c08a24-37a7-4c61-b031-141f34ff0bb5" providerId="ADAL" clId="{5A5D7159-5D4B-4930-8D24-CDAEE40F4512}" dt="2025-12-13T09:46:42.822" v="7056" actId="2696"/>
        <pc:sldMkLst>
          <pc:docMk/>
          <pc:sldMk cId="2261805194" sldId="613"/>
        </pc:sldMkLst>
      </pc:sldChg>
      <pc:sldChg chg="add">
        <pc:chgData name="김준석(전자전기공학과)" userId="c4c08a24-37a7-4c61-b031-141f34ff0bb5" providerId="ADAL" clId="{5A5D7159-5D4B-4930-8D24-CDAEE40F4512}" dt="2025-12-13T09:46:46.264" v="7057"/>
        <pc:sldMkLst>
          <pc:docMk/>
          <pc:sldMk cId="3868492762" sldId="613"/>
        </pc:sldMkLst>
      </pc:sldChg>
      <pc:sldChg chg="add">
        <pc:chgData name="김준석(전자전기공학과)" userId="c4c08a24-37a7-4c61-b031-141f34ff0bb5" providerId="ADAL" clId="{5A5D7159-5D4B-4930-8D24-CDAEE40F4512}" dt="2025-12-13T09:46:46.264" v="7057"/>
        <pc:sldMkLst>
          <pc:docMk/>
          <pc:sldMk cId="590420296" sldId="614"/>
        </pc:sldMkLst>
      </pc:sldChg>
      <pc:sldChg chg="add del">
        <pc:chgData name="김준석(전자전기공학과)" userId="c4c08a24-37a7-4c61-b031-141f34ff0bb5" providerId="ADAL" clId="{5A5D7159-5D4B-4930-8D24-CDAEE40F4512}" dt="2025-12-13T09:46:42.822" v="7056" actId="2696"/>
        <pc:sldMkLst>
          <pc:docMk/>
          <pc:sldMk cId="4278949932" sldId="614"/>
        </pc:sldMkLst>
      </pc:sldChg>
      <pc:sldChg chg="add">
        <pc:chgData name="김준석(전자전기공학과)" userId="c4c08a24-37a7-4c61-b031-141f34ff0bb5" providerId="ADAL" clId="{5A5D7159-5D4B-4930-8D24-CDAEE40F4512}" dt="2025-12-13T09:46:46.264" v="7057"/>
        <pc:sldMkLst>
          <pc:docMk/>
          <pc:sldMk cId="3157171322" sldId="615"/>
        </pc:sldMkLst>
      </pc:sldChg>
      <pc:sldChg chg="add del">
        <pc:chgData name="김준석(전자전기공학과)" userId="c4c08a24-37a7-4c61-b031-141f34ff0bb5" providerId="ADAL" clId="{5A5D7159-5D4B-4930-8D24-CDAEE40F4512}" dt="2025-12-13T09:46:42.822" v="7056" actId="2696"/>
        <pc:sldMkLst>
          <pc:docMk/>
          <pc:sldMk cId="3754269847" sldId="615"/>
        </pc:sldMkLst>
      </pc:sldChg>
      <pc:sldChg chg="add del">
        <pc:chgData name="김준석(전자전기공학과)" userId="c4c08a24-37a7-4c61-b031-141f34ff0bb5" providerId="ADAL" clId="{5A5D7159-5D4B-4930-8D24-CDAEE40F4512}" dt="2025-12-13T09:46:51.826" v="7058" actId="2696"/>
        <pc:sldMkLst>
          <pc:docMk/>
          <pc:sldMk cId="483984694" sldId="616"/>
        </pc:sldMkLst>
      </pc:sldChg>
      <pc:sldChg chg="add">
        <pc:chgData name="김준석(전자전기공학과)" userId="c4c08a24-37a7-4c61-b031-141f34ff0bb5" providerId="ADAL" clId="{5A5D7159-5D4B-4930-8D24-CDAEE40F4512}" dt="2025-12-13T09:46:54.589" v="7059"/>
        <pc:sldMkLst>
          <pc:docMk/>
          <pc:sldMk cId="2722711765" sldId="616"/>
        </pc:sldMkLst>
      </pc:sldChg>
      <pc:sldChg chg="add del">
        <pc:chgData name="김준석(전자전기공학과)" userId="c4c08a24-37a7-4c61-b031-141f34ff0bb5" providerId="ADAL" clId="{5A5D7159-5D4B-4930-8D24-CDAEE40F4512}" dt="2025-12-13T09:46:51.826" v="7058" actId="2696"/>
        <pc:sldMkLst>
          <pc:docMk/>
          <pc:sldMk cId="208423097" sldId="617"/>
        </pc:sldMkLst>
      </pc:sldChg>
      <pc:sldChg chg="add">
        <pc:chgData name="김준석(전자전기공학과)" userId="c4c08a24-37a7-4c61-b031-141f34ff0bb5" providerId="ADAL" clId="{5A5D7159-5D4B-4930-8D24-CDAEE40F4512}" dt="2025-12-13T09:46:54.589" v="7059"/>
        <pc:sldMkLst>
          <pc:docMk/>
          <pc:sldMk cId="670227189" sldId="617"/>
        </pc:sldMkLst>
      </pc:sldChg>
      <pc:sldChg chg="add">
        <pc:chgData name="김준석(전자전기공학과)" userId="c4c08a24-37a7-4c61-b031-141f34ff0bb5" providerId="ADAL" clId="{5A5D7159-5D4B-4930-8D24-CDAEE40F4512}" dt="2025-12-13T09:46:54.589" v="7059"/>
        <pc:sldMkLst>
          <pc:docMk/>
          <pc:sldMk cId="3210929751" sldId="618"/>
        </pc:sldMkLst>
      </pc:sldChg>
      <pc:sldChg chg="add del">
        <pc:chgData name="김준석(전자전기공학과)" userId="c4c08a24-37a7-4c61-b031-141f34ff0bb5" providerId="ADAL" clId="{5A5D7159-5D4B-4930-8D24-CDAEE40F4512}" dt="2025-12-13T09:46:51.826" v="7058" actId="2696"/>
        <pc:sldMkLst>
          <pc:docMk/>
          <pc:sldMk cId="4031449991" sldId="618"/>
        </pc:sldMkLst>
      </pc:sldChg>
      <pc:sldChg chg="add">
        <pc:chgData name="김준석(전자전기공학과)" userId="c4c08a24-37a7-4c61-b031-141f34ff0bb5" providerId="ADAL" clId="{5A5D7159-5D4B-4930-8D24-CDAEE40F4512}" dt="2025-12-13T09:47:16.191" v="7065"/>
        <pc:sldMkLst>
          <pc:docMk/>
          <pc:sldMk cId="526680627" sldId="619"/>
        </pc:sldMkLst>
      </pc:sldChg>
      <pc:sldChg chg="add del">
        <pc:chgData name="김준석(전자전기공학과)" userId="c4c08a24-37a7-4c61-b031-141f34ff0bb5" providerId="ADAL" clId="{5A5D7159-5D4B-4930-8D24-CDAEE40F4512}" dt="2025-12-13T09:47:12.634" v="7064" actId="2696"/>
        <pc:sldMkLst>
          <pc:docMk/>
          <pc:sldMk cId="1483962497" sldId="61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2773F00D-47CA-734C-A7AE-D8E414C535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61B4B57-712C-0049-9A52-964E67ED38C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F320CB-FCAE-8946-8F82-997F2725E60D}" type="datetimeFigureOut">
              <a:rPr kumimoji="1" lang="ko-Kore-KR" altLang="en-US" smtClean="0"/>
              <a:t>12/13/2025</a:t>
            </a:fld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B26695A-D9A3-BC49-B560-FF7A39D5467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24C982A-541F-CF49-8F24-CEDB76F7C52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03E6A6-4C43-4648-A82F-2EB40F8BE93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0292087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2AF94D-12DF-4905-B520-A2AB51A124F3}" type="datetimeFigureOut">
              <a:rPr lang="ko-KR" altLang="en-US" smtClean="0"/>
              <a:t>2025-12-13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8D64D0-3142-4BB6-B63D-E0F3719DA9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9295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DC86C2-9417-D242-957F-07D0C93E50A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1608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CECAB-E3D5-A04D-7307-1BFBE68A1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177CAF-E447-781B-29FA-2966C78A60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8B4E26-7AFE-E170-C59C-98152E4D30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732D59-0901-1413-D1BF-81DA31624C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DC86C2-9417-D242-957F-07D0C93E50A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2312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6A5E2-029E-95F7-AD26-87CD3C148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6A0D933-A5EB-231C-D759-0B6AC8F1BC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FE5F557-A7DC-2584-D2C1-F73DA3F190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A464C6-4C09-7909-C1E8-074308A0C7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8D64D0-3142-4BB6-B63D-E0F3719DA9D1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51122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45AE5-DE21-2584-26BD-856498D9C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5540BA-D02C-4D74-EE85-B5AD98F219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383894-5725-285F-8259-A57588A96F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244FAB-5D7F-0EB3-D477-2FCF225EFF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DC86C2-9417-D242-957F-07D0C93E50A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4359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FFFAE-1DF5-ED01-2790-18387959D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9A36AF6-4B49-C7A3-67E6-EC8DDCB8BE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1D68091-3CAB-3CE7-2263-DD50F05156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Fine-tuned model is regularized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78EA27-F4F3-CEF4-626C-43D066AEE5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8D64D0-3142-4BB6-B63D-E0F3719DA9D1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35813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86335-8924-E5AD-21D4-647C6221B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74C1531-A812-D115-EE27-54B0B13834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38D620E-FF88-ED92-3CB6-037FA9E222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Fine-tuned model is regularized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F12732-22CA-5E7A-2AB2-15A822169B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8D64D0-3142-4BB6-B63D-E0F3719DA9D1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74651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B31D1-5993-7C30-3421-CA007188C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E6B796-FE93-8069-6CE8-9864857E91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937A0E-9740-44FB-9FD4-FD66E5CA07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BF986A-8B16-5E78-F151-518A6BBF80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DC86C2-9417-D242-957F-07D0C93E50A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5295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A7FB1-2335-AE5F-EF5B-604572EDC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4781524-C88D-4220-70EC-0350613131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2572ABD-08FC-CE1F-4749-1C709C1F0D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Fine-tuned model is regularized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81E671-F1F2-7A2F-49B1-0B3691E44E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8D64D0-3142-4BB6-B63D-E0F3719DA9D1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81722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219C5-A808-0E90-E9E8-F77133F8B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7BCC67F-32BD-B0FF-BB79-AC556DAB9A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BD4B3E2-1E93-4C0E-08A2-ECAD0359C3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B4C1D1-D5C8-C95A-C155-1FF1883321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8D64D0-3142-4BB6-B63D-E0F3719DA9D1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23278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85464-0A68-3903-E081-21645A13E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9A71C8D-8F5C-B34F-07DA-24DE9BFD2C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7FCA321-DCAF-80B7-4DDF-220047F127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A4474C-74F3-9B0C-C286-8A2B748C66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8D64D0-3142-4BB6-B63D-E0F3719DA9D1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29324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A3A97-8E9E-022E-144F-4A55607AA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E42466F-DACA-14CE-D773-BC5416BDBD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BB3C885-CB80-C87C-5735-82C5FE241D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85D314-AD53-4CF0-7158-3648B6E489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8D64D0-3142-4BB6-B63D-E0F3719DA9D1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83520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4EE1A-93BD-3B0A-2155-09EB47124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44763DB-8812-7A43-046E-4EBAC3A927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7AD535A-7656-5A99-5821-9CB0815EEC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BBCFD5-0FB0-7408-4AEF-775B353D4F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8D64D0-3142-4BB6-B63D-E0F3719DA9D1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66965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3CC37-1246-896A-2607-DDD118625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5D01877-5CFB-115F-01AB-1F4AB98B5A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41AF68-947B-2DC8-D48C-CBFD9E0F7D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EECF36-20F2-7771-F10D-9511D05611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8D64D0-3142-4BB6-B63D-E0F3719DA9D1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23443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2008F-8A38-9EB4-1115-F9F9B3C04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5A9326B-D79E-C402-7ABB-63C0DB35AC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789A9B-85FE-24A6-E97C-908C9CE9C2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10DB77-BA18-02BB-8516-F160B90A7B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8D64D0-3142-4BB6-B63D-E0F3719DA9D1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84246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9E307-838C-66AA-D612-F8346B610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6DA431A-A224-BAAE-B514-817F049B10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33F0FB2-ED7F-B294-3F12-D92BB4C4D9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2C0733-35C8-55D4-2767-0F643E36FB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8D64D0-3142-4BB6-B63D-E0F3719DA9D1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90113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18E9C-C04C-1C94-C73A-06A28AAEF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993C69E-62A7-C823-2FD0-8B20F660FB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844FC45-3BE5-E092-6EB7-D6F67A72E9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A2AAE7-B3EE-A367-7D9A-7F748A02BF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8D64D0-3142-4BB6-B63D-E0F3719DA9D1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49159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0742F-C22C-2694-2CD5-1ABFF33B1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9FB1104-71DB-5D0F-54BF-A14E5553EC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B4396EA-91B2-B904-2EDF-FEAB175F6C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FEEF9F-8186-13C3-76EC-89B4AC14B9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8D64D0-3142-4BB6-B63D-E0F3719DA9D1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95436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54601-AAEF-52FA-CD59-4351C6AED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487D01A-8513-9C2D-E431-44943B8CCC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42320FB-FB73-5BE1-5708-A7E29ECB2D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DCCBAA-3013-9714-C4B7-4CBC5013BF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8D64D0-3142-4BB6-B63D-E0F3719DA9D1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48794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B61C8-ACA6-2118-324F-A3576AF12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0089880-741E-2C0B-D4B1-AC439D64EC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86BCF15-23DA-B8E2-D747-132A941C2E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BA46B6-1EE4-DE8D-BC0E-AB431ADC09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8D64D0-3142-4BB6-B63D-E0F3719DA9D1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307892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D3066-5869-795A-6B30-4E90D4F64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B232D3F-FF6B-15B6-A29B-6E6CEFE7E3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6356CE1-8171-A65F-6B7D-926ECF69AF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085D4E-9F20-EB65-819D-C5FFDCEAE0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8D64D0-3142-4BB6-B63D-E0F3719DA9D1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5548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AA651-1C42-15ED-0A79-1FD5339E5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AB175C7-9C66-0AB9-9906-C91EADE7E4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1F1BBD7-76DE-071B-945C-4062014CC2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EA63A6-3320-DC50-E6A1-AA5E450806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8D64D0-3142-4BB6-B63D-E0F3719DA9D1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968679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22FDF-219E-D653-EFB3-9B6F2A706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367D27-D86F-0124-11DD-09C3F24F2C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43FFBF-6BEA-55DC-34BB-31A41AEBF4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7F4690-3287-8772-E8D2-097395A9DF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8D64D0-3142-4BB6-B63D-E0F3719DA9D1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522886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421B1-A287-B523-44CE-D15FFC3FF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9A5D407-09EF-8BFB-77C7-16DDDFC116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E5A8EFE-F640-AF6A-AD78-9542658D43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354846-69C2-3D7C-FC71-A38E5F9A2F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8D64D0-3142-4BB6-B63D-E0F3719DA9D1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431687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6C544-2E35-0675-57B4-F9CF21718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04E0A0-7087-C9F7-5512-CDCFD92D8E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A33249-C239-6FA9-6830-B0E162E50B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E93565-B53F-0BBD-E611-F8B008B896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DC86C2-9417-D242-957F-07D0C93E50AF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2278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0FBFE-238F-03FA-3ACB-DE09C11E5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0FBA935-45EC-4ED7-E7D5-940D92D690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DD77ECE-39A8-112C-0F74-357E215A24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지금까지 저희는 </a:t>
            </a:r>
            <a:r>
              <a:rPr lang="en-US" altLang="ko-KR" dirty="0"/>
              <a:t>pretrained weight </a:t>
            </a:r>
            <a:r>
              <a:rPr lang="ko-KR" altLang="en-US" dirty="0"/>
              <a:t>주변으로 강한 </a:t>
            </a:r>
            <a:r>
              <a:rPr lang="en-US" altLang="ko-KR" dirty="0"/>
              <a:t>L2 regularization</a:t>
            </a:r>
            <a:r>
              <a:rPr lang="ko-KR" altLang="en-US" dirty="0"/>
              <a:t>을 걸어주게 되면 </a:t>
            </a:r>
            <a:r>
              <a:rPr lang="en-US" altLang="ko-KR" dirty="0"/>
              <a:t>fine-tuning</a:t>
            </a:r>
            <a:r>
              <a:rPr lang="ko-KR" altLang="en-US" dirty="0"/>
              <a:t>이 </a:t>
            </a:r>
            <a:r>
              <a:rPr lang="en-US" altLang="ko-KR" dirty="0"/>
              <a:t>first-order </a:t>
            </a:r>
            <a:r>
              <a:rPr lang="en-US" altLang="ko-KR" dirty="0" err="1"/>
              <a:t>taylor</a:t>
            </a:r>
            <a:r>
              <a:rPr lang="en-US" altLang="ko-KR" dirty="0"/>
              <a:t> expansion</a:t>
            </a:r>
            <a:r>
              <a:rPr lang="ko-KR" altLang="en-US" dirty="0" err="1"/>
              <a:t>으로</a:t>
            </a:r>
            <a:r>
              <a:rPr lang="ko-KR" altLang="en-US" dirty="0"/>
              <a:t> 잘 </a:t>
            </a:r>
            <a:r>
              <a:rPr lang="en-US" altLang="ko-KR" dirty="0"/>
              <a:t>approximation</a:t>
            </a:r>
            <a:r>
              <a:rPr lang="ko-KR" altLang="en-US" dirty="0"/>
              <a:t>이 될 수 있음을 보였습니다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그래서 결국 이는 </a:t>
            </a:r>
            <a:r>
              <a:rPr lang="en-US" altLang="ko-KR" dirty="0"/>
              <a:t>linearized model</a:t>
            </a:r>
            <a:r>
              <a:rPr lang="ko-KR" altLang="en-US" dirty="0"/>
              <a:t>을 훈련하는 것과 같습니다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모델이 </a:t>
            </a:r>
            <a:r>
              <a:rPr lang="en-US" altLang="ko-KR" dirty="0"/>
              <a:t>gradient feature</a:t>
            </a:r>
            <a:r>
              <a:rPr lang="ko-KR" altLang="en-US" dirty="0" err="1"/>
              <a:t>에</a:t>
            </a:r>
            <a:r>
              <a:rPr lang="ko-KR" altLang="en-US" dirty="0"/>
              <a:t> 대해서 </a:t>
            </a:r>
            <a:r>
              <a:rPr lang="en-US" altLang="ko-KR" dirty="0"/>
              <a:t>linear</a:t>
            </a:r>
            <a:r>
              <a:rPr lang="ko-KR" altLang="en-US" dirty="0"/>
              <a:t>하게 되면</a:t>
            </a:r>
            <a:r>
              <a:rPr lang="en-US" altLang="ko-KR" dirty="0"/>
              <a:t>, </a:t>
            </a:r>
            <a:r>
              <a:rPr lang="ko-KR" altLang="en-US" dirty="0"/>
              <a:t>우리는 이를 </a:t>
            </a:r>
            <a:r>
              <a:rPr lang="en-US" altLang="ko-KR" dirty="0"/>
              <a:t>NTK</a:t>
            </a:r>
            <a:r>
              <a:rPr lang="ko-KR" altLang="en-US" dirty="0"/>
              <a:t>의 관점으로 바라볼 수 있게 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뒤에서 다시 설명하겠지만</a:t>
            </a:r>
            <a:r>
              <a:rPr lang="en-US" altLang="ko-KR" dirty="0"/>
              <a:t>, Neural Tangent Kernel</a:t>
            </a:r>
            <a:r>
              <a:rPr lang="ko-KR" altLang="en-US" dirty="0"/>
              <a:t>은 이 </a:t>
            </a:r>
            <a:r>
              <a:rPr lang="en-US" altLang="ko-KR" dirty="0"/>
              <a:t>feature</a:t>
            </a:r>
            <a:r>
              <a:rPr lang="ko-KR" altLang="en-US" dirty="0"/>
              <a:t>들의 </a:t>
            </a:r>
            <a:r>
              <a:rPr lang="en-US" altLang="ko-KR" dirty="0"/>
              <a:t>inner product</a:t>
            </a:r>
            <a:r>
              <a:rPr lang="ko-KR" altLang="en-US" dirty="0"/>
              <a:t>로 정의되고</a:t>
            </a:r>
            <a:r>
              <a:rPr lang="en-US" altLang="ko-KR" dirty="0"/>
              <a:t>, fine-tuning </a:t>
            </a:r>
            <a:r>
              <a:rPr lang="ko-KR" altLang="en-US" dirty="0"/>
              <a:t>문제는</a:t>
            </a:r>
            <a:r>
              <a:rPr lang="en-US" altLang="ko-KR" dirty="0"/>
              <a:t> </a:t>
            </a:r>
            <a:r>
              <a:rPr lang="ko-KR" altLang="en-US" dirty="0"/>
              <a:t>정확히 </a:t>
            </a:r>
            <a:r>
              <a:rPr lang="en-US" altLang="ko-KR" dirty="0"/>
              <a:t>kernel ridge regression </a:t>
            </a:r>
            <a:r>
              <a:rPr lang="ko-KR" altLang="en-US" dirty="0"/>
              <a:t>문제가 되고</a:t>
            </a:r>
            <a:r>
              <a:rPr lang="en-US" altLang="ko-KR" dirty="0"/>
              <a:t>, </a:t>
            </a:r>
            <a:r>
              <a:rPr lang="ko-KR" altLang="en-US" dirty="0"/>
              <a:t>곧 다음과 같은 </a:t>
            </a:r>
            <a:r>
              <a:rPr lang="en-US" altLang="ko-KR" dirty="0"/>
              <a:t>objective</a:t>
            </a:r>
            <a:r>
              <a:rPr lang="ko-KR" altLang="en-US" dirty="0" err="1"/>
              <a:t>를</a:t>
            </a:r>
            <a:r>
              <a:rPr lang="ko-KR" altLang="en-US" dirty="0"/>
              <a:t> 푸는 것으로 바뀔 수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어떻게 왼쪽의 </a:t>
            </a:r>
            <a:r>
              <a:rPr lang="en-US" altLang="ko-KR" dirty="0"/>
              <a:t>objective</a:t>
            </a:r>
            <a:r>
              <a:rPr lang="ko-KR" altLang="en-US" dirty="0"/>
              <a:t>가 오른쪽과 같이 바뀔 수 있는 지 다음 슬라이드에서부터 설명하겠습니다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4EFDCC-5C91-8245-11C4-E7C8DC3983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8D64D0-3142-4BB6-B63D-E0F3719DA9D1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649568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83B4A-A477-690D-4640-5D3AFBDE5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425142C-7228-CEB5-69A7-D68CF5A293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651F010-EF94-4BAA-9504-9DC71AA49A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이제 원래 문제로부터 시작해서 왜 앞에서 보았던 </a:t>
            </a:r>
            <a:r>
              <a:rPr lang="en-US" altLang="ko-KR" dirty="0"/>
              <a:t>kernel ridge regression </a:t>
            </a:r>
            <a:r>
              <a:rPr lang="ko-KR" altLang="en-US" dirty="0"/>
              <a:t>문제로 바꿀 수 있는 지 보이겠습니다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우선 이전에 저희가 정의했던 </a:t>
            </a:r>
            <a:r>
              <a:rPr lang="en-US" altLang="ko-KR" dirty="0"/>
              <a:t>problem</a:t>
            </a:r>
            <a:r>
              <a:rPr lang="ko-KR" altLang="en-US" dirty="0"/>
              <a:t>은 다음과 같습니다</a:t>
            </a:r>
            <a:r>
              <a:rPr lang="en-US" altLang="ko-KR" dirty="0"/>
              <a:t>. MSE loss</a:t>
            </a:r>
            <a:r>
              <a:rPr lang="ko-KR" altLang="en-US" dirty="0"/>
              <a:t>에서 </a:t>
            </a:r>
            <a:r>
              <a:rPr lang="en-US" altLang="ko-KR" dirty="0"/>
              <a:t>L2 </a:t>
            </a:r>
            <a:r>
              <a:rPr lang="en-US" altLang="ko-KR" dirty="0" err="1"/>
              <a:t>regularizer</a:t>
            </a:r>
            <a:r>
              <a:rPr lang="ko-KR" altLang="en-US" dirty="0" err="1"/>
              <a:t>를</a:t>
            </a:r>
            <a:r>
              <a:rPr lang="ko-KR" altLang="en-US" dirty="0"/>
              <a:t> </a:t>
            </a:r>
            <a:r>
              <a:rPr lang="en-US" altLang="ko-KR" dirty="0"/>
              <a:t>initial point</a:t>
            </a:r>
            <a:r>
              <a:rPr lang="ko-KR" altLang="en-US" dirty="0" err="1"/>
              <a:t>에</a:t>
            </a:r>
            <a:r>
              <a:rPr lang="ko-KR" altLang="en-US" dirty="0"/>
              <a:t> 걸어준 형태입니다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 형태가</a:t>
            </a:r>
            <a:r>
              <a:rPr lang="en-US" altLang="ko-KR" dirty="0"/>
              <a:t> linearized regime</a:t>
            </a:r>
            <a:r>
              <a:rPr lang="ko-KR" altLang="en-US" dirty="0" err="1"/>
              <a:t>에</a:t>
            </a:r>
            <a:r>
              <a:rPr lang="ko-KR" altLang="en-US" dirty="0"/>
              <a:t> 있을 수 있음을 이미 보였기 때문에</a:t>
            </a:r>
            <a:r>
              <a:rPr lang="en-US" altLang="ko-KR" dirty="0"/>
              <a:t>, </a:t>
            </a:r>
            <a:r>
              <a:rPr lang="ko-KR" altLang="en-US" dirty="0"/>
              <a:t>다음과 같이 </a:t>
            </a:r>
            <a:r>
              <a:rPr lang="en-US" altLang="ko-KR" dirty="0"/>
              <a:t>first-order </a:t>
            </a:r>
            <a:r>
              <a:rPr lang="en-US" altLang="ko-KR" dirty="0" err="1"/>
              <a:t>taylor</a:t>
            </a:r>
            <a:r>
              <a:rPr lang="en-US" altLang="ko-KR" dirty="0"/>
              <a:t> expansion</a:t>
            </a:r>
            <a:r>
              <a:rPr lang="ko-KR" altLang="en-US" dirty="0"/>
              <a:t>을 사용하여 모델을 </a:t>
            </a:r>
            <a:r>
              <a:rPr lang="en-US" altLang="ko-KR" dirty="0"/>
              <a:t>\theta_0 </a:t>
            </a:r>
            <a:r>
              <a:rPr lang="ko-KR" altLang="en-US" dirty="0"/>
              <a:t>근처에서 </a:t>
            </a:r>
            <a:r>
              <a:rPr lang="en-US" altLang="ko-KR" dirty="0"/>
              <a:t>approximate</a:t>
            </a:r>
            <a:r>
              <a:rPr lang="ko-KR" altLang="en-US" dirty="0"/>
              <a:t>할 수 있습니다</a:t>
            </a:r>
            <a:r>
              <a:rPr lang="en-US" altLang="ko-KR" dirty="0"/>
              <a:t>. </a:t>
            </a:r>
            <a:r>
              <a:rPr lang="ko-KR" altLang="en-US" dirty="0"/>
              <a:t>이제 </a:t>
            </a:r>
            <a:r>
              <a:rPr lang="en-US" altLang="ko-KR" dirty="0"/>
              <a:t>feature vector phi (x)</a:t>
            </a:r>
            <a:r>
              <a:rPr lang="ko-KR" altLang="en-US" dirty="0" err="1"/>
              <a:t>를</a:t>
            </a:r>
            <a:r>
              <a:rPr lang="ko-KR" altLang="en-US" dirty="0"/>
              <a:t> </a:t>
            </a:r>
            <a:r>
              <a:rPr lang="en-US" altLang="ko-KR" dirty="0"/>
              <a:t>gradient</a:t>
            </a:r>
            <a:r>
              <a:rPr lang="ko-KR" altLang="en-US" dirty="0"/>
              <a:t>로 정의하고</a:t>
            </a:r>
            <a:r>
              <a:rPr lang="en-US" altLang="ko-KR" dirty="0"/>
              <a:t>, w</a:t>
            </a:r>
            <a:r>
              <a:rPr lang="ko-KR" altLang="en-US" dirty="0" err="1"/>
              <a:t>를</a:t>
            </a:r>
            <a:r>
              <a:rPr lang="ko-KR" altLang="en-US" dirty="0"/>
              <a:t> </a:t>
            </a:r>
            <a:r>
              <a:rPr lang="en-US" altLang="ko-KR" dirty="0"/>
              <a:t>\theta – initial point</a:t>
            </a:r>
            <a:r>
              <a:rPr lang="ko-KR" altLang="en-US" dirty="0"/>
              <a:t>로 하겠습니다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그럼 우리는 다음과 같이 식을 다시 쓸 수 있고</a:t>
            </a:r>
            <a:r>
              <a:rPr lang="en-US" altLang="ko-KR" dirty="0"/>
              <a:t>, </a:t>
            </a:r>
            <a:r>
              <a:rPr lang="ko-KR" altLang="en-US" dirty="0"/>
              <a:t>이를 그대로 원래 문제에 넣어주게 되면 다음과 같은 형태를 얻을 수가 있습니다</a:t>
            </a:r>
            <a:r>
              <a:rPr lang="en-US" altLang="ko-KR" dirty="0"/>
              <a:t>. </a:t>
            </a:r>
            <a:r>
              <a:rPr lang="ko-KR" altLang="en-US" dirty="0"/>
              <a:t>이때 </a:t>
            </a:r>
            <a:r>
              <a:rPr lang="en-US" altLang="ko-KR" dirty="0"/>
              <a:t>y hat</a:t>
            </a:r>
            <a:r>
              <a:rPr lang="ko-KR" altLang="en-US" dirty="0"/>
              <a:t>은 </a:t>
            </a:r>
            <a:r>
              <a:rPr lang="en-US" altLang="ko-KR" dirty="0" err="1"/>
              <a:t>y_i</a:t>
            </a:r>
            <a:r>
              <a:rPr lang="en-US" altLang="ko-KR" dirty="0"/>
              <a:t> – f_\theta_0(</a:t>
            </a:r>
            <a:r>
              <a:rPr lang="en-US" altLang="ko-KR" dirty="0" err="1"/>
              <a:t>x_i</a:t>
            </a:r>
            <a:r>
              <a:rPr lang="en-US" altLang="ko-KR" dirty="0"/>
              <a:t>)</a:t>
            </a:r>
            <a:r>
              <a:rPr lang="ko-KR" altLang="en-US" dirty="0"/>
              <a:t>로 정의할 수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이제 이 문제는 </a:t>
            </a:r>
            <a:r>
              <a:rPr lang="en-US" altLang="ko-KR" dirty="0"/>
              <a:t>feature vector phi</a:t>
            </a:r>
            <a:r>
              <a:rPr lang="ko-KR" altLang="en-US" dirty="0" err="1"/>
              <a:t>에</a:t>
            </a:r>
            <a:r>
              <a:rPr lang="ko-KR" altLang="en-US" dirty="0"/>
              <a:t> 대한 </a:t>
            </a:r>
            <a:r>
              <a:rPr lang="en-US" altLang="ko-KR" dirty="0"/>
              <a:t>ridge regression problem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854BC5-149A-97DA-1726-DBFA3EC809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8D64D0-3142-4BB6-B63D-E0F3719DA9D1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925515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ore-KR" altLang="en-US" dirty="0"/>
              <a:t>이 슬라이드에서는 우리가 만든 </a:t>
            </a:r>
            <a:r>
              <a:rPr kumimoji="1" lang="en-US" altLang="ko-Kore-KR" dirty="0"/>
              <a:t>ridge regression problem</a:t>
            </a:r>
            <a:r>
              <a:rPr kumimoji="1" lang="ko-Kore-KR" altLang="en-US" dirty="0"/>
              <a:t>에 대해서 좀 더 자세히 살펴볼 예정입니다</a:t>
            </a:r>
            <a:r>
              <a:rPr kumimoji="1" lang="en-US" altLang="ko-KR" dirty="0"/>
              <a:t>. </a:t>
            </a:r>
          </a:p>
          <a:p>
            <a:r>
              <a:rPr kumimoji="1" lang="ko-KR" altLang="en-US" dirty="0"/>
              <a:t>이 슬라이드에서 주장하는 것은 </a:t>
            </a:r>
            <a:r>
              <a:rPr kumimoji="1" lang="en-US" altLang="ko-KR" dirty="0"/>
              <a:t>ridge regression problem</a:t>
            </a:r>
            <a:r>
              <a:rPr kumimoji="1" lang="ko-KR" altLang="en-US" dirty="0" err="1"/>
              <a:t>으로</a:t>
            </a:r>
            <a:r>
              <a:rPr kumimoji="1" lang="ko-KR" altLang="en-US" dirty="0"/>
              <a:t> 구해진 최적의 파라미터 </a:t>
            </a:r>
            <a:r>
              <a:rPr kumimoji="1" lang="en-US" altLang="ko-KR" dirty="0"/>
              <a:t>w*</a:t>
            </a:r>
            <a:r>
              <a:rPr kumimoji="1" lang="ko-KR" altLang="en-US" dirty="0"/>
              <a:t>가 </a:t>
            </a:r>
            <a:r>
              <a:rPr kumimoji="1" lang="en-US" altLang="ko-KR" dirty="0"/>
              <a:t>feature vector</a:t>
            </a:r>
            <a:r>
              <a:rPr kumimoji="1" lang="ko-KR" altLang="en-US" dirty="0"/>
              <a:t>의 </a:t>
            </a:r>
            <a:r>
              <a:rPr kumimoji="1" lang="en-US" altLang="ko-KR" dirty="0"/>
              <a:t>linear combination</a:t>
            </a:r>
            <a:r>
              <a:rPr kumimoji="1" lang="ko-KR" altLang="en-US" dirty="0" err="1"/>
              <a:t>으로</a:t>
            </a:r>
            <a:r>
              <a:rPr kumimoji="1" lang="ko-KR" altLang="en-US" dirty="0"/>
              <a:t> 나타내질 수 있다는 점입니다</a:t>
            </a:r>
            <a:r>
              <a:rPr kumimoji="1" lang="en-US" altLang="ko-KR" dirty="0"/>
              <a:t>.</a:t>
            </a:r>
          </a:p>
          <a:p>
            <a:endParaRPr kumimoji="1" lang="en-US" altLang="ko-Kore-KR" dirty="0"/>
          </a:p>
          <a:p>
            <a:r>
              <a:rPr kumimoji="1" lang="ko-Kore-KR" altLang="en-US" dirty="0"/>
              <a:t>간단하게 이를 보일 수가 있는데</a:t>
            </a:r>
            <a:r>
              <a:rPr kumimoji="1" lang="en-US" altLang="ko-Kore-KR" dirty="0"/>
              <a:t>, </a:t>
            </a:r>
            <a:r>
              <a:rPr kumimoji="1" lang="ko-Kore-KR" altLang="en-US" dirty="0"/>
              <a:t>우선 첫번째로 </a:t>
            </a:r>
            <a:r>
              <a:rPr kumimoji="1" lang="en-US" altLang="ko-Kore-KR" dirty="0"/>
              <a:t>parameter vector w</a:t>
            </a:r>
            <a:r>
              <a:rPr kumimoji="1" lang="ko-Kore-KR" altLang="en-US" dirty="0"/>
              <a:t>를 </a:t>
            </a:r>
            <a:r>
              <a:rPr kumimoji="1" lang="en-US" altLang="ko-Kore-KR" dirty="0"/>
              <a:t>feature vector</a:t>
            </a:r>
            <a:r>
              <a:rPr kumimoji="1" lang="ko-Kore-KR" altLang="en-US" dirty="0"/>
              <a:t>가 </a:t>
            </a:r>
            <a:r>
              <a:rPr kumimoji="1" lang="en-US" altLang="ko-Kore-KR" dirty="0"/>
              <a:t>span</a:t>
            </a:r>
            <a:r>
              <a:rPr kumimoji="1" lang="ko-Kore-KR" altLang="en-US" dirty="0"/>
              <a:t>하는 </a:t>
            </a:r>
            <a:r>
              <a:rPr kumimoji="1" lang="en-US" altLang="ko-Kore-KR" dirty="0"/>
              <a:t>space </a:t>
            </a:r>
            <a:r>
              <a:rPr kumimoji="1" lang="ko-Kore-KR" altLang="en-US" dirty="0"/>
              <a:t>위에 있는 것과</a:t>
            </a:r>
            <a:r>
              <a:rPr kumimoji="1" lang="en-US" altLang="ko-Kore-KR" dirty="0"/>
              <a:t>, </a:t>
            </a:r>
            <a:r>
              <a:rPr kumimoji="1" lang="ko-Kore-KR" altLang="en-US" dirty="0"/>
              <a:t>그것에 </a:t>
            </a:r>
            <a:r>
              <a:rPr kumimoji="1" lang="en-US" altLang="ko-Kore-KR" dirty="0"/>
              <a:t>orthogonal</a:t>
            </a:r>
            <a:r>
              <a:rPr kumimoji="1" lang="ko-Kore-KR" altLang="en-US" dirty="0"/>
              <a:t>한 </a:t>
            </a:r>
            <a:r>
              <a:rPr kumimoji="1" lang="en-US" altLang="ko-Kore-KR" dirty="0"/>
              <a:t>part</a:t>
            </a:r>
            <a:r>
              <a:rPr kumimoji="1" lang="ko-Kore-KR" altLang="en-US" dirty="0"/>
              <a:t>로 나눌 수가 있습니다</a:t>
            </a:r>
            <a:r>
              <a:rPr kumimoji="1" lang="en-US" altLang="ko-Kore-KR" dirty="0"/>
              <a:t>.</a:t>
            </a:r>
          </a:p>
          <a:p>
            <a:endParaRPr kumimoji="1" lang="en-US" altLang="ko-Kore-KR" dirty="0"/>
          </a:p>
          <a:p>
            <a:r>
              <a:rPr kumimoji="1" lang="ko-Kore-KR" altLang="en-US" dirty="0"/>
              <a:t>그렇게 나눠보면</a:t>
            </a:r>
            <a:r>
              <a:rPr kumimoji="1" lang="en-US" altLang="ko-Kore-KR" dirty="0"/>
              <a:t>, </a:t>
            </a:r>
            <a:r>
              <a:rPr kumimoji="1" lang="en-US" altLang="ko-Kore-KR" dirty="0" err="1"/>
              <a:t>regularizer</a:t>
            </a:r>
            <a:r>
              <a:rPr kumimoji="1" lang="ko-Kore-KR" altLang="en-US" dirty="0"/>
              <a:t> 외의 파트에서는 그 </a:t>
            </a:r>
            <a:r>
              <a:rPr kumimoji="1" lang="en-US" altLang="ko-Kore-KR" dirty="0"/>
              <a:t>orthogonal part</a:t>
            </a:r>
            <a:r>
              <a:rPr kumimoji="1" lang="ko-Kore-KR" altLang="en-US" dirty="0"/>
              <a:t>가 </a:t>
            </a:r>
            <a:r>
              <a:rPr kumimoji="1" lang="en-US" altLang="ko-Kore-KR" dirty="0"/>
              <a:t>0</a:t>
            </a:r>
            <a:r>
              <a:rPr kumimoji="1" lang="ko-Kore-KR" altLang="en-US" dirty="0"/>
              <a:t>으로 사라지기 때문에 영향을 끼치지 못한다는 것을 알 수가 있습니다</a:t>
            </a:r>
            <a:r>
              <a:rPr kumimoji="1" lang="en-US" altLang="ko-Kore-KR" dirty="0"/>
              <a:t>. </a:t>
            </a:r>
            <a:r>
              <a:rPr kumimoji="1" lang="ko-Kore-KR" altLang="en-US" dirty="0"/>
              <a:t>그래서 </a:t>
            </a:r>
            <a:r>
              <a:rPr kumimoji="1" lang="en-US" altLang="ko-Kore-KR" dirty="0"/>
              <a:t>training data</a:t>
            </a:r>
            <a:r>
              <a:rPr kumimoji="1" lang="ko-Kore-KR" altLang="en-US" dirty="0"/>
              <a:t>의 </a:t>
            </a:r>
            <a:r>
              <a:rPr kumimoji="1" lang="en-US" altLang="ko-Kore-KR" dirty="0"/>
              <a:t>model prediction</a:t>
            </a:r>
            <a:r>
              <a:rPr kumimoji="1" lang="ko-Kore-KR" altLang="en-US" dirty="0"/>
              <a:t>에 어떠한 영향도 주지 못함을 알 수 있습니다</a:t>
            </a:r>
            <a:r>
              <a:rPr kumimoji="1" lang="en-US" altLang="ko-Kore-KR" dirty="0"/>
              <a:t>.</a:t>
            </a:r>
          </a:p>
          <a:p>
            <a:endParaRPr kumimoji="1" lang="en-US" altLang="ko-Kore-KR" dirty="0"/>
          </a:p>
          <a:p>
            <a:r>
              <a:rPr kumimoji="1" lang="ko-Kore-KR" altLang="en-US" dirty="0"/>
              <a:t>그 다음으로 </a:t>
            </a:r>
            <a:r>
              <a:rPr kumimoji="1" lang="en-US" altLang="ko-Kore-KR" dirty="0" err="1"/>
              <a:t>regularizer</a:t>
            </a:r>
            <a:r>
              <a:rPr kumimoji="1" lang="en-US" altLang="ko-Kore-KR" dirty="0"/>
              <a:t> part</a:t>
            </a:r>
            <a:r>
              <a:rPr kumimoji="1" lang="ko-Kore-KR" altLang="en-US" dirty="0"/>
              <a:t>를 보게 되면 </a:t>
            </a:r>
            <a:r>
              <a:rPr kumimoji="1" lang="en-US" altLang="ko-Kore-KR" dirty="0"/>
              <a:t>orthogonal part</a:t>
            </a:r>
            <a:r>
              <a:rPr kumimoji="1" lang="ko-Kore-KR" altLang="en-US" dirty="0"/>
              <a:t>가 </a:t>
            </a:r>
            <a:r>
              <a:rPr kumimoji="1" lang="en-US" altLang="ko-Kore-KR" dirty="0"/>
              <a:t>0</a:t>
            </a:r>
            <a:r>
              <a:rPr kumimoji="1" lang="ko-Kore-KR" altLang="en-US" dirty="0"/>
              <a:t>이 되어야 함을 알 수 있습니다</a:t>
            </a:r>
            <a:r>
              <a:rPr kumimoji="1" lang="en-US" altLang="ko-Kore-KR" dirty="0"/>
              <a:t>. </a:t>
            </a:r>
            <a:r>
              <a:rPr kumimoji="1" lang="ko-Kore-KR" altLang="en-US" dirty="0"/>
              <a:t>그렇지 않은 경우에는 </a:t>
            </a:r>
            <a:r>
              <a:rPr kumimoji="1" lang="en-US" altLang="ko-Kore-KR" dirty="0"/>
              <a:t>optimal </a:t>
            </a:r>
            <a:r>
              <a:rPr kumimoji="1" lang="ko-Kore-KR" altLang="en-US" dirty="0"/>
              <a:t>하지 않기 때문이죠</a:t>
            </a:r>
            <a:r>
              <a:rPr kumimoji="1" lang="en-US" altLang="ko-Kore-KR" dirty="0"/>
              <a:t>.</a:t>
            </a:r>
          </a:p>
          <a:p>
            <a:endParaRPr kumimoji="1" lang="en-US" altLang="ko-Kore-KR" dirty="0"/>
          </a:p>
          <a:p>
            <a:r>
              <a:rPr kumimoji="1" lang="ko-Kore-KR" altLang="en-US" dirty="0"/>
              <a:t>결론적으로</a:t>
            </a:r>
            <a:r>
              <a:rPr kumimoji="1" lang="en-US" altLang="ko-Kore-KR" dirty="0"/>
              <a:t>, optimal parameter w*</a:t>
            </a:r>
            <a:r>
              <a:rPr kumimoji="1" lang="ko-Kore-KR" altLang="en-US" dirty="0"/>
              <a:t>는 </a:t>
            </a:r>
            <a:r>
              <a:rPr kumimoji="1" lang="en-US" altLang="ko-Kore-KR" dirty="0"/>
              <a:t>feature vector</a:t>
            </a:r>
            <a:r>
              <a:rPr kumimoji="1" lang="ko-Kore-KR" altLang="en-US" dirty="0"/>
              <a:t>에 의해서 </a:t>
            </a:r>
            <a:r>
              <a:rPr kumimoji="1" lang="en-US" altLang="ko-Kore-KR" dirty="0"/>
              <a:t>span</a:t>
            </a:r>
            <a:r>
              <a:rPr kumimoji="1" lang="ko-Kore-KR" altLang="en-US" dirty="0"/>
              <a:t>되는 </a:t>
            </a:r>
            <a:r>
              <a:rPr kumimoji="1" lang="en-US" altLang="ko-Kore-KR" dirty="0"/>
              <a:t>space </a:t>
            </a:r>
            <a:r>
              <a:rPr kumimoji="1" lang="ko-Kore-KR" altLang="en-US" dirty="0"/>
              <a:t>위에 놓여있게 됩니다</a:t>
            </a:r>
            <a:r>
              <a:rPr kumimoji="1" lang="en-US" altLang="ko-Kore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8D64D0-3142-4BB6-B63D-E0F3719DA9D1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813784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21017-159A-4841-0DE7-E4769B2B1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A0EB8D2-8F0E-BDDC-1B42-E5D3B42366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36EAC9D-373F-A29B-B7EF-91993CACBF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이제 </a:t>
            </a:r>
            <a:r>
              <a:rPr lang="en-US" altLang="ko-KR" dirty="0"/>
              <a:t>optimal parameter</a:t>
            </a:r>
            <a:r>
              <a:rPr lang="ko-KR" altLang="en-US" dirty="0"/>
              <a:t>가 어떤 형태인지 알고 있기 때문에</a:t>
            </a:r>
            <a:r>
              <a:rPr lang="en-US" altLang="ko-KR" dirty="0"/>
              <a:t>, optimal </a:t>
            </a:r>
            <a:r>
              <a:rPr lang="ko-KR" altLang="en-US" dirty="0"/>
              <a:t>함수 또한 어떤 형태로 이루어졌는지 알 수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이전에 함수가 위와 같이 </a:t>
            </a:r>
            <a:r>
              <a:rPr lang="en-US" altLang="ko-KR" dirty="0"/>
              <a:t>feature vector</a:t>
            </a:r>
            <a:r>
              <a:rPr lang="ko-KR" altLang="en-US" dirty="0"/>
              <a:t>과 </a:t>
            </a:r>
            <a:r>
              <a:rPr lang="en-US" altLang="ko-KR" dirty="0"/>
              <a:t>parameter w</a:t>
            </a:r>
            <a:r>
              <a:rPr lang="ko-KR" altLang="en-US" dirty="0"/>
              <a:t>의 내적으로 이루어짐을 보였기 때문이죠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그래서 이를 그대로 작성해보면 다음과 같이 </a:t>
            </a:r>
            <a:r>
              <a:rPr lang="en-US" altLang="ko-KR" dirty="0"/>
              <a:t>feature</a:t>
            </a:r>
            <a:r>
              <a:rPr lang="ko-KR" altLang="en-US" dirty="0"/>
              <a:t>들의 내적</a:t>
            </a:r>
            <a:r>
              <a:rPr lang="en-US" altLang="ko-KR" dirty="0"/>
              <a:t>, </a:t>
            </a:r>
            <a:r>
              <a:rPr lang="ko-KR" altLang="en-US" dirty="0"/>
              <a:t>즉 </a:t>
            </a:r>
            <a:r>
              <a:rPr lang="en-US" altLang="ko-KR" dirty="0"/>
              <a:t>kernel</a:t>
            </a:r>
            <a:r>
              <a:rPr lang="ko-KR" altLang="en-US" dirty="0"/>
              <a:t>의 </a:t>
            </a:r>
            <a:r>
              <a:rPr lang="en-US" altLang="ko-KR" dirty="0"/>
              <a:t>linear combination</a:t>
            </a:r>
            <a:r>
              <a:rPr lang="ko-KR" altLang="en-US" dirty="0" err="1"/>
              <a:t>으로</a:t>
            </a:r>
            <a:r>
              <a:rPr lang="ko-KR" altLang="en-US" dirty="0"/>
              <a:t> 나타낼 수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여기서 이 </a:t>
            </a:r>
            <a:r>
              <a:rPr lang="en-US" altLang="ko-KR" dirty="0"/>
              <a:t>form</a:t>
            </a:r>
            <a:r>
              <a:rPr lang="ko-KR" altLang="en-US" dirty="0"/>
              <a:t>을 </a:t>
            </a:r>
            <a:r>
              <a:rPr lang="en-US" altLang="ko-KR" dirty="0"/>
              <a:t>matrix</a:t>
            </a:r>
            <a:r>
              <a:rPr lang="ko-KR" altLang="en-US" dirty="0"/>
              <a:t>로 나타내고</a:t>
            </a:r>
            <a:r>
              <a:rPr lang="en-US" altLang="ko-KR" dirty="0"/>
              <a:t>, K</a:t>
            </a:r>
            <a:r>
              <a:rPr lang="ko-KR" altLang="en-US" dirty="0" err="1"/>
              <a:t>를</a:t>
            </a:r>
            <a:r>
              <a:rPr lang="ko-KR" altLang="en-US" dirty="0"/>
              <a:t> </a:t>
            </a:r>
            <a:r>
              <a:rPr lang="en-US" altLang="ko-KR" dirty="0"/>
              <a:t>gram matrix</a:t>
            </a:r>
            <a:r>
              <a:rPr lang="ko-KR" altLang="en-US" dirty="0" err="1"/>
              <a:t>라고</a:t>
            </a:r>
            <a:r>
              <a:rPr lang="ko-KR" altLang="en-US" dirty="0"/>
              <a:t> 부르겠습니다</a:t>
            </a:r>
            <a:r>
              <a:rPr lang="en-US" altLang="ko-KR" dirty="0"/>
              <a:t>. </a:t>
            </a:r>
            <a:r>
              <a:rPr lang="ko-KR" altLang="en-US" dirty="0"/>
              <a:t>이전에 </a:t>
            </a:r>
            <a:r>
              <a:rPr lang="en-US" altLang="ko-KR" dirty="0"/>
              <a:t>original form</a:t>
            </a:r>
            <a:r>
              <a:rPr lang="ko-KR" altLang="en-US" dirty="0"/>
              <a:t>을 위의 형태로 교체하면 우리가 </a:t>
            </a:r>
            <a:r>
              <a:rPr lang="en-US" altLang="ko-KR" dirty="0"/>
              <a:t>optimize</a:t>
            </a:r>
            <a:r>
              <a:rPr lang="ko-KR" altLang="en-US" dirty="0"/>
              <a:t>할 수 있는 것은 </a:t>
            </a:r>
            <a:r>
              <a:rPr lang="en-US" altLang="ko-KR" dirty="0"/>
              <a:t>alpha</a:t>
            </a:r>
            <a:r>
              <a:rPr lang="ko-KR" altLang="en-US" dirty="0"/>
              <a:t>가 되고</a:t>
            </a:r>
            <a:r>
              <a:rPr lang="en-US" altLang="ko-KR" dirty="0"/>
              <a:t>, </a:t>
            </a:r>
            <a:r>
              <a:rPr lang="ko-KR" altLang="en-US" dirty="0" err="1"/>
              <a:t>아까전에</a:t>
            </a:r>
            <a:r>
              <a:rPr lang="ko-KR" altLang="en-US" dirty="0"/>
              <a:t> 보았던 </a:t>
            </a:r>
            <a:r>
              <a:rPr lang="en-US" altLang="ko-KR" dirty="0"/>
              <a:t>form</a:t>
            </a:r>
            <a:r>
              <a:rPr lang="ko-KR" altLang="en-US" dirty="0"/>
              <a:t>을 그대로 가질 수 있게 됩니다</a:t>
            </a:r>
            <a:r>
              <a:rPr lang="en-US" altLang="ko-KR" dirty="0"/>
              <a:t>. 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B6EE77-590D-645C-F82B-9B816F43F8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8D64D0-3142-4BB6-B63D-E0F3719DA9D1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093053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A5023-843C-4C43-21AA-BD7B05CB2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4EF0FA0-C915-33EA-F6FF-A7C412E538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F3C41EF-7BBC-4715-4581-BEA00DCDF2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이제 앞에서 만든 새로운 </a:t>
            </a:r>
            <a:r>
              <a:rPr lang="en-US" altLang="ko-KR" dirty="0"/>
              <a:t>objective</a:t>
            </a:r>
            <a:r>
              <a:rPr lang="ko-KR" altLang="en-US" dirty="0" err="1"/>
              <a:t>를</a:t>
            </a:r>
            <a:r>
              <a:rPr lang="ko-KR" altLang="en-US" dirty="0"/>
              <a:t> </a:t>
            </a:r>
            <a:r>
              <a:rPr lang="ko-KR" altLang="en-US" dirty="0" err="1"/>
              <a:t>풀어야합니다</a:t>
            </a:r>
            <a:r>
              <a:rPr lang="en-US" altLang="ko-KR" dirty="0"/>
              <a:t>. </a:t>
            </a:r>
            <a:r>
              <a:rPr lang="ko-KR" altLang="en-US" dirty="0"/>
              <a:t>근데 이 형태는 우리가 </a:t>
            </a:r>
            <a:r>
              <a:rPr lang="en-US" altLang="ko-KR" dirty="0"/>
              <a:t>analytic</a:t>
            </a:r>
            <a:r>
              <a:rPr lang="ko-KR" altLang="en-US" dirty="0"/>
              <a:t>하게 풀 수 있는 형태입니다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 식 자체를 미분해서 </a:t>
            </a:r>
            <a:r>
              <a:rPr lang="en-US" altLang="ko-KR" dirty="0"/>
              <a:t>0</a:t>
            </a:r>
            <a:r>
              <a:rPr lang="ko-KR" altLang="en-US" dirty="0"/>
              <a:t>이 되는</a:t>
            </a:r>
            <a:r>
              <a:rPr lang="en-US" altLang="ko-KR" dirty="0"/>
              <a:t> \alpha</a:t>
            </a:r>
            <a:r>
              <a:rPr lang="ko-KR" altLang="en-US" dirty="0" err="1"/>
              <a:t>를</a:t>
            </a:r>
            <a:r>
              <a:rPr lang="ko-KR" altLang="en-US" dirty="0"/>
              <a:t> </a:t>
            </a:r>
            <a:r>
              <a:rPr lang="ko-KR" altLang="en-US" dirty="0" err="1"/>
              <a:t>찾음녀</a:t>
            </a:r>
            <a:r>
              <a:rPr lang="ko-KR" altLang="en-US" dirty="0"/>
              <a:t> 다음과 같은 형태를 우리가 가질 수 있게 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앞서 </a:t>
            </a:r>
            <a:r>
              <a:rPr lang="en-US" altLang="ko-KR" dirty="0"/>
              <a:t>optimal </a:t>
            </a:r>
            <a:r>
              <a:rPr lang="ko-KR" altLang="en-US" dirty="0"/>
              <a:t>함수의 형태를 우리가 구했던 바가 있으므로</a:t>
            </a:r>
            <a:r>
              <a:rPr lang="en-US" altLang="ko-KR" dirty="0"/>
              <a:t>, optimal alpha</a:t>
            </a:r>
            <a:r>
              <a:rPr lang="ko-KR" altLang="en-US" dirty="0" err="1"/>
              <a:t>를</a:t>
            </a:r>
            <a:r>
              <a:rPr lang="ko-KR" altLang="en-US" dirty="0"/>
              <a:t> 넣어주게 되면 다음과 같은 형태를 구할 수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이로써 만약 </a:t>
            </a:r>
            <a:r>
              <a:rPr lang="en-US" altLang="ko-KR" dirty="0"/>
              <a:t>regularized fine-tuning </a:t>
            </a:r>
            <a:r>
              <a:rPr lang="ko-KR" altLang="en-US" dirty="0"/>
              <a:t>상에서 모델이 </a:t>
            </a:r>
            <a:r>
              <a:rPr lang="en-US" altLang="ko-KR" dirty="0"/>
              <a:t>linear</a:t>
            </a:r>
            <a:r>
              <a:rPr lang="ko-KR" altLang="en-US" dirty="0"/>
              <a:t>이므로</a:t>
            </a:r>
            <a:r>
              <a:rPr lang="en-US" altLang="ko-KR" dirty="0"/>
              <a:t>, </a:t>
            </a:r>
            <a:r>
              <a:rPr lang="ko-KR" altLang="en-US" dirty="0"/>
              <a:t>우리가 </a:t>
            </a:r>
            <a:r>
              <a:rPr lang="en-US" altLang="ko-KR" dirty="0"/>
              <a:t>optimal </a:t>
            </a:r>
            <a:r>
              <a:rPr lang="ko-KR" altLang="en-US" dirty="0"/>
              <a:t>함수를</a:t>
            </a:r>
            <a:r>
              <a:rPr lang="en-US" altLang="ko-KR" dirty="0"/>
              <a:t> SGD </a:t>
            </a:r>
            <a:r>
              <a:rPr lang="ko-KR" altLang="en-US" dirty="0"/>
              <a:t>스타일의 </a:t>
            </a:r>
            <a:r>
              <a:rPr lang="en-US" altLang="ko-KR" dirty="0"/>
              <a:t>optimization process </a:t>
            </a:r>
            <a:r>
              <a:rPr lang="ko-KR" altLang="en-US" dirty="0"/>
              <a:t>없이도 얻을 수 있게 됩니다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0A334E-72AC-943D-EE2D-AAB2CA5BC7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8D64D0-3142-4BB6-B63D-E0F3719DA9D1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567444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4DCBB-5B46-C8BB-39C6-0E9A53D6E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E43AA0C-DFAF-B11E-E5F2-C409477AC0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663F3B-5990-8D4C-E15A-0E71A4DE45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이번 슬라이드 </a:t>
            </a:r>
            <a:r>
              <a:rPr lang="ko-KR" altLang="en-US" dirty="0" err="1"/>
              <a:t>부터는는</a:t>
            </a:r>
            <a:r>
              <a:rPr lang="ko-KR" altLang="en-US" dirty="0"/>
              <a:t> 저자들이 </a:t>
            </a:r>
            <a:r>
              <a:rPr lang="en-US" altLang="ko-KR" dirty="0"/>
              <a:t>linearization</a:t>
            </a:r>
            <a:r>
              <a:rPr lang="ko-KR" altLang="en-US" dirty="0"/>
              <a:t>을 </a:t>
            </a:r>
            <a:r>
              <a:rPr lang="en-US" altLang="ko-KR" dirty="0"/>
              <a:t>NTK</a:t>
            </a:r>
            <a:r>
              <a:rPr lang="ko-KR" altLang="en-US" dirty="0"/>
              <a:t>로 나타낼 수 있다는 사실을 어떻게 </a:t>
            </a:r>
            <a:r>
              <a:rPr lang="ko-KR" altLang="en-US" dirty="0" err="1"/>
              <a:t>활용했는</a:t>
            </a:r>
            <a:r>
              <a:rPr lang="ko-KR" altLang="en-US" dirty="0"/>
              <a:t> 지를 살펴보겠습니다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여기서는 </a:t>
            </a:r>
            <a:r>
              <a:rPr lang="en-US" altLang="ko-KR" dirty="0"/>
              <a:t>NTK</a:t>
            </a:r>
            <a:r>
              <a:rPr lang="ko-KR" altLang="en-US" dirty="0"/>
              <a:t>에서 사용되는 </a:t>
            </a:r>
            <a:r>
              <a:rPr lang="en-US" altLang="ko-KR" dirty="0"/>
              <a:t>gram matrix K</a:t>
            </a:r>
            <a:r>
              <a:rPr lang="ko-KR" altLang="en-US" dirty="0" err="1"/>
              <a:t>를</a:t>
            </a:r>
            <a:r>
              <a:rPr lang="ko-KR" altLang="en-US" dirty="0"/>
              <a:t> 통해 어떻게 </a:t>
            </a:r>
            <a:r>
              <a:rPr lang="en-US" altLang="ko-KR" dirty="0"/>
              <a:t>empirical risk</a:t>
            </a:r>
            <a:r>
              <a:rPr lang="ko-KR" altLang="en-US" dirty="0" err="1"/>
              <a:t>를</a:t>
            </a:r>
            <a:r>
              <a:rPr lang="ko-KR" altLang="en-US" dirty="0"/>
              <a:t> </a:t>
            </a:r>
            <a:r>
              <a:rPr lang="en-US" altLang="ko-KR" dirty="0"/>
              <a:t>bound</a:t>
            </a:r>
            <a:r>
              <a:rPr lang="ko-KR" altLang="en-US" dirty="0"/>
              <a:t>할 수 있는지를 보여줍니다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참고로 </a:t>
            </a:r>
            <a:r>
              <a:rPr lang="en-US" altLang="ko-KR" dirty="0"/>
              <a:t>Gram matrix K</a:t>
            </a:r>
            <a:r>
              <a:rPr lang="ko-KR" altLang="en-US" dirty="0"/>
              <a:t>는 </a:t>
            </a:r>
            <a:r>
              <a:rPr lang="en-US" altLang="ko-KR" dirty="0"/>
              <a:t>xi, </a:t>
            </a:r>
            <a:r>
              <a:rPr lang="en-US" altLang="ko-KR" dirty="0" err="1"/>
              <a:t>xj</a:t>
            </a:r>
            <a:r>
              <a:rPr lang="ko-KR" altLang="en-US" dirty="0"/>
              <a:t>의 </a:t>
            </a:r>
            <a:r>
              <a:rPr lang="en-US" altLang="ko-KR" dirty="0"/>
              <a:t>kernel function</a:t>
            </a:r>
            <a:r>
              <a:rPr lang="ko-KR" altLang="en-US" dirty="0"/>
              <a:t>의 값을 </a:t>
            </a:r>
            <a:r>
              <a:rPr lang="en-US" altLang="ko-KR" dirty="0" err="1"/>
              <a:t>i</a:t>
            </a:r>
            <a:r>
              <a:rPr lang="en-US" altLang="ko-KR" dirty="0"/>
              <a:t>, j element</a:t>
            </a:r>
            <a:r>
              <a:rPr lang="ko-KR" altLang="en-US" dirty="0"/>
              <a:t>의 값으로 가지는 </a:t>
            </a:r>
            <a:r>
              <a:rPr lang="en-US" altLang="ko-KR" dirty="0"/>
              <a:t>matrix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우선 식의 형태를 먼저 살펴보겠습니다</a:t>
            </a:r>
            <a:r>
              <a:rPr lang="en-US" altLang="ko-KR" dirty="0"/>
              <a:t>. </a:t>
            </a:r>
            <a:r>
              <a:rPr lang="ko-KR" altLang="en-US" dirty="0"/>
              <a:t>이 식을 보면 </a:t>
            </a:r>
            <a:r>
              <a:rPr lang="en-US" altLang="ko-KR" dirty="0"/>
              <a:t>empirical risk</a:t>
            </a:r>
            <a:r>
              <a:rPr lang="ko-KR" altLang="en-US" dirty="0"/>
              <a:t>가 </a:t>
            </a:r>
            <a:r>
              <a:rPr lang="en-US" altLang="ko-KR" dirty="0"/>
              <a:t>gram matrix</a:t>
            </a:r>
            <a:r>
              <a:rPr lang="ko-KR" altLang="en-US" dirty="0"/>
              <a:t>의 </a:t>
            </a:r>
            <a:r>
              <a:rPr lang="en-US" altLang="ko-KR" dirty="0"/>
              <a:t>eigen value</a:t>
            </a:r>
            <a:r>
              <a:rPr lang="ko-KR" altLang="en-US" dirty="0"/>
              <a:t>와 관련된 값으로 </a:t>
            </a:r>
            <a:r>
              <a:rPr lang="en-US" altLang="ko-KR" dirty="0"/>
              <a:t>bound </a:t>
            </a:r>
            <a:r>
              <a:rPr lang="ko-KR" altLang="en-US" dirty="0"/>
              <a:t>될 수 있음을 살펴볼 수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오른쪽 </a:t>
            </a:r>
            <a:r>
              <a:rPr lang="en-US" altLang="ko-KR" dirty="0"/>
              <a:t>inequality</a:t>
            </a:r>
            <a:r>
              <a:rPr lang="ko-KR" altLang="en-US" dirty="0"/>
              <a:t>는 </a:t>
            </a:r>
            <a:r>
              <a:rPr lang="en-US" altLang="ko-KR" dirty="0"/>
              <a:t>minimum eigenvalue</a:t>
            </a:r>
            <a:r>
              <a:rPr lang="ko-KR" altLang="en-US" dirty="0"/>
              <a:t>와 관련되어 있고</a:t>
            </a:r>
            <a:r>
              <a:rPr lang="en-US" altLang="ko-KR" dirty="0"/>
              <a:t>, </a:t>
            </a:r>
            <a:r>
              <a:rPr lang="ko-KR" altLang="en-US" dirty="0"/>
              <a:t>왼쪽 </a:t>
            </a:r>
            <a:r>
              <a:rPr lang="en-US" altLang="ko-KR" dirty="0"/>
              <a:t>inequality</a:t>
            </a:r>
            <a:r>
              <a:rPr lang="ko-KR" altLang="en-US" dirty="0"/>
              <a:t>는 </a:t>
            </a:r>
            <a:r>
              <a:rPr lang="en-US" altLang="ko-KR" dirty="0"/>
              <a:t>maximum inequality</a:t>
            </a:r>
            <a:r>
              <a:rPr lang="ko-KR" altLang="en-US" dirty="0"/>
              <a:t>와 관련되어 있으니</a:t>
            </a:r>
            <a:r>
              <a:rPr lang="en-US" altLang="ko-KR" dirty="0"/>
              <a:t>, gram matrix</a:t>
            </a:r>
            <a:r>
              <a:rPr lang="ko-KR" altLang="en-US" dirty="0"/>
              <a:t>의 </a:t>
            </a:r>
            <a:r>
              <a:rPr lang="en-US" altLang="ko-KR" dirty="0"/>
              <a:t>condition number</a:t>
            </a:r>
            <a:r>
              <a:rPr lang="ko-KR" altLang="en-US" dirty="0"/>
              <a:t>가 작을수록 </a:t>
            </a:r>
            <a:r>
              <a:rPr lang="en-US" altLang="ko-KR" dirty="0"/>
              <a:t>empirical risk</a:t>
            </a:r>
            <a:r>
              <a:rPr lang="ko-KR" altLang="en-US" dirty="0"/>
              <a:t>가 작을 것이라 기대할 수 있고</a:t>
            </a:r>
            <a:r>
              <a:rPr lang="en-US" altLang="ko-KR" dirty="0"/>
              <a:t>, </a:t>
            </a:r>
            <a:r>
              <a:rPr lang="ko-KR" altLang="en-US" dirty="0"/>
              <a:t>클수록 </a:t>
            </a:r>
            <a:r>
              <a:rPr lang="en-US" altLang="ko-KR" dirty="0"/>
              <a:t>risk</a:t>
            </a:r>
            <a:r>
              <a:rPr lang="ko-KR" altLang="en-US" dirty="0"/>
              <a:t>가 높을 것이라 기대할 수 있습니다</a:t>
            </a:r>
            <a:r>
              <a:rPr lang="en-US" altLang="ko-KR" dirty="0"/>
              <a:t>. </a:t>
            </a:r>
            <a:r>
              <a:rPr lang="ko-KR" altLang="en-US" dirty="0"/>
              <a:t>저자들은 이것이 어떤 </a:t>
            </a:r>
            <a:r>
              <a:rPr lang="en-US" altLang="ko-KR" dirty="0"/>
              <a:t>parameter</a:t>
            </a:r>
            <a:r>
              <a:rPr lang="ko-KR" altLang="en-US" dirty="0" err="1"/>
              <a:t>를</a:t>
            </a:r>
            <a:r>
              <a:rPr lang="ko-KR" altLang="en-US" dirty="0"/>
              <a:t> </a:t>
            </a:r>
            <a:r>
              <a:rPr lang="en-US" altLang="ko-KR" dirty="0"/>
              <a:t>tune</a:t>
            </a:r>
            <a:r>
              <a:rPr lang="ko-KR" altLang="en-US" dirty="0"/>
              <a:t>할 지 선택할 때에 유용할 수 있다고 주장합니다</a:t>
            </a:r>
            <a:r>
              <a:rPr lang="en-US" altLang="ko-KR" dirty="0"/>
              <a:t>. </a:t>
            </a:r>
            <a:r>
              <a:rPr lang="ko-KR" altLang="en-US" dirty="0"/>
              <a:t>이는 뒤에서 좀 더 살펴보겠습니다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4E7F14-F629-D82B-D2DE-E61F553876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8D64D0-3142-4BB6-B63D-E0F3719DA9D1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526158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55672-FE78-6FC4-2F63-AE6A9755B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249F605-6964-52D8-4969-4ED29DD05B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9580A35-D81E-9162-95C3-4288B28AF3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이번 슬라이드에서는 </a:t>
            </a:r>
            <a:r>
              <a:rPr lang="en-US" altLang="ko-KR" dirty="0"/>
              <a:t>theorem 5</a:t>
            </a:r>
            <a:r>
              <a:rPr lang="ko-KR" altLang="en-US" dirty="0" err="1"/>
              <a:t>를</a:t>
            </a:r>
            <a:r>
              <a:rPr lang="ko-KR" altLang="en-US" dirty="0"/>
              <a:t> 증명할 예정입니다</a:t>
            </a:r>
            <a:r>
              <a:rPr lang="en-US" altLang="ko-KR" dirty="0"/>
              <a:t>. </a:t>
            </a:r>
            <a:r>
              <a:rPr lang="ko-KR" altLang="en-US" dirty="0"/>
              <a:t>증명은 굉장히 간단한데요</a:t>
            </a:r>
            <a:r>
              <a:rPr lang="en-US" altLang="ko-KR" dirty="0"/>
              <a:t>,</a:t>
            </a:r>
          </a:p>
          <a:p>
            <a:endParaRPr lang="en-US" altLang="ko-KR" dirty="0"/>
          </a:p>
          <a:p>
            <a:r>
              <a:rPr lang="ko-KR" altLang="en-US" dirty="0"/>
              <a:t>우선 </a:t>
            </a:r>
            <a:r>
              <a:rPr lang="en-US" altLang="ko-KR" dirty="0"/>
              <a:t>empirical risk</a:t>
            </a:r>
            <a:r>
              <a:rPr lang="ko-KR" altLang="en-US" dirty="0" err="1"/>
              <a:t>를</a:t>
            </a:r>
            <a:r>
              <a:rPr lang="ko-KR" altLang="en-US" dirty="0"/>
              <a:t> 다음과 같이 </a:t>
            </a:r>
            <a:r>
              <a:rPr lang="en-US" altLang="ko-KR" dirty="0"/>
              <a:t>linearized function</a:t>
            </a:r>
            <a:r>
              <a:rPr lang="ko-KR" altLang="en-US" dirty="0" err="1"/>
              <a:t>으로</a:t>
            </a:r>
            <a:r>
              <a:rPr lang="ko-KR" altLang="en-US" dirty="0"/>
              <a:t> </a:t>
            </a:r>
            <a:r>
              <a:rPr lang="en-US" altLang="ko-KR" dirty="0"/>
              <a:t>approximate</a:t>
            </a:r>
            <a:r>
              <a:rPr lang="ko-KR" altLang="en-US" dirty="0"/>
              <a:t>하고</a:t>
            </a:r>
            <a:r>
              <a:rPr lang="en-US" altLang="ko-KR" dirty="0"/>
              <a:t>, </a:t>
            </a:r>
            <a:r>
              <a:rPr lang="ko-KR" altLang="en-US" dirty="0"/>
              <a:t>앞서 구한 </a:t>
            </a:r>
            <a:r>
              <a:rPr lang="en-US" altLang="ko-KR" dirty="0"/>
              <a:t>optimal function</a:t>
            </a:r>
            <a:r>
              <a:rPr lang="ko-KR" altLang="en-US" dirty="0" err="1"/>
              <a:t>으로</a:t>
            </a:r>
            <a:r>
              <a:rPr lang="ko-KR" altLang="en-US" dirty="0"/>
              <a:t> 대체하여 씁니다</a:t>
            </a:r>
            <a:r>
              <a:rPr lang="en-US" altLang="ko-KR" dirty="0"/>
              <a:t>.</a:t>
            </a:r>
            <a:r>
              <a:rPr lang="ko-KR" altLang="en-US" dirty="0"/>
              <a:t> 그 뒤에는 그냥 </a:t>
            </a:r>
            <a:r>
              <a:rPr lang="en-US" altLang="ko-KR" dirty="0"/>
              <a:t>vector form</a:t>
            </a:r>
            <a:r>
              <a:rPr lang="ko-KR" altLang="en-US" dirty="0" err="1"/>
              <a:t>으로</a:t>
            </a:r>
            <a:r>
              <a:rPr lang="ko-KR" altLang="en-US" dirty="0"/>
              <a:t> 변환한 식입니다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 다음에 </a:t>
            </a:r>
            <a:r>
              <a:rPr lang="en-US" altLang="ko-KR" dirty="0"/>
              <a:t>y*</a:t>
            </a:r>
            <a:r>
              <a:rPr lang="ko-KR" altLang="en-US" dirty="0" err="1"/>
              <a:t>를</a:t>
            </a:r>
            <a:r>
              <a:rPr lang="ko-KR" altLang="en-US" dirty="0"/>
              <a:t> 뒤로 </a:t>
            </a:r>
            <a:r>
              <a:rPr lang="ko-KR" altLang="en-US" dirty="0" err="1"/>
              <a:t>빼주고</a:t>
            </a:r>
            <a:r>
              <a:rPr lang="en-US" altLang="ko-KR" dirty="0"/>
              <a:t>, K</a:t>
            </a:r>
            <a:r>
              <a:rPr lang="ko-KR" altLang="en-US" dirty="0" err="1"/>
              <a:t>를</a:t>
            </a:r>
            <a:r>
              <a:rPr lang="ko-KR" altLang="en-US" dirty="0"/>
              <a:t> </a:t>
            </a:r>
            <a:r>
              <a:rPr lang="en-US" altLang="ko-KR" dirty="0"/>
              <a:t>eigenvalue decomposition </a:t>
            </a:r>
            <a:r>
              <a:rPr lang="ko-KR" altLang="en-US" dirty="0"/>
              <a:t>하면 이런 식을 </a:t>
            </a:r>
            <a:r>
              <a:rPr lang="ko-KR" altLang="en-US" dirty="0" err="1"/>
              <a:t>얻을수가</a:t>
            </a:r>
            <a:r>
              <a:rPr lang="ko-KR" altLang="en-US" dirty="0"/>
              <a:t> 있고</a:t>
            </a:r>
            <a:r>
              <a:rPr lang="en-US" altLang="ko-KR" dirty="0"/>
              <a:t>, </a:t>
            </a:r>
            <a:r>
              <a:rPr lang="ko-KR" altLang="en-US" dirty="0"/>
              <a:t>얘를 다시 </a:t>
            </a:r>
            <a:r>
              <a:rPr lang="en-US" altLang="ko-KR" dirty="0"/>
              <a:t>U SIGMA</a:t>
            </a:r>
            <a:r>
              <a:rPr lang="ko-KR" altLang="en-US" dirty="0"/>
              <a:t>로 묶어주면 다음과 같이 나타낼 수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 식에서 </a:t>
            </a:r>
            <a:r>
              <a:rPr lang="en-US" altLang="ko-KR" dirty="0"/>
              <a:t>U</a:t>
            </a:r>
            <a:r>
              <a:rPr lang="ko-KR" altLang="en-US" dirty="0"/>
              <a:t>가 </a:t>
            </a:r>
            <a:r>
              <a:rPr lang="en-US" altLang="ko-KR" dirty="0"/>
              <a:t>orthonormal matrix</a:t>
            </a:r>
            <a:r>
              <a:rPr lang="ko-KR" altLang="en-US" dirty="0"/>
              <a:t>이므로 </a:t>
            </a:r>
            <a:r>
              <a:rPr lang="en-US" altLang="ko-KR" dirty="0"/>
              <a:t>2-norm</a:t>
            </a:r>
            <a:r>
              <a:rPr lang="ko-KR" altLang="en-US" dirty="0"/>
              <a:t>에서 </a:t>
            </a:r>
            <a:r>
              <a:rPr lang="en-US" altLang="ko-KR" dirty="0"/>
              <a:t>U</a:t>
            </a:r>
            <a:r>
              <a:rPr lang="ko-KR" altLang="en-US" dirty="0" err="1"/>
              <a:t>를</a:t>
            </a:r>
            <a:r>
              <a:rPr lang="ko-KR" altLang="en-US" dirty="0"/>
              <a:t> 그냥 </a:t>
            </a:r>
            <a:r>
              <a:rPr lang="ko-KR" altLang="en-US" dirty="0" err="1"/>
              <a:t>빼줄</a:t>
            </a:r>
            <a:r>
              <a:rPr lang="ko-KR" altLang="en-US" dirty="0"/>
              <a:t> 수가 있습니다</a:t>
            </a:r>
            <a:r>
              <a:rPr lang="en-US" altLang="ko-KR" dirty="0"/>
              <a:t>. </a:t>
            </a:r>
            <a:r>
              <a:rPr lang="ko-KR" altLang="en-US" dirty="0"/>
              <a:t>앞에서 이 복잡한 부분을 </a:t>
            </a:r>
            <a:r>
              <a:rPr lang="en-US" altLang="ko-KR" dirty="0"/>
              <a:t>B</a:t>
            </a:r>
            <a:r>
              <a:rPr lang="ko-KR" altLang="en-US" dirty="0"/>
              <a:t>로 </a:t>
            </a:r>
            <a:r>
              <a:rPr lang="ko-KR" altLang="en-US" dirty="0" err="1"/>
              <a:t>나타내주고</a:t>
            </a:r>
            <a:r>
              <a:rPr lang="en-US" altLang="ko-KR" dirty="0"/>
              <a:t>, B</a:t>
            </a:r>
            <a:r>
              <a:rPr lang="ko-KR" altLang="en-US" dirty="0"/>
              <a:t>는 우리가 그냥 </a:t>
            </a:r>
            <a:r>
              <a:rPr lang="en-US" altLang="ko-KR" dirty="0"/>
              <a:t>diagonal matrix</a:t>
            </a:r>
            <a:r>
              <a:rPr lang="ko-KR" altLang="en-US" dirty="0"/>
              <a:t>임을 알 수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이제 </a:t>
            </a:r>
            <a:r>
              <a:rPr lang="en-US" altLang="ko-KR" dirty="0"/>
              <a:t>empirical risk</a:t>
            </a:r>
            <a:r>
              <a:rPr lang="ko-KR" altLang="en-US" dirty="0" err="1"/>
              <a:t>를</a:t>
            </a:r>
            <a:r>
              <a:rPr lang="ko-KR" altLang="en-US" dirty="0"/>
              <a:t> </a:t>
            </a:r>
            <a:r>
              <a:rPr lang="en-US" altLang="ko-KR" dirty="0"/>
              <a:t>I-B</a:t>
            </a:r>
            <a:r>
              <a:rPr lang="ko-KR" altLang="en-US" dirty="0"/>
              <a:t>의 </a:t>
            </a:r>
            <a:r>
              <a:rPr lang="en-US" altLang="ko-KR" dirty="0"/>
              <a:t>eigenvalue</a:t>
            </a:r>
            <a:r>
              <a:rPr lang="ko-KR" altLang="en-US" dirty="0" err="1"/>
              <a:t>를</a:t>
            </a:r>
            <a:r>
              <a:rPr lang="ko-KR" altLang="en-US" dirty="0"/>
              <a:t> 기준으로 다음과 같이 </a:t>
            </a:r>
            <a:r>
              <a:rPr lang="en-US" altLang="ko-KR" dirty="0"/>
              <a:t>bound</a:t>
            </a:r>
            <a:r>
              <a:rPr lang="ko-KR" altLang="en-US" dirty="0" err="1"/>
              <a:t>를</a:t>
            </a:r>
            <a:r>
              <a:rPr lang="ko-KR" altLang="en-US" dirty="0"/>
              <a:t> 할 수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또</a:t>
            </a:r>
            <a:r>
              <a:rPr lang="en-US" altLang="ko-KR" dirty="0"/>
              <a:t>, B</a:t>
            </a:r>
            <a:r>
              <a:rPr lang="ko-KR" altLang="en-US" dirty="0"/>
              <a:t>의 </a:t>
            </a:r>
            <a:r>
              <a:rPr lang="en-US" altLang="ko-KR" dirty="0"/>
              <a:t>eigenvalue</a:t>
            </a:r>
            <a:r>
              <a:rPr lang="ko-KR" altLang="en-US" dirty="0"/>
              <a:t>가 다음과 같이 계산되어질 수 있으니까</a:t>
            </a:r>
            <a:r>
              <a:rPr lang="en-US" altLang="ko-KR" dirty="0"/>
              <a:t>, </a:t>
            </a:r>
            <a:r>
              <a:rPr lang="ko-KR" altLang="en-US" dirty="0"/>
              <a:t>또다시 </a:t>
            </a:r>
            <a:r>
              <a:rPr lang="en-US" altLang="ko-KR" dirty="0"/>
              <a:t>orthonormal matrix</a:t>
            </a:r>
            <a:r>
              <a:rPr lang="ko-KR" altLang="en-US" dirty="0"/>
              <a:t>의 성질을 사용하면 </a:t>
            </a:r>
            <a:r>
              <a:rPr lang="en-US" altLang="ko-KR" dirty="0"/>
              <a:t>theorem</a:t>
            </a:r>
            <a:r>
              <a:rPr lang="ko-KR" altLang="en-US" dirty="0"/>
              <a:t>에서의 형태를 얻을 수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그래서 저자들은 </a:t>
            </a:r>
            <a:r>
              <a:rPr lang="en-US" altLang="ko-KR" dirty="0"/>
              <a:t>Gram matrix K</a:t>
            </a:r>
            <a:r>
              <a:rPr lang="ko-KR" altLang="en-US" dirty="0"/>
              <a:t>의 </a:t>
            </a:r>
            <a:r>
              <a:rPr lang="en-US" altLang="ko-KR" dirty="0"/>
              <a:t>eigenvalue</a:t>
            </a:r>
            <a:r>
              <a:rPr lang="ko-KR" altLang="en-US" dirty="0" err="1"/>
              <a:t>를</a:t>
            </a:r>
            <a:r>
              <a:rPr lang="ko-KR" altLang="en-US" dirty="0"/>
              <a:t> 보는 것이 </a:t>
            </a:r>
            <a:r>
              <a:rPr lang="en-US" altLang="ko-KR" dirty="0"/>
              <a:t>empirical risk</a:t>
            </a:r>
            <a:r>
              <a:rPr lang="ko-KR" altLang="en-US" dirty="0" err="1"/>
              <a:t>를</a:t>
            </a:r>
            <a:r>
              <a:rPr lang="ko-KR" altLang="en-US" dirty="0"/>
              <a:t> 잘 </a:t>
            </a:r>
            <a:r>
              <a:rPr lang="en-US" altLang="ko-KR" dirty="0"/>
              <a:t>bound</a:t>
            </a:r>
            <a:r>
              <a:rPr lang="ko-KR" altLang="en-US" dirty="0"/>
              <a:t>시킬 수 있는 출발점이라 판단했습니다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5D8114-142B-6F9C-8568-5736593FAE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8D64D0-3142-4BB6-B63D-E0F3719DA9D1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095427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D7E9C-A377-242B-DFC2-67433DBAA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7600D9-0B7F-CA42-A3B0-3523D4672F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3F3D6B-96D1-560E-71AC-DE20641953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이번</a:t>
            </a:r>
            <a:r>
              <a:rPr lang="en-US" dirty="0"/>
              <a:t> </a:t>
            </a:r>
            <a:r>
              <a:rPr lang="en-US" dirty="0" err="1"/>
              <a:t>slide에서는</a:t>
            </a:r>
            <a:r>
              <a:rPr lang="en-US" dirty="0"/>
              <a:t> </a:t>
            </a:r>
            <a:r>
              <a:rPr lang="en-US" dirty="0" err="1"/>
              <a:t>앞서</a:t>
            </a:r>
            <a:r>
              <a:rPr lang="en-US" dirty="0"/>
              <a:t> </a:t>
            </a:r>
            <a:r>
              <a:rPr lang="en-US" dirty="0" err="1"/>
              <a:t>구한</a:t>
            </a:r>
            <a:r>
              <a:rPr lang="en-US" dirty="0"/>
              <a:t> theorem 5을 </a:t>
            </a:r>
            <a:r>
              <a:rPr lang="en-US" dirty="0" err="1"/>
              <a:t>바탕으로</a:t>
            </a:r>
            <a:r>
              <a:rPr lang="en-US" dirty="0"/>
              <a:t> </a:t>
            </a:r>
            <a:r>
              <a:rPr lang="en-US" dirty="0" err="1"/>
              <a:t>어떻게</a:t>
            </a:r>
            <a:r>
              <a:rPr lang="en-US" dirty="0"/>
              <a:t> layer selection </a:t>
            </a:r>
            <a:r>
              <a:rPr lang="en-US" dirty="0" err="1"/>
              <a:t>기준으로</a:t>
            </a:r>
            <a:r>
              <a:rPr lang="en-US" dirty="0"/>
              <a:t> </a:t>
            </a:r>
            <a:r>
              <a:rPr lang="en-US" dirty="0" err="1"/>
              <a:t>이용했는지</a:t>
            </a:r>
            <a:r>
              <a:rPr lang="en-US" dirty="0"/>
              <a:t> </a:t>
            </a:r>
            <a:r>
              <a:rPr lang="en-US" dirty="0" err="1"/>
              <a:t>살펴보겠습니다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0C59AD-8846-2A9E-AC1A-5181CFE336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DC86C2-9417-D242-957F-07D0C93E50AF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2073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44199-13CE-9776-2696-F41456DE0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67A87CF-7075-71B3-5BAB-ECB6507958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E7F2725-945B-43FE-F7AD-15BE20A204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  <a:p>
            <a:r>
              <a:rPr lang="ko-KR" altLang="en-US" dirty="0"/>
              <a:t>지금까지 </a:t>
            </a:r>
            <a:r>
              <a:rPr lang="ko-KR" altLang="en-US" dirty="0" err="1"/>
              <a:t>보인걸</a:t>
            </a:r>
            <a:r>
              <a:rPr lang="ko-KR" altLang="en-US" dirty="0"/>
              <a:t> 정리해보면 첫 번째로 </a:t>
            </a:r>
            <a:r>
              <a:rPr lang="en-US" altLang="ko-KR" dirty="0"/>
              <a:t>initial point </a:t>
            </a:r>
            <a:r>
              <a:rPr lang="ko-KR" altLang="en-US" dirty="0"/>
              <a:t>주변에서 크게 벗어나지 않도록 </a:t>
            </a:r>
            <a:r>
              <a:rPr lang="en-US" altLang="ko-KR" dirty="0"/>
              <a:t>regularize</a:t>
            </a:r>
            <a:r>
              <a:rPr lang="ko-KR" altLang="en-US" dirty="0"/>
              <a:t>한 </a:t>
            </a:r>
            <a:r>
              <a:rPr lang="en-US" altLang="ko-KR" dirty="0"/>
              <a:t>fine-tuning</a:t>
            </a:r>
            <a:r>
              <a:rPr lang="ko-KR" altLang="en-US" dirty="0"/>
              <a:t>은 </a:t>
            </a:r>
            <a:r>
              <a:rPr lang="en-US" altLang="ko-KR" dirty="0"/>
              <a:t>approximately linear model</a:t>
            </a:r>
            <a:r>
              <a:rPr lang="ko-KR" altLang="en-US" dirty="0"/>
              <a:t>임을 볼 수 있습니다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두 번째로</a:t>
            </a:r>
            <a:r>
              <a:rPr lang="en-US" altLang="ko-KR" dirty="0"/>
              <a:t>, linear model</a:t>
            </a:r>
            <a:r>
              <a:rPr lang="ko-KR" altLang="en-US" dirty="0"/>
              <a:t>이므로 이 상황에서 </a:t>
            </a:r>
            <a:r>
              <a:rPr lang="en-US" altLang="ko-KR" dirty="0"/>
              <a:t>NTK kernel ridge regression</a:t>
            </a:r>
            <a:r>
              <a:rPr lang="ko-KR" altLang="en-US" dirty="0"/>
              <a:t>을 적용할 수 있음을 보였습니다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마지막으로</a:t>
            </a:r>
            <a:r>
              <a:rPr lang="en-US" altLang="ko-KR" dirty="0"/>
              <a:t>, empirical risk</a:t>
            </a:r>
            <a:r>
              <a:rPr lang="ko-KR" altLang="en-US" dirty="0"/>
              <a:t>가 </a:t>
            </a:r>
            <a:r>
              <a:rPr lang="en-US" altLang="ko-KR" dirty="0"/>
              <a:t>NTK gram matrix</a:t>
            </a:r>
            <a:r>
              <a:rPr lang="ko-KR" altLang="en-US" dirty="0"/>
              <a:t>의 </a:t>
            </a:r>
            <a:r>
              <a:rPr lang="en-US" altLang="ko-KR" dirty="0"/>
              <a:t>eigenvalue</a:t>
            </a:r>
            <a:r>
              <a:rPr lang="ko-KR" altLang="en-US" dirty="0"/>
              <a:t>로 </a:t>
            </a:r>
            <a:r>
              <a:rPr lang="en-US" altLang="ko-KR" dirty="0"/>
              <a:t>bound </a:t>
            </a:r>
            <a:r>
              <a:rPr lang="ko-KR" altLang="en-US" dirty="0"/>
              <a:t>될 수 있음을 보여서</a:t>
            </a:r>
            <a:r>
              <a:rPr lang="en-US" altLang="ko-KR" dirty="0"/>
              <a:t>, matrix K</a:t>
            </a:r>
            <a:r>
              <a:rPr lang="ko-KR" altLang="en-US" dirty="0"/>
              <a:t>의 </a:t>
            </a:r>
            <a:r>
              <a:rPr lang="en-US" altLang="ko-KR" dirty="0"/>
              <a:t>condition number</a:t>
            </a:r>
            <a:r>
              <a:rPr lang="ko-KR" altLang="en-US" dirty="0" err="1"/>
              <a:t>를</a:t>
            </a:r>
            <a:r>
              <a:rPr lang="ko-KR" altLang="en-US" dirty="0"/>
              <a:t> </a:t>
            </a:r>
            <a:r>
              <a:rPr lang="en-US" altLang="ko-KR" dirty="0"/>
              <a:t>performance </a:t>
            </a:r>
            <a:r>
              <a:rPr lang="ko-KR" altLang="en-US" dirty="0"/>
              <a:t>예측의 지표로서 어느정도 활용할 수 있을 </a:t>
            </a:r>
            <a:r>
              <a:rPr lang="ko-KR" altLang="en-US" dirty="0" err="1"/>
              <a:t>것이다라는</a:t>
            </a:r>
            <a:r>
              <a:rPr lang="ko-KR" altLang="en-US" dirty="0"/>
              <a:t> 기반을 마련했습니다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이제 저자들은 이를 활용할 수 있는 상황을 제시했는데요</a:t>
            </a:r>
            <a:r>
              <a:rPr lang="en-US" altLang="ko-KR" dirty="0"/>
              <a:t>, PEFT </a:t>
            </a:r>
            <a:r>
              <a:rPr lang="ko-KR" altLang="en-US" dirty="0"/>
              <a:t>상황에서 어떤 </a:t>
            </a:r>
            <a:r>
              <a:rPr lang="en-US" altLang="ko-KR" dirty="0"/>
              <a:t>layer</a:t>
            </a:r>
            <a:r>
              <a:rPr lang="ko-KR" altLang="en-US" dirty="0" err="1"/>
              <a:t>를</a:t>
            </a:r>
            <a:r>
              <a:rPr lang="ko-KR" altLang="en-US" dirty="0"/>
              <a:t> </a:t>
            </a:r>
            <a:r>
              <a:rPr lang="en-US" altLang="ko-KR" dirty="0"/>
              <a:t>tuning</a:t>
            </a:r>
            <a:r>
              <a:rPr lang="ko-KR" altLang="en-US" dirty="0"/>
              <a:t>할 지 고르는 상황입니다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0A91FE3-FD4B-945D-40CF-EDE2B5BF7E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8D64D0-3142-4BB6-B63D-E0F3719DA9D1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943420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0C2CC-2893-1746-619E-AF63A2B84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2EA8BA9-ED46-A751-E6B4-DB60750DFB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C00D42A-CAA5-D96E-7B1A-C007A5D6A0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이번 슬라이드에서는 우선 </a:t>
            </a:r>
            <a:r>
              <a:rPr lang="en-US" altLang="ko-KR" dirty="0"/>
              <a:t>layer addition</a:t>
            </a:r>
            <a:r>
              <a:rPr lang="ko-KR" altLang="en-US" dirty="0"/>
              <a:t>이 일어났을 때 </a:t>
            </a:r>
            <a:r>
              <a:rPr lang="en-US" altLang="ko-KR" dirty="0"/>
              <a:t>matrix K</a:t>
            </a:r>
            <a:r>
              <a:rPr lang="ko-KR" altLang="en-US" dirty="0"/>
              <a:t>의 </a:t>
            </a:r>
            <a:r>
              <a:rPr lang="en-US" altLang="ko-KR" dirty="0"/>
              <a:t>eigenvalue</a:t>
            </a:r>
            <a:r>
              <a:rPr lang="ko-KR" altLang="en-US" dirty="0"/>
              <a:t>가 얼마나 달라지는 지 살펴보겠습니다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 </a:t>
            </a:r>
            <a:r>
              <a:rPr lang="en-US" altLang="ko-KR" dirty="0"/>
              <a:t>theorem</a:t>
            </a:r>
            <a:r>
              <a:rPr lang="ko-KR" altLang="en-US" dirty="0"/>
              <a:t>을 살펴보면 어떤 </a:t>
            </a:r>
            <a:r>
              <a:rPr lang="en-US" altLang="ko-KR" dirty="0"/>
              <a:t>predefined parameter set</a:t>
            </a:r>
            <a:r>
              <a:rPr lang="ko-KR" altLang="en-US" dirty="0" err="1"/>
              <a:t>에</a:t>
            </a:r>
            <a:r>
              <a:rPr lang="ko-KR" altLang="en-US" dirty="0"/>
              <a:t> 대한 </a:t>
            </a:r>
            <a:r>
              <a:rPr lang="en-US" altLang="ko-KR" dirty="0"/>
              <a:t>gram matrix K</a:t>
            </a:r>
            <a:r>
              <a:rPr lang="ko-KR" altLang="en-US" dirty="0"/>
              <a:t>가 있을 때</a:t>
            </a:r>
            <a:r>
              <a:rPr lang="en-US" altLang="ko-KR" dirty="0"/>
              <a:t>, </a:t>
            </a:r>
            <a:r>
              <a:rPr lang="ko-KR" altLang="en-US" dirty="0"/>
              <a:t>새로운 </a:t>
            </a:r>
            <a:r>
              <a:rPr lang="en-US" altLang="ko-KR" dirty="0"/>
              <a:t>layer</a:t>
            </a:r>
            <a:r>
              <a:rPr lang="ko-KR" altLang="en-US" dirty="0"/>
              <a:t>가 추가되어 생기는 </a:t>
            </a:r>
            <a:r>
              <a:rPr lang="en-US" altLang="ko-KR" dirty="0"/>
              <a:t>gram matrix S</a:t>
            </a:r>
            <a:r>
              <a:rPr lang="ko-KR" altLang="en-US" dirty="0"/>
              <a:t>로 인해 생긴 새로운 </a:t>
            </a:r>
            <a:r>
              <a:rPr lang="en-US" altLang="ko-KR" dirty="0"/>
              <a:t>gram matrix K+S</a:t>
            </a:r>
            <a:r>
              <a:rPr lang="ko-KR" altLang="en-US" dirty="0"/>
              <a:t>의 </a:t>
            </a:r>
            <a:r>
              <a:rPr lang="en-US" altLang="ko-KR" dirty="0"/>
              <a:t>eigenvalue</a:t>
            </a:r>
            <a:r>
              <a:rPr lang="ko-KR" altLang="en-US" dirty="0"/>
              <a:t>는 다음과 같이 </a:t>
            </a:r>
            <a:r>
              <a:rPr lang="en-US" altLang="ko-KR" dirty="0"/>
              <a:t>K</a:t>
            </a:r>
            <a:r>
              <a:rPr lang="ko-KR" altLang="en-US" dirty="0"/>
              <a:t>의 </a:t>
            </a:r>
            <a:r>
              <a:rPr lang="en-US" altLang="ko-KR" dirty="0"/>
              <a:t>eigenvalue</a:t>
            </a:r>
            <a:r>
              <a:rPr lang="ko-KR" altLang="en-US" dirty="0" err="1"/>
              <a:t>에</a:t>
            </a:r>
            <a:r>
              <a:rPr lang="ko-KR" altLang="en-US" dirty="0"/>
              <a:t> 대한 식으로 </a:t>
            </a:r>
            <a:r>
              <a:rPr lang="en-US" altLang="ko-KR" dirty="0"/>
              <a:t>bound </a:t>
            </a:r>
            <a:r>
              <a:rPr lang="ko-KR" altLang="en-US" dirty="0"/>
              <a:t>됩니다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만약 </a:t>
            </a:r>
            <a:r>
              <a:rPr lang="en-US" altLang="ko-KR" dirty="0"/>
              <a:t>\eta</a:t>
            </a:r>
            <a:r>
              <a:rPr lang="ko-KR" altLang="en-US" dirty="0"/>
              <a:t>가 작다면 우리는 그 </a:t>
            </a:r>
            <a:r>
              <a:rPr lang="en-US" altLang="ko-KR" dirty="0"/>
              <a:t>layer</a:t>
            </a:r>
            <a:r>
              <a:rPr lang="ko-KR" altLang="en-US" dirty="0" err="1"/>
              <a:t>를</a:t>
            </a:r>
            <a:r>
              <a:rPr lang="ko-KR" altLang="en-US" dirty="0"/>
              <a:t> 선택할 필요가 없는 것이</a:t>
            </a:r>
            <a:r>
              <a:rPr lang="en-US" altLang="ko-KR" dirty="0"/>
              <a:t>, empirical risk</a:t>
            </a:r>
            <a:r>
              <a:rPr lang="ko-KR" altLang="en-US" dirty="0" err="1"/>
              <a:t>에</a:t>
            </a:r>
            <a:r>
              <a:rPr lang="ko-KR" altLang="en-US" dirty="0"/>
              <a:t> 크게 영향을 미치지 않기 때문입니다</a:t>
            </a:r>
            <a:r>
              <a:rPr lang="en-US" altLang="ko-KR" dirty="0"/>
              <a:t>. </a:t>
            </a:r>
            <a:r>
              <a:rPr lang="ko-KR" altLang="en-US" dirty="0"/>
              <a:t>만약 </a:t>
            </a:r>
            <a:r>
              <a:rPr lang="en-US" altLang="ko-KR" dirty="0"/>
              <a:t>\eta</a:t>
            </a:r>
            <a:r>
              <a:rPr lang="ko-KR" altLang="en-US" dirty="0"/>
              <a:t>가 크고</a:t>
            </a:r>
            <a:r>
              <a:rPr lang="en-US" altLang="ko-KR" dirty="0"/>
              <a:t>, condition number</a:t>
            </a:r>
            <a:r>
              <a:rPr lang="ko-KR" altLang="en-US" dirty="0" err="1"/>
              <a:t>를</a:t>
            </a:r>
            <a:r>
              <a:rPr lang="ko-KR" altLang="en-US" dirty="0"/>
              <a:t> 크게 망치지 않는다면 그 </a:t>
            </a:r>
            <a:r>
              <a:rPr lang="en-US" altLang="ko-KR" dirty="0"/>
              <a:t>layer</a:t>
            </a:r>
            <a:r>
              <a:rPr lang="ko-KR" altLang="en-US" dirty="0" err="1"/>
              <a:t>를</a:t>
            </a:r>
            <a:r>
              <a:rPr lang="ko-KR" altLang="en-US" dirty="0"/>
              <a:t> </a:t>
            </a:r>
            <a:r>
              <a:rPr lang="en-US" altLang="ko-KR" dirty="0"/>
              <a:t>trainable parameter</a:t>
            </a:r>
            <a:r>
              <a:rPr lang="ko-KR" altLang="en-US" dirty="0" err="1"/>
              <a:t>에</a:t>
            </a:r>
            <a:r>
              <a:rPr lang="ko-KR" altLang="en-US" dirty="0"/>
              <a:t> 추가하는 것을 고려할 수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Proof</a:t>
            </a:r>
            <a:r>
              <a:rPr lang="ko-KR" altLang="en-US" dirty="0"/>
              <a:t>는 크게 중요하지 않은 것 같아서 생략하겠습니다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DADDC7-A8B4-68DF-2F58-C1204053BE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8D64D0-3142-4BB6-B63D-E0F3719DA9D1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609307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D216D-E283-B8C3-D92E-87F90A52B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3529D69-A698-565F-4000-08908423B2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4D7AAB5-6576-A5FF-FD70-6F2ADD43C1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 논문의 마지막 </a:t>
            </a:r>
            <a:r>
              <a:rPr lang="en-US" altLang="ko-KR" dirty="0"/>
              <a:t>theorem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이 </a:t>
            </a:r>
            <a:r>
              <a:rPr lang="en-US" altLang="ko-KR" dirty="0"/>
              <a:t>theorem</a:t>
            </a:r>
            <a:r>
              <a:rPr lang="ko-KR" altLang="en-US" dirty="0"/>
              <a:t>에서는 </a:t>
            </a:r>
            <a:r>
              <a:rPr lang="en-US" altLang="ko-KR" dirty="0"/>
              <a:t>K</a:t>
            </a:r>
            <a:r>
              <a:rPr lang="ko-KR" altLang="en-US" dirty="0"/>
              <a:t>의 </a:t>
            </a:r>
            <a:r>
              <a:rPr lang="en-US" altLang="ko-KR" dirty="0"/>
              <a:t>maximum eigenvalue</a:t>
            </a:r>
            <a:r>
              <a:rPr lang="ko-KR" altLang="en-US" dirty="0"/>
              <a:t>로 새로운 </a:t>
            </a:r>
            <a:r>
              <a:rPr lang="en-US" altLang="ko-KR" dirty="0"/>
              <a:t>parameter</a:t>
            </a:r>
            <a:r>
              <a:rPr lang="ko-KR" altLang="en-US" dirty="0"/>
              <a:t>가 추가 되었을 때 </a:t>
            </a:r>
            <a:r>
              <a:rPr lang="en-US" altLang="ko-KR" dirty="0"/>
              <a:t>empirical risk</a:t>
            </a:r>
            <a:r>
              <a:rPr lang="ko-KR" altLang="en-US" dirty="0" err="1"/>
              <a:t>를</a:t>
            </a:r>
            <a:r>
              <a:rPr lang="ko-KR" altLang="en-US" dirty="0"/>
              <a:t> </a:t>
            </a:r>
            <a:r>
              <a:rPr lang="en-US" altLang="ko-KR" dirty="0"/>
              <a:t>bound</a:t>
            </a:r>
            <a:r>
              <a:rPr lang="ko-KR" altLang="en-US" dirty="0"/>
              <a:t>할 수 있다는 내용입니다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 식의 형태로 살펴보면 </a:t>
            </a:r>
            <a:r>
              <a:rPr lang="en-US" altLang="ko-KR" dirty="0"/>
              <a:t>K+S</a:t>
            </a:r>
            <a:r>
              <a:rPr lang="ko-KR" altLang="en-US" dirty="0" err="1"/>
              <a:t>에</a:t>
            </a:r>
            <a:r>
              <a:rPr lang="ko-KR" altLang="en-US" dirty="0"/>
              <a:t> 대한 </a:t>
            </a:r>
            <a:r>
              <a:rPr lang="en-US" altLang="ko-KR" dirty="0"/>
              <a:t>maximum eigenvalue</a:t>
            </a:r>
            <a:r>
              <a:rPr lang="ko-KR" altLang="en-US" dirty="0"/>
              <a:t>와 원래 </a:t>
            </a:r>
            <a:r>
              <a:rPr lang="en-US" altLang="ko-KR" dirty="0"/>
              <a:t>matrix K</a:t>
            </a:r>
            <a:r>
              <a:rPr lang="ko-KR" altLang="en-US" dirty="0" err="1"/>
              <a:t>에</a:t>
            </a:r>
            <a:r>
              <a:rPr lang="ko-KR" altLang="en-US" dirty="0"/>
              <a:t> 대한 </a:t>
            </a:r>
            <a:r>
              <a:rPr lang="en-US" altLang="ko-KR" dirty="0"/>
              <a:t>eigenvalue</a:t>
            </a:r>
            <a:r>
              <a:rPr lang="ko-KR" altLang="en-US" dirty="0"/>
              <a:t>의 </a:t>
            </a:r>
            <a:r>
              <a:rPr lang="en-US" altLang="ko-KR" dirty="0"/>
              <a:t>maximum </a:t>
            </a:r>
            <a:r>
              <a:rPr lang="ko-KR" altLang="en-US" dirty="0"/>
              <a:t>값과 어떤 상수로 </a:t>
            </a:r>
            <a:r>
              <a:rPr lang="en-US" altLang="ko-KR" dirty="0"/>
              <a:t>bound</a:t>
            </a:r>
            <a:r>
              <a:rPr lang="ko-KR" altLang="en-US" dirty="0"/>
              <a:t>할 수 있음을 보이고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사실 이 상수가 각 </a:t>
            </a:r>
            <a:r>
              <a:rPr lang="en-US" altLang="ko-KR" dirty="0"/>
              <a:t>eigenvalue</a:t>
            </a:r>
            <a:r>
              <a:rPr lang="ko-KR" altLang="en-US" dirty="0"/>
              <a:t>와 관계된 </a:t>
            </a:r>
            <a:r>
              <a:rPr lang="en-US" altLang="ko-KR" dirty="0"/>
              <a:t>term</a:t>
            </a:r>
            <a:r>
              <a:rPr lang="ko-KR" altLang="en-US" dirty="0"/>
              <a:t>이라 조금 애매한 지점이 있기는 한데</a:t>
            </a:r>
            <a:r>
              <a:rPr lang="en-US" altLang="ko-KR" dirty="0"/>
              <a:t>, </a:t>
            </a:r>
            <a:r>
              <a:rPr lang="ko-KR" altLang="en-US" dirty="0"/>
              <a:t>저자들은 이 </a:t>
            </a:r>
            <a:r>
              <a:rPr lang="en-US" altLang="ko-KR" dirty="0"/>
              <a:t>theorem</a:t>
            </a:r>
            <a:r>
              <a:rPr lang="ko-KR" altLang="en-US" dirty="0"/>
              <a:t>을 통해 </a:t>
            </a:r>
            <a:r>
              <a:rPr lang="en-US" altLang="ko-KR" dirty="0"/>
              <a:t>parameter choice</a:t>
            </a:r>
            <a:r>
              <a:rPr lang="ko-KR" altLang="en-US" dirty="0" err="1"/>
              <a:t>에</a:t>
            </a:r>
            <a:r>
              <a:rPr lang="ko-KR" altLang="en-US" dirty="0"/>
              <a:t> 대한 상대적 </a:t>
            </a:r>
            <a:r>
              <a:rPr lang="en-US" altLang="ko-KR" dirty="0" err="1"/>
              <a:t>metrit</a:t>
            </a:r>
            <a:r>
              <a:rPr lang="ko-KR" altLang="en-US" dirty="0" err="1"/>
              <a:t>를</a:t>
            </a:r>
            <a:r>
              <a:rPr lang="ko-KR" altLang="en-US" dirty="0"/>
              <a:t> 이해할 수 있다고 주장합니다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F1FF63-41CF-F600-B559-9AC5CA5B01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8D64D0-3142-4BB6-B63D-E0F3719DA9D1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905581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54A27-9DF7-AE62-9D5D-C91B30416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9520E85-22B5-CAF0-69B5-1BE660E196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75D4109-83A5-2861-4130-4F379745DC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지금부터는 </a:t>
            </a:r>
            <a:r>
              <a:rPr lang="en-US" altLang="ko-KR" dirty="0"/>
              <a:t>theorem 7</a:t>
            </a:r>
            <a:r>
              <a:rPr lang="ko-KR" altLang="en-US" dirty="0" err="1"/>
              <a:t>에</a:t>
            </a:r>
            <a:r>
              <a:rPr lang="ko-KR" altLang="en-US" dirty="0"/>
              <a:t> 대한 </a:t>
            </a:r>
            <a:r>
              <a:rPr lang="en-US" altLang="ko-KR" dirty="0"/>
              <a:t>proof</a:t>
            </a:r>
            <a:r>
              <a:rPr lang="ko-KR" altLang="en-US" dirty="0" err="1"/>
              <a:t>를</a:t>
            </a:r>
            <a:r>
              <a:rPr lang="ko-KR" altLang="en-US" dirty="0"/>
              <a:t> 살펴보겠습니다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Theorem 5</a:t>
            </a:r>
            <a:r>
              <a:rPr lang="ko-KR" altLang="en-US" dirty="0"/>
              <a:t>의 </a:t>
            </a:r>
            <a:r>
              <a:rPr lang="en-US" altLang="ko-KR" dirty="0"/>
              <a:t>inequality</a:t>
            </a:r>
            <a:r>
              <a:rPr lang="ko-KR" altLang="en-US" dirty="0" err="1"/>
              <a:t>에</a:t>
            </a:r>
            <a:r>
              <a:rPr lang="ko-KR" altLang="en-US" dirty="0"/>
              <a:t> 역수를 취해주게 되면 다음을 우리가 알 수 있고</a:t>
            </a:r>
            <a:r>
              <a:rPr lang="en-US" altLang="ko-KR" dirty="0"/>
              <a:t>, theorem 6</a:t>
            </a:r>
            <a:r>
              <a:rPr lang="ko-KR" altLang="en-US" dirty="0"/>
              <a:t>로부터 </a:t>
            </a:r>
            <a:r>
              <a:rPr lang="en-US" altLang="ko-KR" dirty="0"/>
              <a:t>K+S</a:t>
            </a:r>
            <a:r>
              <a:rPr lang="ko-KR" altLang="en-US" dirty="0"/>
              <a:t>의 </a:t>
            </a:r>
            <a:r>
              <a:rPr lang="en-US" altLang="ko-KR" dirty="0"/>
              <a:t>eigenvalue </a:t>
            </a:r>
            <a:r>
              <a:rPr lang="ko-KR" altLang="en-US" dirty="0"/>
              <a:t>값을 </a:t>
            </a:r>
            <a:r>
              <a:rPr lang="en-US" altLang="ko-KR" dirty="0"/>
              <a:t>bound</a:t>
            </a:r>
            <a:r>
              <a:rPr lang="ko-KR" altLang="en-US" dirty="0"/>
              <a:t>할 수 있음을 이미 알고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 </a:t>
            </a:r>
            <a:r>
              <a:rPr lang="en-US" altLang="ko-KR" dirty="0"/>
              <a:t>inequality</a:t>
            </a:r>
            <a:r>
              <a:rPr lang="ko-KR" altLang="en-US" dirty="0"/>
              <a:t>들을 합하여 다음을 얻을 수 있습니다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071A94-6CDE-D621-64BB-2C21F3A5E1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8D64D0-3142-4BB6-B63D-E0F3719DA9D1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835874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37CFD-FA96-A1A4-5BCB-C54A30495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6DAAB44-6154-FA5A-A1E5-19F462EF21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623BF32-75C7-7EAB-0AA4-0B721C89B5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K+S</a:t>
            </a:r>
            <a:r>
              <a:rPr lang="ko-KR" altLang="en-US" dirty="0" err="1"/>
              <a:t>에</a:t>
            </a:r>
            <a:r>
              <a:rPr lang="ko-KR" altLang="en-US" dirty="0"/>
              <a:t> 대해서도 동일한 과정을 해줄 수 있습니다</a:t>
            </a:r>
            <a:r>
              <a:rPr lang="en-US" altLang="ko-KR" dirty="0"/>
              <a:t>. Theorem 5</a:t>
            </a:r>
            <a:r>
              <a:rPr lang="ko-KR" altLang="en-US" dirty="0"/>
              <a:t>와 </a:t>
            </a:r>
            <a:r>
              <a:rPr lang="en-US" altLang="ko-KR" dirty="0"/>
              <a:t>6</a:t>
            </a:r>
            <a:r>
              <a:rPr lang="ko-KR" altLang="en-US" dirty="0" err="1"/>
              <a:t>를</a:t>
            </a:r>
            <a:r>
              <a:rPr lang="ko-KR" altLang="en-US" dirty="0"/>
              <a:t> 통해 </a:t>
            </a:r>
            <a:r>
              <a:rPr lang="en-US" altLang="ko-KR" dirty="0"/>
              <a:t>\theta hat</a:t>
            </a:r>
            <a:r>
              <a:rPr lang="ko-KR" altLang="en-US" dirty="0"/>
              <a:t>을 추가했을 때 </a:t>
            </a:r>
            <a:r>
              <a:rPr lang="en-US" altLang="ko-KR" dirty="0"/>
              <a:t>empirical risk</a:t>
            </a:r>
            <a:r>
              <a:rPr lang="ko-KR" altLang="en-US" dirty="0" err="1"/>
              <a:t>를</a:t>
            </a:r>
            <a:r>
              <a:rPr lang="ko-KR" altLang="en-US" dirty="0"/>
              <a:t> </a:t>
            </a:r>
            <a:r>
              <a:rPr lang="en-US" altLang="ko-KR" dirty="0"/>
              <a:t>bound</a:t>
            </a:r>
            <a:r>
              <a:rPr lang="ko-KR" altLang="en-US" dirty="0"/>
              <a:t>해주는 과정입니다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0CF32C-EEEA-D617-0298-5D267B133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8D64D0-3142-4BB6-B63D-E0F3719DA9D1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146047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05959-8762-E76E-1135-BE5A69B6A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F58C492-BD70-DC0E-27A4-3120324C8F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8A9A28F-8CAD-80F8-E870-308BE1B686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ore-KR" altLang="en-US" dirty="0"/>
              <a:t>이 두가지 </a:t>
            </a:r>
            <a:r>
              <a:rPr lang="en-US" altLang="ko-Kore-KR" dirty="0"/>
              <a:t>inequality</a:t>
            </a:r>
            <a:r>
              <a:rPr lang="ko-Kore-KR" altLang="en-US" dirty="0"/>
              <a:t>를 합하고</a:t>
            </a:r>
            <a:r>
              <a:rPr lang="en-US" altLang="ko-Kore-KR" dirty="0"/>
              <a:t>, condition number</a:t>
            </a:r>
            <a:r>
              <a:rPr lang="ko-Kore-KR" altLang="en-US" dirty="0"/>
              <a:t>가 어떤 </a:t>
            </a:r>
            <a:r>
              <a:rPr lang="en-US" altLang="ko-Kore-KR" dirty="0"/>
              <a:t>c</a:t>
            </a:r>
            <a:r>
              <a:rPr lang="ko-Kore-KR" altLang="en-US" dirty="0"/>
              <a:t>로 바운드 되어있다고 하면 다음과 같이 </a:t>
            </a:r>
            <a:r>
              <a:rPr lang="en-US" altLang="ko-Kore-KR" dirty="0"/>
              <a:t>theorem 7</a:t>
            </a:r>
            <a:r>
              <a:rPr lang="ko-Kore-KR" altLang="en-US" dirty="0"/>
              <a:t>의 식을 얻을 수 있게 됩니다</a:t>
            </a:r>
            <a:r>
              <a:rPr lang="en-US" altLang="ko-Kore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사실 여기서 저자가 별다른 언급 없이 </a:t>
            </a:r>
            <a:r>
              <a:rPr lang="en-US" altLang="ko-KR" dirty="0"/>
              <a:t>\eta</a:t>
            </a:r>
            <a:r>
              <a:rPr lang="ko-KR" altLang="en-US" dirty="0"/>
              <a:t>가 </a:t>
            </a:r>
            <a:r>
              <a:rPr lang="en-US" altLang="ko-KR" dirty="0"/>
              <a:t>0</a:t>
            </a:r>
            <a:r>
              <a:rPr lang="ko-KR" altLang="en-US" dirty="0"/>
              <a:t>과 </a:t>
            </a:r>
            <a:r>
              <a:rPr lang="en-US" altLang="ko-KR" dirty="0"/>
              <a:t>1</a:t>
            </a:r>
            <a:r>
              <a:rPr lang="ko-KR" altLang="en-US" dirty="0"/>
              <a:t>사이라고 가정하고 증명을 전개하는데</a:t>
            </a:r>
            <a:r>
              <a:rPr lang="en-US" altLang="ko-KR" dirty="0"/>
              <a:t>, </a:t>
            </a:r>
            <a:r>
              <a:rPr lang="ko-KR" altLang="en-US" dirty="0"/>
              <a:t>사실 뭐 이 가정이 항상 성립하지는 </a:t>
            </a:r>
            <a:r>
              <a:rPr lang="ko-Kore-KR" altLang="en-US" dirty="0"/>
              <a:t>않을 거라 생각하기는 하고</a:t>
            </a:r>
            <a:r>
              <a:rPr lang="en-US" altLang="ko-Kore-KR" dirty="0"/>
              <a:t>,</a:t>
            </a:r>
            <a:endParaRPr lang="en-US" altLang="ko-KR" dirty="0"/>
          </a:p>
          <a:p>
            <a:r>
              <a:rPr lang="ko-KR" altLang="en-US" dirty="0"/>
              <a:t>또</a:t>
            </a:r>
            <a:r>
              <a:rPr lang="en-US" altLang="ko-KR" dirty="0"/>
              <a:t>, c</a:t>
            </a:r>
            <a:r>
              <a:rPr lang="ko-KR" altLang="en-US" dirty="0"/>
              <a:t>로 </a:t>
            </a:r>
            <a:r>
              <a:rPr lang="en-US" altLang="ko-KR" dirty="0"/>
              <a:t>bound</a:t>
            </a:r>
            <a:r>
              <a:rPr lang="ko-KR" altLang="en-US" dirty="0"/>
              <a:t> 해준 게 사실 의미가 </a:t>
            </a:r>
            <a:r>
              <a:rPr lang="ko-KR" altLang="en-US" dirty="0" err="1"/>
              <a:t>있다기</a:t>
            </a:r>
            <a:r>
              <a:rPr lang="ko-KR" altLang="en-US" dirty="0"/>
              <a:t> 보다는 그냥 애매한 </a:t>
            </a:r>
            <a:r>
              <a:rPr lang="en-US" altLang="ko-KR" dirty="0"/>
              <a:t>term</a:t>
            </a:r>
            <a:r>
              <a:rPr lang="ko-KR" altLang="en-US" dirty="0"/>
              <a:t>을 날려버리기 위해서 해준 것이라</a:t>
            </a:r>
            <a:r>
              <a:rPr lang="en-US" altLang="ko-KR" dirty="0"/>
              <a:t>, </a:t>
            </a:r>
            <a:r>
              <a:rPr lang="ko-KR" altLang="en-US" dirty="0"/>
              <a:t>여러 의미로 조금 이상한 </a:t>
            </a:r>
            <a:r>
              <a:rPr lang="en-US" altLang="ko-KR" dirty="0"/>
              <a:t>theorem</a:t>
            </a:r>
            <a:r>
              <a:rPr lang="ko-KR" altLang="en-US" dirty="0"/>
              <a:t>인 것 같다는 생각이 있습니다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A02F03-425E-25F0-53C3-9EF58A9DBD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8D64D0-3142-4BB6-B63D-E0F3719DA9D1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18083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BAFE3-7528-6BE8-F007-73123B81E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D07847-30D9-A1EF-DCD5-937F40DFF0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E53F54-DEFF-D3AE-FCC8-D053CC9068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E08879-7E92-2D01-2FBC-4C3227FB4C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DC86C2-9417-D242-957F-07D0C93E50AF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91979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0DEE7-A862-482B-3669-01A63245D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D8050E7-6B7E-84D1-8265-FD8484E5E3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B2D2775-155E-D12A-769A-EE88FCA4C3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ore-KR" altLang="en-US" dirty="0"/>
              <a:t>다음은 </a:t>
            </a:r>
            <a:r>
              <a:rPr lang="en-US" altLang="ko-Kore-KR" dirty="0"/>
              <a:t>experiment section</a:t>
            </a:r>
            <a:r>
              <a:rPr lang="ko-Kore-KR" altLang="en-US" dirty="0"/>
              <a:t>입니다</a:t>
            </a:r>
            <a:r>
              <a:rPr lang="en-US" altLang="ko-Kore-KR" dirty="0"/>
              <a:t>. </a:t>
            </a:r>
            <a:r>
              <a:rPr lang="ko-Kore-KR" altLang="en-US" dirty="0"/>
              <a:t>여기서 저자들이 보인 것은 첫번째로 실제로 </a:t>
            </a:r>
            <a:r>
              <a:rPr lang="en-US" altLang="ko-Kore-KR" dirty="0" err="1"/>
              <a:t>regulariezr</a:t>
            </a:r>
            <a:r>
              <a:rPr lang="ko-Kore-KR" altLang="en-US" dirty="0"/>
              <a:t>가 </a:t>
            </a:r>
            <a:r>
              <a:rPr lang="en-US" altLang="ko-Kore-KR" dirty="0"/>
              <a:t>model</a:t>
            </a:r>
            <a:r>
              <a:rPr lang="ko-Kore-KR" altLang="en-US" dirty="0"/>
              <a:t>을 </a:t>
            </a:r>
            <a:r>
              <a:rPr lang="en-US" altLang="ko-Kore-KR" dirty="0"/>
              <a:t>linear</a:t>
            </a:r>
            <a:r>
              <a:rPr lang="ko-Kore-KR" altLang="en-US" dirty="0"/>
              <a:t>하게 만드는지와 </a:t>
            </a:r>
            <a:r>
              <a:rPr lang="en-US" altLang="ko-Kore-KR" dirty="0"/>
              <a:t>matrix K</a:t>
            </a:r>
            <a:r>
              <a:rPr lang="ko-Kore-KR" altLang="en-US" dirty="0"/>
              <a:t>의 </a:t>
            </a:r>
            <a:r>
              <a:rPr lang="en-US" altLang="ko-Kore-KR" dirty="0"/>
              <a:t>condition number</a:t>
            </a:r>
            <a:r>
              <a:rPr lang="ko-Kore-KR" altLang="en-US" dirty="0"/>
              <a:t>가 실제로 </a:t>
            </a:r>
            <a:r>
              <a:rPr lang="en-US" altLang="ko-Kore-KR" dirty="0"/>
              <a:t>empirical risk</a:t>
            </a:r>
            <a:r>
              <a:rPr lang="ko-Kore-KR" altLang="en-US" dirty="0"/>
              <a:t>와 관계가 있는 지를 보였습니다</a:t>
            </a:r>
            <a:r>
              <a:rPr lang="en-US" altLang="ko-Kore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몇가지 참고하시면 좋은 사항은 저자들의 </a:t>
            </a:r>
            <a:r>
              <a:rPr lang="en-US" altLang="ko-KR" dirty="0"/>
              <a:t>theoretical finding</a:t>
            </a:r>
            <a:r>
              <a:rPr lang="ko-KR" altLang="en-US" dirty="0"/>
              <a:t>이</a:t>
            </a:r>
            <a:r>
              <a:rPr lang="en-US" altLang="ko-KR" dirty="0"/>
              <a:t> experiment</a:t>
            </a:r>
            <a:r>
              <a:rPr lang="ko-KR" altLang="en-US" dirty="0"/>
              <a:t>에서는 조금 다르게 쓰였다는 점입니다</a:t>
            </a:r>
            <a:r>
              <a:rPr lang="en-US" altLang="ko-KR" dirty="0"/>
              <a:t>. </a:t>
            </a:r>
            <a:r>
              <a:rPr lang="ko-KR" altLang="en-US" dirty="0"/>
              <a:t>가장 중요하게는 </a:t>
            </a:r>
            <a:r>
              <a:rPr lang="en-US" altLang="ko-KR" dirty="0"/>
              <a:t>loss function</a:t>
            </a:r>
            <a:r>
              <a:rPr lang="ko-KR" altLang="en-US" dirty="0"/>
              <a:t>이 바뀌었고</a:t>
            </a:r>
            <a:r>
              <a:rPr lang="en-US" altLang="ko-KR" dirty="0"/>
              <a:t>, GD</a:t>
            </a:r>
            <a:r>
              <a:rPr lang="ko-KR" altLang="en-US" dirty="0"/>
              <a:t>에서 </a:t>
            </a:r>
            <a:r>
              <a:rPr lang="en-US" altLang="ko-KR" dirty="0" err="1"/>
              <a:t>AdamW</a:t>
            </a:r>
            <a:r>
              <a:rPr lang="ko-KR" altLang="en-US" dirty="0"/>
              <a:t>로 </a:t>
            </a:r>
            <a:r>
              <a:rPr lang="en-US" altLang="ko-KR" dirty="0"/>
              <a:t>optimizer </a:t>
            </a:r>
            <a:r>
              <a:rPr lang="ko-KR" altLang="en-US" dirty="0"/>
              <a:t>또한 변경되었습니다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886CBB-AA4A-18CF-4B34-3147A9D250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8D64D0-3142-4BB6-B63D-E0F3719DA9D1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266424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E90ED-2048-4CE1-599E-2A6FC7565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E25B4C3-F509-4DB9-34E3-308AD59C99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4FABB35-7F8D-67D8-387D-5E66E5A9C5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ore-KR" altLang="en-US" dirty="0"/>
              <a:t>우선 </a:t>
            </a:r>
            <a:r>
              <a:rPr lang="en-US" altLang="ko-Kore-KR" dirty="0" err="1"/>
              <a:t>regularizer</a:t>
            </a:r>
            <a:r>
              <a:rPr lang="ko-Kore-KR" altLang="en-US" dirty="0"/>
              <a:t>가 실제로 </a:t>
            </a:r>
            <a:r>
              <a:rPr lang="en-US" altLang="ko-Kore-KR" dirty="0"/>
              <a:t>model</a:t>
            </a:r>
            <a:r>
              <a:rPr lang="ko-Kore-KR" altLang="en-US" dirty="0"/>
              <a:t>을 </a:t>
            </a:r>
            <a:r>
              <a:rPr lang="en-US" altLang="ko-Kore-KR" dirty="0"/>
              <a:t>linear</a:t>
            </a:r>
            <a:r>
              <a:rPr lang="ko-Kore-KR" altLang="en-US" dirty="0"/>
              <a:t>하게 만드는 지에 대한 실험입니다</a:t>
            </a:r>
            <a:r>
              <a:rPr lang="en-US" altLang="ko-Kore-KR" dirty="0"/>
              <a:t>.</a:t>
            </a:r>
          </a:p>
          <a:p>
            <a:endParaRPr lang="en-US" altLang="ko-KR" dirty="0"/>
          </a:p>
          <a:p>
            <a:r>
              <a:rPr lang="en-US" altLang="ko-KR" dirty="0" err="1"/>
              <a:t>Regularizer</a:t>
            </a:r>
            <a:r>
              <a:rPr lang="ko-KR" altLang="en-US" dirty="0"/>
              <a:t>의 영향력을 크게 조정해줄수록 </a:t>
            </a:r>
            <a:r>
              <a:rPr lang="en-US" altLang="ko-KR" dirty="0"/>
              <a:t>linear model</a:t>
            </a:r>
            <a:r>
              <a:rPr lang="ko-KR" altLang="en-US" dirty="0"/>
              <a:t>과의 </a:t>
            </a:r>
            <a:r>
              <a:rPr lang="en-US" altLang="ko-KR" dirty="0"/>
              <a:t>output distance</a:t>
            </a:r>
            <a:r>
              <a:rPr lang="ko-KR" altLang="en-US" dirty="0"/>
              <a:t> 및 </a:t>
            </a:r>
            <a:r>
              <a:rPr lang="en-US" altLang="ko-KR" dirty="0"/>
              <a:t>KL divergence</a:t>
            </a:r>
            <a:r>
              <a:rPr lang="ko-KR" altLang="en-US" dirty="0"/>
              <a:t>가 </a:t>
            </a:r>
            <a:r>
              <a:rPr lang="ko-KR" altLang="en-US" dirty="0" err="1"/>
              <a:t>작아짐을</a:t>
            </a:r>
            <a:r>
              <a:rPr lang="ko-KR" altLang="en-US" dirty="0"/>
              <a:t> 볼 수 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1F8933-A7EA-04F7-A774-CCCB2E86DC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8D64D0-3142-4BB6-B63D-E0F3719DA9D1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302972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355B0-E1CF-19E4-8940-6FC565E39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E8FC7C9-F0A9-5A8A-A8C0-5A28414C8E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A18DF2B-B2A8-739E-0B70-127D1096B6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다음은 </a:t>
            </a:r>
            <a:r>
              <a:rPr lang="en-US" altLang="ko-KR" dirty="0"/>
              <a:t>condition number</a:t>
            </a:r>
            <a:r>
              <a:rPr lang="ko-KR" altLang="en-US" dirty="0"/>
              <a:t>가 </a:t>
            </a:r>
            <a:r>
              <a:rPr lang="en-US" altLang="ko-KR" dirty="0"/>
              <a:t>empirical risk</a:t>
            </a:r>
            <a:r>
              <a:rPr lang="ko-KR" altLang="en-US" dirty="0" err="1"/>
              <a:t>를</a:t>
            </a:r>
            <a:r>
              <a:rPr lang="ko-KR" altLang="en-US" dirty="0"/>
              <a:t> 정말로 </a:t>
            </a:r>
            <a:r>
              <a:rPr lang="en-US" altLang="ko-KR" dirty="0"/>
              <a:t>bound </a:t>
            </a:r>
            <a:r>
              <a:rPr lang="ko-KR" altLang="en-US" dirty="0"/>
              <a:t>하는지에 대한 실험입니다</a:t>
            </a:r>
            <a:r>
              <a:rPr lang="en-US" altLang="ko-KR" dirty="0"/>
              <a:t>. (a)</a:t>
            </a:r>
            <a:r>
              <a:rPr lang="ko-KR" altLang="en-US" dirty="0"/>
              <a:t>와 </a:t>
            </a:r>
            <a:r>
              <a:rPr lang="en-US" altLang="ko-KR" dirty="0"/>
              <a:t>(b)</a:t>
            </a:r>
            <a:r>
              <a:rPr lang="ko-KR" altLang="en-US" dirty="0" err="1"/>
              <a:t>를</a:t>
            </a:r>
            <a:r>
              <a:rPr lang="ko-KR" altLang="en-US" dirty="0"/>
              <a:t> 보시면 </a:t>
            </a:r>
            <a:r>
              <a:rPr lang="en-US" altLang="ko-KR" dirty="0"/>
              <a:t>condition number</a:t>
            </a:r>
            <a:r>
              <a:rPr lang="ko-KR" altLang="en-US" dirty="0"/>
              <a:t>가 클수록 </a:t>
            </a:r>
            <a:r>
              <a:rPr lang="en-US" altLang="ko-KR" dirty="0"/>
              <a:t>converge </a:t>
            </a:r>
            <a:r>
              <a:rPr lang="ko-KR" altLang="en-US" dirty="0"/>
              <a:t>했을 때의 </a:t>
            </a:r>
            <a:r>
              <a:rPr lang="en-US" altLang="ko-KR" dirty="0"/>
              <a:t>train loss</a:t>
            </a:r>
            <a:r>
              <a:rPr lang="ko-KR" altLang="en-US" dirty="0"/>
              <a:t>가 점점 커짐을 관찰할 수 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AFEA7C-F08E-6D77-1362-C39A0CF058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8D64D0-3142-4BB6-B63D-E0F3719DA9D1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86863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C5673-73C8-75DF-A713-330A68619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DE4D0F-6AA4-44E3-8F5A-39D134D19A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53E9A2-51AF-BAEB-D1A9-ACF38FC83A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AFF3C1-2CF6-4794-FBDF-9446EE2C5A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DC86C2-9417-D242-957F-07D0C93E50AF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30553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E18F6-5F5B-9DB9-8B43-AE9649040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BDAA74C-F8F6-9039-9903-591171842D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E675B39-BE3A-043A-ED1C-C69A4EBB66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F0C313-1EAD-F23B-1B38-E43608784C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8D64D0-3142-4BB6-B63D-E0F3719DA9D1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479815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DC86C2-9417-D242-957F-07D0C93E50AF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44400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328CB-D813-883A-1C67-56D797FA6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1FB79AD-73D9-3B71-1CF4-586D211847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E515183-5604-11A0-780E-14D0E84BA6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222BF4-601F-B1A4-0771-3BABE31CF1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8D64D0-3142-4BB6-B63D-E0F3719DA9D1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566609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6DF1E-C457-FA60-540E-55DE4F4B3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1D77F79-9B34-AFED-D3F5-3B98C77AB5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66AC02A-3BBF-E97D-8DD7-92EAD92AAD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65F9AB-9286-990E-B3A6-594FB45283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8D64D0-3142-4BB6-B63D-E0F3719DA9D1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720222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C253E-7755-96AD-3B9F-0A6437E0F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20D118A-FCF6-5E24-1B1B-1A1F79E5D0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69549CC-5FF3-CE3C-3A16-F73F746202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68E114-252E-4561-EA13-EBE92DB487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8D64D0-3142-4BB6-B63D-E0F3719DA9D1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61736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E5A84-D57E-16CF-7A53-4AB7AE975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5E6036-C43E-A2D3-BB80-B5D4FD6C56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3C6DE8B-83E4-6E97-7D53-06E1F42DD3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7C90E4-9E40-BBA1-6B36-2FEBBFAE6A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8D64D0-3142-4BB6-B63D-E0F3719DA9D1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40117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-1604"/>
            <a:ext cx="12192001" cy="685960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40000" y="1260000"/>
            <a:ext cx="5520000" cy="2340000"/>
          </a:xfrm>
        </p:spPr>
        <p:txBody>
          <a:bodyPr>
            <a:normAutofit/>
          </a:bodyPr>
          <a:lstStyle>
            <a:lvl1pPr>
              <a:defRPr sz="3200" b="0" i="0">
                <a:solidFill>
                  <a:schemeClr val="bg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40000" y="4320000"/>
            <a:ext cx="5712000" cy="1440000"/>
          </a:xfrm>
        </p:spPr>
        <p:txBody>
          <a:bodyPr>
            <a:normAutofit/>
          </a:bodyPr>
          <a:lstStyle>
            <a:lvl1pPr marL="0" indent="0" algn="ctr">
              <a:buNone/>
              <a:defRPr sz="2400" b="0" i="0" baseline="0">
                <a:solidFill>
                  <a:schemeClr val="bg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pic>
        <p:nvPicPr>
          <p:cNvPr id="5" name="그림 8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7" y="324000"/>
            <a:ext cx="6962004" cy="6516000"/>
          </a:xfrm>
          <a:prstGeom prst="rect">
            <a:avLst/>
          </a:prstGeom>
        </p:spPr>
      </p:pic>
      <p:grpSp>
        <p:nvGrpSpPr>
          <p:cNvPr id="6" name="그룹 4"/>
          <p:cNvGrpSpPr/>
          <p:nvPr userDrawn="1"/>
        </p:nvGrpSpPr>
        <p:grpSpPr>
          <a:xfrm flipH="1">
            <a:off x="6000000" y="5868000"/>
            <a:ext cx="5520000" cy="720000"/>
            <a:chOff x="2576698" y="6012000"/>
            <a:chExt cx="3105001" cy="720000"/>
          </a:xfrm>
        </p:grpSpPr>
        <p:cxnSp>
          <p:nvCxnSpPr>
            <p:cNvPr id="7" name="직선 연결선 5"/>
            <p:cNvCxnSpPr/>
            <p:nvPr/>
          </p:nvCxnSpPr>
          <p:spPr>
            <a:xfrm flipH="1">
              <a:off x="2576698" y="6732000"/>
              <a:ext cx="2160001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6"/>
            <p:cNvCxnSpPr/>
            <p:nvPr/>
          </p:nvCxnSpPr>
          <p:spPr>
            <a:xfrm flipH="1">
              <a:off x="4736699" y="6012000"/>
              <a:ext cx="945000" cy="7200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그룹 7"/>
          <p:cNvGrpSpPr/>
          <p:nvPr userDrawn="1"/>
        </p:nvGrpSpPr>
        <p:grpSpPr>
          <a:xfrm rot="10800000" flipH="1">
            <a:off x="6096001" y="504000"/>
            <a:ext cx="5520001" cy="720000"/>
            <a:chOff x="822199" y="6015205"/>
            <a:chExt cx="3105001" cy="720000"/>
          </a:xfrm>
        </p:grpSpPr>
        <p:cxnSp>
          <p:nvCxnSpPr>
            <p:cNvPr id="10" name="직선 연결선 9"/>
            <p:cNvCxnSpPr/>
            <p:nvPr/>
          </p:nvCxnSpPr>
          <p:spPr>
            <a:xfrm rot="10800000">
              <a:off x="822199" y="6735205"/>
              <a:ext cx="2295000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/>
            <p:cNvCxnSpPr/>
            <p:nvPr/>
          </p:nvCxnSpPr>
          <p:spPr>
            <a:xfrm rot="10800000" flipV="1">
              <a:off x="3117200" y="6015205"/>
              <a:ext cx="810000" cy="7200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0494067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448DF4E3-1F4A-4D56-8C00-3A43F39C13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-1604"/>
            <a:ext cx="12192001" cy="685960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421E764-D096-4C19-82AD-7553DB19D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9124" y="3130542"/>
            <a:ext cx="11802533" cy="595312"/>
          </a:xfrm>
        </p:spPr>
        <p:txBody>
          <a:bodyPr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047555672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1685" y="3648941"/>
            <a:ext cx="2833844" cy="4267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7960" y="2550857"/>
            <a:ext cx="11056081" cy="1294790"/>
          </a:xfrm>
        </p:spPr>
        <p:txBody>
          <a:bodyPr anchor="b">
            <a:normAutofit/>
          </a:bodyPr>
          <a:lstStyle>
            <a:lvl1pPr algn="l">
              <a:defRPr sz="4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7960" y="4148242"/>
            <a:ext cx="11056081" cy="1655762"/>
          </a:xfrm>
        </p:spPr>
        <p:txBody>
          <a:bodyPr/>
          <a:lstStyle>
            <a:lvl1pPr marL="0" indent="0" algn="l">
              <a:buNone/>
              <a:defRPr sz="2400" i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sp>
        <p:nvSpPr>
          <p:cNvPr id="10" name="직사각형 9"/>
          <p:cNvSpPr/>
          <p:nvPr userDrawn="1"/>
        </p:nvSpPr>
        <p:spPr>
          <a:xfrm>
            <a:off x="567959" y="3989995"/>
            <a:ext cx="8173977" cy="45719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lvl="0"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1738545280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4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900237"/>
            <a:ext cx="10363200" cy="1143000"/>
          </a:xfrm>
        </p:spPr>
        <p:txBody>
          <a:bodyPr/>
          <a:lstStyle>
            <a:lvl1pPr algn="ctr">
              <a:defRPr sz="4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altLang="ko-KR" dirty="0"/>
          </a:p>
        </p:txBody>
      </p:sp>
      <p:sp>
        <p:nvSpPr>
          <p:cNvPr id="9594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08998" y="4422788"/>
            <a:ext cx="9774005" cy="1103146"/>
          </a:xfrm>
        </p:spPr>
        <p:txBody>
          <a:bodyPr/>
          <a:lstStyle>
            <a:lvl1pPr marL="0" indent="0" algn="ctr">
              <a:lnSpc>
                <a:spcPct val="95000"/>
              </a:lnSpc>
              <a:buFontTx/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ko-KR" altLang="en-US"/>
              <a:t>클릭하여 마스터 부제목 스타일 편집</a:t>
            </a:r>
            <a:endParaRPr lang="en-US" altLang="ko-KR" dirty="0"/>
          </a:p>
        </p:txBody>
      </p:sp>
      <p:sp>
        <p:nvSpPr>
          <p:cNvPr id="4" name="Line 18"/>
          <p:cNvSpPr>
            <a:spLocks noChangeShapeType="1"/>
          </p:cNvSpPr>
          <p:nvPr/>
        </p:nvSpPr>
        <p:spPr bwMode="auto">
          <a:xfrm flipV="1">
            <a:off x="218017" y="3962400"/>
            <a:ext cx="11794067" cy="0"/>
          </a:xfrm>
          <a:prstGeom prst="line">
            <a:avLst/>
          </a:prstGeom>
          <a:noFill/>
          <a:ln w="57150">
            <a:solidFill>
              <a:srgbClr val="24303C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 sz="1800">
              <a:solidFill>
                <a:prstClr val="black"/>
              </a:solidFill>
              <a:latin typeface="Tahoma"/>
            </a:endParaRPr>
          </a:p>
        </p:txBody>
      </p:sp>
      <p:pic>
        <p:nvPicPr>
          <p:cNvPr id="6" name="그림 8">
            <a:extLst>
              <a:ext uri="{FF2B5EF4-FFF2-40B4-BE49-F238E27FC236}">
                <a16:creationId xmlns:a16="http://schemas.microsoft.com/office/drawing/2014/main" id="{51133B1F-C11D-44E5-97BC-E3916F0BCB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35" y="6560091"/>
            <a:ext cx="2552019" cy="264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369087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200">
                <a:solidFill>
                  <a:srgbClr val="002060"/>
                </a:solidFill>
                <a:latin typeface="Arial Nova" panose="020B0504020202020204" pitchFamily="34" charset="0"/>
                <a:ea typeface="+mn-ea"/>
                <a:cs typeface="Helvetica Neue" panose="02000503000000020004" pitchFamily="2" charset="0"/>
              </a:defRPr>
            </a:lvl1pPr>
          </a:lstStyle>
          <a:p>
            <a:r>
              <a:rPr lang="en-US" altLang="ko-KR" dirty="0" err="1"/>
              <a:t>dddd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1" y="1091565"/>
            <a:ext cx="11781367" cy="5309237"/>
          </a:xfrm>
        </p:spPr>
        <p:txBody>
          <a:bodyPr/>
          <a:lstStyle>
            <a:lvl1pPr marL="457200" indent="-457200">
              <a:lnSpc>
                <a:spcPct val="120000"/>
              </a:lnSpc>
              <a:buClr>
                <a:srgbClr val="011893"/>
              </a:buClr>
              <a:buFont typeface="Wingdings" panose="05000000000000000000" pitchFamily="2" charset="2"/>
              <a:buChar char="l"/>
              <a:defRPr sz="2400" b="0" i="0">
                <a:latin typeface="Arial Nova" panose="020B0504020202020204" pitchFamily="34" charset="0"/>
                <a:ea typeface="Malgun Gothic" panose="020B0503020000020004" pitchFamily="34" charset="-127"/>
                <a:cs typeface="Helvetica Neue Medium" panose="02000503000000020004" pitchFamily="2" charset="0"/>
              </a:defRPr>
            </a:lvl1pPr>
            <a:lvl2pPr marL="625475" indent="-342900">
              <a:lnSpc>
                <a:spcPct val="120000"/>
              </a:lnSpc>
              <a:buClr>
                <a:srgbClr val="011893"/>
              </a:buClr>
              <a:buFont typeface="Wingdings" panose="05000000000000000000" pitchFamily="2" charset="2"/>
              <a:buChar char="§"/>
              <a:defRPr sz="1800" b="0" i="0">
                <a:latin typeface="Arial Nova" panose="020B0504020202020204" pitchFamily="34" charset="0"/>
                <a:ea typeface="Malgun Gothic" panose="020B0503020000020004" pitchFamily="34" charset="-127"/>
                <a:cs typeface="Helvetica Neue" panose="02000503000000020004" pitchFamily="2" charset="0"/>
              </a:defRPr>
            </a:lvl2pPr>
            <a:lvl3pPr marL="858837" indent="-285750">
              <a:lnSpc>
                <a:spcPct val="120000"/>
              </a:lnSpc>
              <a:buClr>
                <a:srgbClr val="011893"/>
              </a:buClr>
              <a:buFont typeface="Arial" panose="020B0604020202020204" pitchFamily="34" charset="0"/>
              <a:buChar char="•"/>
              <a:defRPr sz="1400" b="0" i="0">
                <a:latin typeface="Arial Nova" panose="020B0504020202020204" pitchFamily="34" charset="0"/>
                <a:ea typeface="Malgun Gothic" panose="020B0503020000020004" pitchFamily="34" charset="-127"/>
                <a:cs typeface="Helvetica Neue" panose="02000503000000020004" pitchFamily="2" charset="0"/>
              </a:defRPr>
            </a:lvl3pPr>
            <a:lvl4pPr marL="1089025" indent="-285750">
              <a:lnSpc>
                <a:spcPct val="120000"/>
              </a:lnSpc>
              <a:buClr>
                <a:srgbClr val="011893"/>
              </a:buClr>
              <a:buFont typeface="Arial" panose="020B0604020202020204" pitchFamily="34" charset="0"/>
              <a:buChar char="•"/>
              <a:defRPr sz="1400" b="0" i="0">
                <a:latin typeface="Arial Nova" panose="020B0504020202020204" pitchFamily="34" charset="0"/>
                <a:ea typeface="Malgun Gothic" panose="020B0503020000020004" pitchFamily="34" charset="-127"/>
                <a:cs typeface="Helvetica Neue" panose="02000503000000020004" pitchFamily="2" charset="0"/>
              </a:defRPr>
            </a:lvl4pPr>
            <a:lvl5pPr marL="1196975" indent="-171450">
              <a:lnSpc>
                <a:spcPct val="120000"/>
              </a:lnSpc>
              <a:buClr>
                <a:srgbClr val="011893"/>
              </a:buClr>
              <a:buFont typeface="Arial" panose="020B0604020202020204" pitchFamily="34" charset="0"/>
              <a:buChar char="•"/>
              <a:defRPr sz="1400" b="0" i="0">
                <a:latin typeface="Arial Nova" panose="020B0504020202020204" pitchFamily="34" charset="0"/>
                <a:ea typeface="Malgun Gothic" panose="020B0503020000020004" pitchFamily="34" charset="-127"/>
                <a:cs typeface="Helvetica Neue" panose="02000503000000020004" pitchFamily="2" charset="0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38503978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886559537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1" y="801688"/>
            <a:ext cx="5789084" cy="5884862"/>
          </a:xfrm>
        </p:spPr>
        <p:txBody>
          <a:bodyPr/>
          <a:lstStyle>
            <a:lvl1pPr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20884" y="801688"/>
            <a:ext cx="5789083" cy="5884862"/>
          </a:xfrm>
        </p:spPr>
        <p:txBody>
          <a:bodyPr/>
          <a:lstStyle>
            <a:lvl1pPr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971129453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400332736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9788503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37" y="67613"/>
            <a:ext cx="6815667" cy="5853113"/>
          </a:xfrm>
        </p:spPr>
        <p:txBody>
          <a:bodyPr/>
          <a:lstStyle>
            <a:lvl1pPr>
              <a:buClr>
                <a:srgbClr val="C00000"/>
              </a:buCl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rgbClr val="C00000"/>
              </a:buClr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rgbClr val="C00000"/>
              </a:buCl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175956512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ko-KR" altLang="en-US" noProof="0"/>
              <a:t>그림을 추가하려면 아이콘을 클릭하십시오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910387693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buClr>
                <a:srgbClr val="C00000"/>
              </a:buClr>
              <a:defRPr/>
            </a:lvl1pPr>
            <a:lvl2pPr>
              <a:buClr>
                <a:srgbClr val="C00000"/>
              </a:buClr>
              <a:defRPr/>
            </a:lvl2pPr>
            <a:lvl3pPr>
              <a:buClr>
                <a:srgbClr val="C00000"/>
              </a:buClr>
              <a:defRPr/>
            </a:lvl3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67289271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67801" y="144464"/>
            <a:ext cx="2950633" cy="654208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5901" y="144464"/>
            <a:ext cx="8648700" cy="6542087"/>
          </a:xfrm>
        </p:spPr>
        <p:txBody>
          <a:bodyPr vert="eaVert"/>
          <a:lstStyle>
            <a:lvl1pPr>
              <a:buClr>
                <a:srgbClr val="C00000"/>
              </a:buClr>
              <a:defRPr/>
            </a:lvl1pPr>
            <a:lvl2pPr>
              <a:buClr>
                <a:srgbClr val="C00000"/>
              </a:buClr>
              <a:defRPr/>
            </a:lvl2pPr>
            <a:lvl3pPr>
              <a:buClr>
                <a:srgbClr val="C00000"/>
              </a:buClr>
              <a:defRPr/>
            </a:lvl3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48322252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1037A3-5D93-F94A-83C6-2ED3969E0E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4D05AA5-8DC5-9E46-A3F5-8A58506AE6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2DB1AC-7829-5243-96B6-AF43F841E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99722-1978-6445-B8A5-E4997512A2E0}" type="datetimeFigureOut">
              <a:rPr kumimoji="1" lang="ko-Kore-KR" altLang="en-US" smtClean="0"/>
              <a:t>12/13/2025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F4C837-37D6-AE47-AAD5-46BD1293E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FDA4DB-586A-C84F-BCC2-188213F26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3CB4B-84BA-F04A-93B1-82FFCD38D865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0478245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E79B0-A48E-714A-A53C-B7E4A97D2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D41B46-427E-8A43-BB9E-A2349047A3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60838D-03DC-6144-A530-B645926FA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99722-1978-6445-B8A5-E4997512A2E0}" type="datetimeFigureOut">
              <a:rPr kumimoji="1" lang="ko-Kore-KR" altLang="en-US" smtClean="0"/>
              <a:t>12/13/2025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1F2C69-0052-2E4D-AE72-E0FD1E00D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0787A7-020E-FA44-AA1B-338750860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3CB4B-84BA-F04A-93B1-82FFCD38D865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0292182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9617E0-E64F-EE43-A639-7C569F661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1983870-D429-3447-8017-DF9C005D16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2C3C35-7BE8-8743-AEEB-994004F14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99722-1978-6445-B8A5-E4997512A2E0}" type="datetimeFigureOut">
              <a:rPr kumimoji="1" lang="ko-Kore-KR" altLang="en-US" smtClean="0"/>
              <a:t>12/13/2025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8F06477-E66A-F947-87BC-EBF624F79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598BC9-0CF1-B04B-AB4B-AB5D7EB06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3CB4B-84BA-F04A-93B1-82FFCD38D865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5739018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B83B73-C9D3-D04B-B1B8-E5E68E201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2F6AE3-AD51-2149-B51C-D439075336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4090D5E-A7DE-E540-8831-F08AAB36C5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6292B1A-931A-1541-B3DC-9A4EFDF6F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99722-1978-6445-B8A5-E4997512A2E0}" type="datetimeFigureOut">
              <a:rPr kumimoji="1" lang="ko-Kore-KR" altLang="en-US" smtClean="0"/>
              <a:t>12/13/2025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E107227-0966-8347-BB1B-3A869983D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E981ACF-519E-7B45-9A95-9CD0F8A71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3CB4B-84BA-F04A-93B1-82FFCD38D865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9918772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9275A6-7F44-274E-AFF4-2C2F282FA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26AE440-8ABE-E94B-A5CB-F50AA3A620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149A5C5-98E6-3445-95C5-20040B1CDD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150191D-7EA7-874F-8499-0984C387ED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102E5DB-ABA4-C447-A36B-B05E9201B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22AA192-D10C-944D-A357-666CCB8D2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99722-1978-6445-B8A5-E4997512A2E0}" type="datetimeFigureOut">
              <a:rPr kumimoji="1" lang="ko-Kore-KR" altLang="en-US" smtClean="0"/>
              <a:t>12/13/2025</a:t>
            </a:fld>
            <a:endParaRPr kumimoji="1" lang="ko-Kore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D327DB8-C1F6-5D46-A520-F2F2A6F22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309CCC1-A2F5-074E-B722-D148A3210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3CB4B-84BA-F04A-93B1-82FFCD38D865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373849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9D8A26-272C-6849-BBA5-0ECDD172A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478498D-A00C-9440-83B8-03C320F8F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99722-1978-6445-B8A5-E4997512A2E0}" type="datetimeFigureOut">
              <a:rPr kumimoji="1" lang="ko-Kore-KR" altLang="en-US" smtClean="0"/>
              <a:t>12/13/2025</a:t>
            </a:fld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C6E86F8-8433-9644-9B1E-2EC82E58D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7CE6857-A324-F24D-A964-AFE2336AC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3CB4B-84BA-F04A-93B1-82FFCD38D865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56886020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25004CE-6F09-E84C-B5DA-2059E5105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99722-1978-6445-B8A5-E4997512A2E0}" type="datetimeFigureOut">
              <a:rPr kumimoji="1" lang="ko-Kore-KR" altLang="en-US" smtClean="0"/>
              <a:t>12/13/2025</a:t>
            </a:fld>
            <a:endParaRPr kumimoji="1" lang="ko-Kore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7C9C67B-2AFF-4243-A31A-F7B7ADB2D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7810CB-8BF6-C24F-B0A9-E35BF3878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3CB4B-84BA-F04A-93B1-82FFCD38D865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0034931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7D88A3-9F2D-7744-821C-F783FC8D7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AAEE4A-F926-EB43-86DE-4EF4E470FE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924F217-4715-8F4F-B14E-7CB03E4CF0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201D7DF-028D-F343-AE22-50147A969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99722-1978-6445-B8A5-E4997512A2E0}" type="datetimeFigureOut">
              <a:rPr kumimoji="1" lang="ko-Kore-KR" altLang="en-US" smtClean="0"/>
              <a:t>12/13/2025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B8F9E33-4CBA-BB43-AF03-31EEAC9F2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11F85FC-0D96-5E49-8CBB-39A63B640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3CB4B-84BA-F04A-93B1-82FFCD38D865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6279148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52A0B5-1BBD-6945-B2A3-A1EA58375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B59A033-BD4C-3346-812F-6AA18BD1CE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E577BA1-66F2-F746-864C-7967B2216B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A5DDA03-1520-8246-8DF7-6B1A73650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99722-1978-6445-B8A5-E4997512A2E0}" type="datetimeFigureOut">
              <a:rPr kumimoji="1" lang="ko-Kore-KR" altLang="en-US" smtClean="0"/>
              <a:t>12/13/2025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4601173-763B-BD4F-87EA-8F8519DFF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AB94D56-CF4E-D947-86E9-11D044321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3CB4B-84BA-F04A-93B1-82FFCD38D865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10499592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B81AFA-7F43-8A45-AA64-060D06CDC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B413F99-C720-C94E-9AC3-3D94A3DDFD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F84C91-F294-A14B-8C49-B2914A26B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99722-1978-6445-B8A5-E4997512A2E0}" type="datetimeFigureOut">
              <a:rPr kumimoji="1" lang="ko-Kore-KR" altLang="en-US" smtClean="0"/>
              <a:t>12/13/2025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A021F2-AC7E-6746-B0C9-F4D9236D8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9A563C-90F5-3046-B124-E1C4ABE5D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3CB4B-84BA-F04A-93B1-82FFCD38D865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11354375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95CA85C-D858-FC45-A2B1-38963F276F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B9DD2B-3199-A449-BF82-6A152E382A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9B7A21-2E71-944C-9A12-ED4BC5E67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99722-1978-6445-B8A5-E4997512A2E0}" type="datetimeFigureOut">
              <a:rPr kumimoji="1" lang="ko-Kore-KR" altLang="en-US" smtClean="0"/>
              <a:t>12/13/2025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12D2F6A-D4BB-1B47-A426-C26A91711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F50FE2-1C2B-9E4A-B420-09567DA05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3CB4B-84BA-F04A-93B1-82FFCD38D865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9672196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 sz="2800"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BC7709-D846-4E94-8676-9A13065D4BE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4049833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pc="-10" baseline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09600"/>
            <a:ext cx="12192000" cy="5867400"/>
          </a:xfrm>
        </p:spPr>
        <p:txBody>
          <a:bodyPr/>
          <a:lstStyle>
            <a:lvl1pPr>
              <a:lnSpc>
                <a:spcPct val="92000"/>
              </a:lnSpc>
              <a:defRPr kern="0" spc="-10" baseline="0">
                <a:ea typeface="+mn-ea"/>
              </a:defRPr>
            </a:lvl1pPr>
            <a:lvl2pPr marL="631825" indent="-287338">
              <a:lnSpc>
                <a:spcPct val="92000"/>
              </a:lnSpc>
              <a:defRPr kern="0" spc="-10" baseline="0">
                <a:ea typeface="+mn-ea"/>
              </a:defRPr>
            </a:lvl2pPr>
            <a:lvl3pPr marL="804863" indent="-228600">
              <a:lnSpc>
                <a:spcPct val="92000"/>
              </a:lnSpc>
              <a:buSzPct val="65000"/>
              <a:buFont typeface="Arial" pitchFamily="34" charset="0"/>
              <a:buChar char="–"/>
              <a:defRPr kern="0" spc="-10" baseline="0">
                <a:ea typeface="+mn-ea"/>
              </a:defRPr>
            </a:lvl3pPr>
            <a:lvl4pPr marL="977900" indent="-228600">
              <a:lnSpc>
                <a:spcPct val="92000"/>
              </a:lnSpc>
              <a:buSzPct val="50000"/>
              <a:buFont typeface="Arial" pitchFamily="34" charset="0"/>
              <a:buChar char="–"/>
              <a:defRPr kern="0" spc="-10" baseline="0">
                <a:ea typeface="+mn-ea"/>
              </a:defRPr>
            </a:lvl4pPr>
            <a:lvl5pPr marL="1090613" indent="-176213">
              <a:lnSpc>
                <a:spcPct val="92000"/>
              </a:lnSpc>
              <a:buSzPct val="100000"/>
              <a:buFont typeface="Arial" pitchFamily="34" charset="0"/>
              <a:buChar char="•"/>
              <a:defRPr kern="0" spc="-10" baseline="0">
                <a:ea typeface="+mn-ea"/>
              </a:defRPr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21A92D-4CAF-4B11-8E25-58DBEE69D71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6138823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BA4F81-4F80-434C-B463-8BA342AF47C2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3872320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D3E2F0-2E6F-4C51-BAFF-67788885C6D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849230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126784-713B-4389-B83D-B8B7D3B72AF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9575778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942036-294E-DB5F-4A34-D450D3E9CD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7B3D4EC-8744-E11C-AFB1-8105203E78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4C6E7B-B6C0-49CE-0872-E5DB31DCC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AFCD50-07A5-4F4E-791C-3CD63153B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13DACC-272C-DF2D-D330-B26687DEB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8620B-A437-4F0D-A730-8BB93955CB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8828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5900" y="144463"/>
            <a:ext cx="11802533" cy="7527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Slide Title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1" y="1051560"/>
            <a:ext cx="11781367" cy="54968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Body Text</a:t>
            </a:r>
          </a:p>
          <a:p>
            <a:pPr lvl="1"/>
            <a:r>
              <a:rPr lang="en-US" altLang="ko-KR" dirty="0"/>
              <a:t>Second Level</a:t>
            </a:r>
          </a:p>
          <a:p>
            <a:pPr lvl="2"/>
            <a:r>
              <a:rPr lang="en-US" altLang="ko-KR" dirty="0"/>
              <a:t>Third Level</a:t>
            </a:r>
          </a:p>
        </p:txBody>
      </p:sp>
      <p:sp>
        <p:nvSpPr>
          <p:cNvPr id="1028" name="Line 18"/>
          <p:cNvSpPr>
            <a:spLocks noChangeShapeType="1"/>
          </p:cNvSpPr>
          <p:nvPr/>
        </p:nvSpPr>
        <p:spPr bwMode="auto">
          <a:xfrm flipV="1">
            <a:off x="198966" y="975678"/>
            <a:ext cx="11794067" cy="0"/>
          </a:xfrm>
          <a:prstGeom prst="line">
            <a:avLst/>
          </a:prstGeom>
          <a:noFill/>
          <a:ln w="57150">
            <a:solidFill>
              <a:srgbClr val="24303C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 sz="1800">
              <a:solidFill>
                <a:prstClr val="black"/>
              </a:solidFill>
              <a:latin typeface="Tahom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56567" y="6555109"/>
            <a:ext cx="40267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eaLnBrk="0" hangingPunct="0"/>
            <a:fld id="{16E0590D-16E1-486A-A147-2F126A5F0FEE}" type="slidenum">
              <a:rPr lang="ko-KR" altLang="en-US" sz="1400" b="1" smtClean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pPr algn="ctr" eaLnBrk="0" hangingPunct="0"/>
              <a:t>‹#›</a:t>
            </a:fld>
            <a:endParaRPr lang="en-US" altLang="ko-KR" sz="1400" b="1">
              <a:solidFill>
                <a:schemeClr val="accent1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8207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89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</p:sldLayoutIdLst>
  <p:transition/>
  <p:hf hdr="0" ftr="0" dt="0"/>
  <p:txStyles>
    <p:titleStyle>
      <a:lvl1pPr algn="l" rtl="0" eaLnBrk="1" fontAlgn="base" latinLnBrk="1" hangingPunct="1">
        <a:lnSpc>
          <a:spcPct val="90000"/>
        </a:lnSpc>
        <a:spcBef>
          <a:spcPct val="0"/>
        </a:spcBef>
        <a:spcAft>
          <a:spcPct val="0"/>
        </a:spcAft>
        <a:defRPr sz="3200" b="1" baseline="0">
          <a:solidFill>
            <a:srgbClr val="254061"/>
          </a:solidFill>
          <a:latin typeface="Arial Nova" panose="020B0504020202020204" pitchFamily="34" charset="0"/>
          <a:ea typeface="+mj-ea"/>
          <a:cs typeface="Arial" pitchFamily="34" charset="0"/>
        </a:defRPr>
      </a:lvl1pPr>
      <a:lvl2pPr algn="l" rtl="0" eaLnBrk="1" fontAlgn="base" latinLnBrk="1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254061"/>
          </a:solidFill>
          <a:latin typeface="Arial" charset="0"/>
          <a:cs typeface="Arial" charset="0"/>
        </a:defRPr>
      </a:lvl2pPr>
      <a:lvl3pPr algn="l" rtl="0" eaLnBrk="1" fontAlgn="base" latinLnBrk="1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254061"/>
          </a:solidFill>
          <a:latin typeface="Arial" charset="0"/>
          <a:cs typeface="Arial" charset="0"/>
        </a:defRPr>
      </a:lvl3pPr>
      <a:lvl4pPr algn="l" rtl="0" eaLnBrk="1" fontAlgn="base" latinLnBrk="1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254061"/>
          </a:solidFill>
          <a:latin typeface="Arial" charset="0"/>
          <a:cs typeface="Arial" charset="0"/>
        </a:defRPr>
      </a:lvl4pPr>
      <a:lvl5pPr algn="l" rtl="0" eaLnBrk="1" fontAlgn="base" latinLnBrk="1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254061"/>
          </a:solidFill>
          <a:latin typeface="Arial" charset="0"/>
          <a:cs typeface="Arial" charset="0"/>
        </a:defRPr>
      </a:lvl5pPr>
      <a:lvl6pPr marL="457200" algn="l" rtl="0" eaLnBrk="1" fontAlgn="base" latinLnBrk="1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hlink"/>
          </a:solidFill>
          <a:latin typeface="Tahoma" pitchFamily="34" charset="0"/>
        </a:defRPr>
      </a:lvl6pPr>
      <a:lvl7pPr marL="914400" algn="l" rtl="0" eaLnBrk="1" fontAlgn="base" latinLnBrk="1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hlink"/>
          </a:solidFill>
          <a:latin typeface="Tahoma" pitchFamily="34" charset="0"/>
        </a:defRPr>
      </a:lvl7pPr>
      <a:lvl8pPr marL="1371600" algn="l" rtl="0" eaLnBrk="1" fontAlgn="base" latinLnBrk="1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hlink"/>
          </a:solidFill>
          <a:latin typeface="Tahoma" pitchFamily="34" charset="0"/>
        </a:defRPr>
      </a:lvl8pPr>
      <a:lvl9pPr marL="1828800" algn="l" rtl="0" eaLnBrk="1" fontAlgn="base" latinLnBrk="1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hlink"/>
          </a:solidFill>
          <a:latin typeface="Tahoma" pitchFamily="34" charset="0"/>
        </a:defRPr>
      </a:lvl9pPr>
    </p:titleStyle>
    <p:bodyStyle>
      <a:lvl1pPr marL="230188" indent="-230188" algn="l" rtl="0" eaLnBrk="1" fontAlgn="base" latinLnBrk="1" hangingPunct="1">
        <a:lnSpc>
          <a:spcPct val="120000"/>
        </a:lnSpc>
        <a:spcBef>
          <a:spcPct val="30000"/>
        </a:spcBef>
        <a:spcAft>
          <a:spcPct val="0"/>
        </a:spcAft>
        <a:buClr>
          <a:srgbClr val="011893"/>
        </a:buClr>
        <a:buChar char="•"/>
        <a:defRPr sz="1800" b="1">
          <a:solidFill>
            <a:schemeClr val="tx1"/>
          </a:solidFill>
          <a:latin typeface="Arial Nova" panose="020B0504020202020204" pitchFamily="34" charset="0"/>
          <a:ea typeface="+mn-ea"/>
          <a:cs typeface="Arial" pitchFamily="34" charset="0"/>
        </a:defRPr>
      </a:lvl1pPr>
      <a:lvl2pPr marL="461963" indent="-231775" algn="l" rtl="0" eaLnBrk="1" fontAlgn="base" latinLnBrk="1" hangingPunct="1">
        <a:lnSpc>
          <a:spcPct val="120000"/>
        </a:lnSpc>
        <a:spcBef>
          <a:spcPct val="30000"/>
        </a:spcBef>
        <a:spcAft>
          <a:spcPct val="0"/>
        </a:spcAft>
        <a:buClr>
          <a:srgbClr val="011893"/>
        </a:buClr>
        <a:buChar char="•"/>
        <a:defRPr sz="1600" b="1">
          <a:solidFill>
            <a:schemeClr val="tx1"/>
          </a:solidFill>
          <a:latin typeface="Arial Nova" panose="020B0504020202020204" pitchFamily="34" charset="0"/>
          <a:cs typeface="Arial" pitchFamily="34" charset="0"/>
        </a:defRPr>
      </a:lvl2pPr>
      <a:lvl3pPr marL="684213" indent="-222250" algn="l" rtl="0" eaLnBrk="1" fontAlgn="base" latinLnBrk="1" hangingPunct="1">
        <a:lnSpc>
          <a:spcPct val="120000"/>
        </a:lnSpc>
        <a:spcBef>
          <a:spcPct val="30000"/>
        </a:spcBef>
        <a:spcAft>
          <a:spcPct val="0"/>
        </a:spcAft>
        <a:buClr>
          <a:srgbClr val="011893"/>
        </a:buClr>
        <a:buChar char="•"/>
        <a:defRPr sz="1400" b="1">
          <a:solidFill>
            <a:schemeClr val="tx1"/>
          </a:solidFill>
          <a:latin typeface="Arial Nova" panose="020B0504020202020204" pitchFamily="34" charset="0"/>
          <a:cs typeface="Arial" pitchFamily="34" charset="0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FF3300"/>
        </a:buClr>
        <a:buSzPct val="50000"/>
        <a:buFont typeface="Monotype Sorts"/>
        <a:buChar char="u"/>
        <a:defRPr>
          <a:solidFill>
            <a:schemeClr val="tx1"/>
          </a:solidFill>
          <a:latin typeface="Arial Narrow" pitchFamily="34" charset="0"/>
          <a:cs typeface="Arial" charset="0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Arial Narrow" pitchFamily="34" charset="0"/>
          <a:cs typeface="Arial" charset="0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Arial Narrow" pitchFamily="34" charset="0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Arial Narrow" pitchFamily="34" charset="0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Arial Narrow" pitchFamily="34" charset="0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Arial Narrow" pitchFamily="34" charset="0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8194379-A092-CB41-91FB-11D5A2356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 dirty="0"/>
              <a:t>마스터 제목 스타일 편집</a:t>
            </a:r>
            <a:endParaRPr kumimoji="1" lang="ko-Kore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D56111-A064-694F-86D8-EAE60D5DA4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3C2A23-57C1-9C44-9C2C-FF4D894F79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D99722-1978-6445-B8A5-E4997512A2E0}" type="datetimeFigureOut">
              <a:rPr kumimoji="1" lang="ko-Kore-KR" altLang="en-US" smtClean="0"/>
              <a:t>12/13/2025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9A908A-FBD5-004B-AD90-823129484C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8B00C0-4383-7340-B5D4-F059FACEC0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B3CB4B-84BA-F04A-93B1-82FFCD38D865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205801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94733" y="76200"/>
            <a:ext cx="1179406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609600"/>
            <a:ext cx="12192000" cy="586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9347200" y="6534150"/>
            <a:ext cx="2641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 b="1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03200" y="6553200"/>
            <a:ext cx="508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062245E1-2E59-47FD-BD3B-3B68808AE16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2" name="Line 6"/>
          <p:cNvSpPr>
            <a:spLocks noChangeShapeType="1"/>
          </p:cNvSpPr>
          <p:nvPr/>
        </p:nvSpPr>
        <p:spPr bwMode="auto">
          <a:xfrm>
            <a:off x="203200" y="609600"/>
            <a:ext cx="11785600" cy="0"/>
          </a:xfrm>
          <a:prstGeom prst="line">
            <a:avLst/>
          </a:prstGeom>
          <a:noFill/>
          <a:ln w="57150" cmpd="thickThin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 sz="1800"/>
          </a:p>
        </p:txBody>
      </p:sp>
      <p:sp>
        <p:nvSpPr>
          <p:cNvPr id="1031" name="Line 6"/>
          <p:cNvSpPr>
            <a:spLocks noChangeShapeType="1"/>
          </p:cNvSpPr>
          <p:nvPr/>
        </p:nvSpPr>
        <p:spPr bwMode="auto">
          <a:xfrm>
            <a:off x="203200" y="6477000"/>
            <a:ext cx="11785600" cy="0"/>
          </a:xfrm>
          <a:prstGeom prst="line">
            <a:avLst/>
          </a:prstGeom>
          <a:noFill/>
          <a:ln w="57150" cmpd="thickThin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2248630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</p:sldLayoutIdLst>
  <p:hf hdr="0" ftr="0" dt="0"/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sz="2400" b="1" spc="-10">
          <a:solidFill>
            <a:srgbClr val="0000FF"/>
          </a:solidFill>
          <a:latin typeface="+mj-lt"/>
          <a:ea typeface="MS PGothic" panose="020B0600070205080204" pitchFamily="34" charset="-128"/>
          <a:cs typeface="MS PGothic" charset="0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Arial" pitchFamily="34" charset="0"/>
          <a:ea typeface="MS PGothic" panose="020B0600070205080204" pitchFamily="34" charset="-128"/>
          <a:cs typeface="MS PGothic" charset="0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Arial" pitchFamily="34" charset="0"/>
          <a:ea typeface="MS PGothic" panose="020B0600070205080204" pitchFamily="34" charset="-128"/>
          <a:cs typeface="MS PGothic" charset="0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Arial" pitchFamily="34" charset="0"/>
          <a:ea typeface="MS PGothic" panose="020B0600070205080204" pitchFamily="34" charset="-128"/>
          <a:cs typeface="MS PGothic" charset="0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Arial" pitchFamily="34" charset="0"/>
          <a:ea typeface="MS PGothic" panose="020B0600070205080204" pitchFamily="34" charset="-128"/>
          <a:cs typeface="MS PGothic" charset="0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Arial" pitchFamily="34" charset="0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Arial" pitchFamily="34" charset="0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Arial" pitchFamily="34" charset="0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Arial" pitchFamily="34" charset="0"/>
        </a:defRPr>
      </a:lvl9pPr>
    </p:titleStyle>
    <p:bodyStyle>
      <a:lvl1pPr marL="396875" indent="-336550" algn="l" rtl="0" eaLnBrk="1" fontAlgn="base" latinLnBrk="1" hangingPunct="1">
        <a:lnSpc>
          <a:spcPct val="92000"/>
        </a:lnSpc>
        <a:spcBef>
          <a:spcPct val="0"/>
        </a:spcBef>
        <a:spcAft>
          <a:spcPct val="0"/>
        </a:spcAft>
        <a:buClr>
          <a:srgbClr val="FF0000"/>
        </a:buClr>
        <a:buSzPct val="75000"/>
        <a:buFont typeface="Wingdings" panose="05000000000000000000" pitchFamily="2" charset="2"/>
        <a:buChar char=""/>
        <a:defRPr sz="2000" b="1" spc="-10">
          <a:solidFill>
            <a:schemeClr val="tx1"/>
          </a:solidFill>
          <a:latin typeface="+mn-lt"/>
          <a:ea typeface="MS PGothic" panose="020B0600070205080204" pitchFamily="34" charset="-128"/>
          <a:cs typeface="MS PGothic" charset="0"/>
        </a:defRPr>
      </a:lvl1pPr>
      <a:lvl2pPr marL="631825" indent="-287338" algn="l" rtl="0" eaLnBrk="1" fontAlgn="base" latinLnBrk="1" hangingPunct="1">
        <a:lnSpc>
          <a:spcPct val="92000"/>
        </a:lnSpc>
        <a:spcBef>
          <a:spcPct val="0"/>
        </a:spcBef>
        <a:spcAft>
          <a:spcPct val="0"/>
        </a:spcAft>
        <a:buClr>
          <a:srgbClr val="FF0000"/>
        </a:buClr>
        <a:buSzPct val="67000"/>
        <a:buFont typeface="Wingdings" panose="05000000000000000000" pitchFamily="2" charset="2"/>
        <a:buChar char="n"/>
        <a:defRPr sz="1800" b="1" spc="-10">
          <a:solidFill>
            <a:schemeClr val="tx1"/>
          </a:solidFill>
          <a:latin typeface="+mn-lt"/>
          <a:ea typeface="MS PGothic" panose="020B0600070205080204" pitchFamily="34" charset="-128"/>
          <a:cs typeface="MS PGothic" charset="0"/>
        </a:defRPr>
      </a:lvl2pPr>
      <a:lvl3pPr marL="801688" indent="-231775" algn="l" rtl="0" eaLnBrk="1" fontAlgn="base" latinLnBrk="1" hangingPunct="1">
        <a:lnSpc>
          <a:spcPct val="92000"/>
        </a:lnSpc>
        <a:spcBef>
          <a:spcPct val="0"/>
        </a:spcBef>
        <a:spcAft>
          <a:spcPct val="0"/>
        </a:spcAft>
        <a:buSzPct val="65000"/>
        <a:buFont typeface="Arial" panose="020B0604020202020204" pitchFamily="34" charset="0"/>
        <a:buChar char="–"/>
        <a:defRPr sz="1600" b="1" spc="-10">
          <a:solidFill>
            <a:schemeClr val="tx1"/>
          </a:solidFill>
          <a:latin typeface="+mn-lt"/>
          <a:ea typeface="MS PGothic" panose="020B0600070205080204" pitchFamily="34" charset="-128"/>
          <a:cs typeface="MS PGothic" charset="0"/>
        </a:defRPr>
      </a:lvl3pPr>
      <a:lvl4pPr marL="977900" indent="-228600" algn="l" rtl="0" eaLnBrk="1" fontAlgn="base" latinLnBrk="1" hangingPunct="1">
        <a:lnSpc>
          <a:spcPct val="92000"/>
        </a:lnSpc>
        <a:spcBef>
          <a:spcPct val="0"/>
        </a:spcBef>
        <a:spcAft>
          <a:spcPct val="0"/>
        </a:spcAft>
        <a:buSzPct val="50000"/>
        <a:buFont typeface="Arial" panose="020B0604020202020204" pitchFamily="34" charset="0"/>
        <a:buChar char="–"/>
        <a:defRPr sz="1400" b="1" spc="-10">
          <a:solidFill>
            <a:schemeClr val="tx1"/>
          </a:solidFill>
          <a:latin typeface="+mn-lt"/>
          <a:ea typeface="MS PGothic" panose="020B0600070205080204" pitchFamily="34" charset="-128"/>
          <a:cs typeface="MS PGothic" charset="0"/>
        </a:defRPr>
      </a:lvl4pPr>
      <a:lvl5pPr marL="1087438" indent="-173038" algn="l" rtl="0" eaLnBrk="1" fontAlgn="base" latinLnBrk="1" hangingPunct="1">
        <a:lnSpc>
          <a:spcPct val="92000"/>
        </a:lnSpc>
        <a:spcBef>
          <a:spcPct val="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1200" b="1" spc="-10">
          <a:solidFill>
            <a:schemeClr val="tx1"/>
          </a:solidFill>
          <a:latin typeface="+mn-lt"/>
          <a:ea typeface="MS PGothic" panose="020B0600070205080204" pitchFamily="34" charset="-128"/>
          <a:cs typeface="MS PGothic" charset="0"/>
        </a:defRPr>
      </a:lvl5pPr>
      <a:lvl6pPr marL="2514600" indent="-228600" algn="l" rtl="0" eaLnBrk="1" fontAlgn="base" latinLnBrk="1" hangingPunct="1">
        <a:spcBef>
          <a:spcPct val="0"/>
        </a:spcBef>
        <a:spcAft>
          <a:spcPct val="0"/>
        </a:spcAft>
        <a:buChar char="»"/>
        <a:defRPr sz="1400" b="1">
          <a:solidFill>
            <a:schemeClr val="tx1"/>
          </a:solidFill>
          <a:latin typeface="+mn-lt"/>
        </a:defRPr>
      </a:lvl6pPr>
      <a:lvl7pPr marL="2971800" indent="-228600" algn="l" rtl="0" eaLnBrk="1" fontAlgn="base" latinLnBrk="1" hangingPunct="1">
        <a:spcBef>
          <a:spcPct val="0"/>
        </a:spcBef>
        <a:spcAft>
          <a:spcPct val="0"/>
        </a:spcAft>
        <a:buChar char="»"/>
        <a:defRPr sz="1400" b="1">
          <a:solidFill>
            <a:schemeClr val="tx1"/>
          </a:solidFill>
          <a:latin typeface="+mn-lt"/>
        </a:defRPr>
      </a:lvl7pPr>
      <a:lvl8pPr marL="3429000" indent="-228600" algn="l" rtl="0" eaLnBrk="1" fontAlgn="base" latinLnBrk="1" hangingPunct="1">
        <a:spcBef>
          <a:spcPct val="0"/>
        </a:spcBef>
        <a:spcAft>
          <a:spcPct val="0"/>
        </a:spcAft>
        <a:buChar char="»"/>
        <a:defRPr sz="1400" b="1">
          <a:solidFill>
            <a:schemeClr val="tx1"/>
          </a:solidFill>
          <a:latin typeface="+mn-lt"/>
        </a:defRPr>
      </a:lvl8pPr>
      <a:lvl9pPr marL="3886200" indent="-228600" algn="l" rtl="0" eaLnBrk="1" fontAlgn="base" latinLnBrk="1" hangingPunct="1">
        <a:spcBef>
          <a:spcPct val="0"/>
        </a:spcBef>
        <a:spcAft>
          <a:spcPct val="0"/>
        </a:spcAft>
        <a:buChar char="»"/>
        <a:defRPr sz="1400" b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1" y="635635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38620B-A437-4F0D-A730-8BB93955CB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099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11" Type="http://schemas.openxmlformats.org/officeDocument/2006/relationships/image" Target="../media/image12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5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0.png"/><Relationship Id="rId10" Type="http://schemas.openxmlformats.org/officeDocument/2006/relationships/image" Target="../media/image24.png"/><Relationship Id="rId4" Type="http://schemas.openxmlformats.org/officeDocument/2006/relationships/image" Target="../media/image180.png"/><Relationship Id="rId9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4.png"/><Relationship Id="rId4" Type="http://schemas.openxmlformats.org/officeDocument/2006/relationships/image" Target="../media/image4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360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3.png"/><Relationship Id="rId5" Type="http://schemas.openxmlformats.org/officeDocument/2006/relationships/image" Target="../media/image340.png"/><Relationship Id="rId4" Type="http://schemas.openxmlformats.org/officeDocument/2006/relationships/image" Target="../media/image52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834D67F1-C701-4FC7-8288-6C6D9FE53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3878" y="1419102"/>
            <a:ext cx="11841922" cy="230194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sz="3600" dirty="0">
                <a:solidFill>
                  <a:schemeClr val="tx1"/>
                </a:solidFill>
                <a:latin typeface="Arial Nova"/>
                <a:cs typeface="Arial"/>
              </a:rPr>
              <a:t>Linearization Explains Fine-Tuning in</a:t>
            </a:r>
            <a:br>
              <a:rPr lang="en-US" altLang="ko-KR" sz="3600" dirty="0">
                <a:solidFill>
                  <a:schemeClr val="tx1"/>
                </a:solidFill>
                <a:latin typeface="Arial Nova"/>
                <a:cs typeface="Arial"/>
              </a:rPr>
            </a:br>
            <a:r>
              <a:rPr lang="en-US" altLang="ko-KR" sz="3600" dirty="0">
                <a:solidFill>
                  <a:schemeClr val="tx1"/>
                </a:solidFill>
                <a:latin typeface="Arial Nova"/>
                <a:cs typeface="Arial"/>
              </a:rPr>
              <a:t>Large Language Models</a:t>
            </a:r>
            <a:endParaRPr lang="ko-KR" altLang="en-US" b="0" dirty="0">
              <a:solidFill>
                <a:schemeClr val="tx1"/>
              </a:solidFill>
              <a:latin typeface="Arial Nova"/>
              <a:cs typeface="Arial"/>
            </a:endParaRPr>
          </a:p>
        </p:txBody>
      </p:sp>
      <p:sp>
        <p:nvSpPr>
          <p:cNvPr id="7" name="부제목 2">
            <a:extLst>
              <a:ext uri="{FF2B5EF4-FFF2-40B4-BE49-F238E27FC236}">
                <a16:creationId xmlns:a16="http://schemas.microsoft.com/office/drawing/2014/main" id="{BDCA8759-1272-0FBF-2DCB-8CED94BA64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3877" y="4174473"/>
            <a:ext cx="10511635" cy="2191896"/>
          </a:xfrm>
        </p:spPr>
        <p:txBody>
          <a:bodyPr anchor="ctr">
            <a:normAutofit/>
          </a:bodyPr>
          <a:lstStyle/>
          <a:p>
            <a:pPr algn="l"/>
            <a:r>
              <a:rPr lang="en-US" altLang="ko-KR" dirty="0"/>
              <a:t>     Group 1</a:t>
            </a:r>
          </a:p>
          <a:p>
            <a:pPr algn="l"/>
            <a:r>
              <a:rPr lang="en-US" altLang="ko-KR" dirty="0"/>
              <a:t>JoonSeok Kim</a:t>
            </a:r>
          </a:p>
          <a:p>
            <a:pPr algn="l"/>
            <a:r>
              <a:rPr lang="en-US" altLang="ko-KR" dirty="0"/>
              <a:t>Yong Jun Kim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C1AD05A-FA70-3BCE-FDE6-EF232FA22D8E}"/>
              </a:ext>
            </a:extLst>
          </p:cNvPr>
          <p:cNvSpPr/>
          <p:nvPr/>
        </p:nvSpPr>
        <p:spPr>
          <a:xfrm>
            <a:off x="4" y="0"/>
            <a:ext cx="12191996" cy="950400"/>
          </a:xfrm>
          <a:prstGeom prst="rect">
            <a:avLst/>
          </a:prstGeom>
          <a:solidFill>
            <a:srgbClr val="2530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40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EECE695D : </a:t>
            </a:r>
            <a:r>
              <a:rPr kumimoji="1" lang="en-US" altLang="en-US" sz="4000" b="1" dirty="0">
                <a:solidFill>
                  <a:schemeClr val="bg1"/>
                </a:solidFill>
                <a:latin typeface="Helvetica Neue" panose="02000503000000020004" pitchFamily="2" charset="0"/>
                <a:cs typeface="Helvetica Neue" panose="02000503000000020004" pitchFamily="2" charset="0"/>
              </a:rPr>
              <a:t>Deep Learning Theory</a:t>
            </a:r>
            <a:endParaRPr kumimoji="1" lang="ko-Kore-KR" altLang="en-US" sz="4000" b="1" dirty="0">
              <a:solidFill>
                <a:schemeClr val="bg1"/>
              </a:solidFill>
              <a:latin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A1B4C6-7540-D096-8B64-FFB80ABA1223}"/>
              </a:ext>
            </a:extLst>
          </p:cNvPr>
          <p:cNvSpPr txBox="1"/>
          <p:nvPr/>
        </p:nvSpPr>
        <p:spPr>
          <a:xfrm>
            <a:off x="8928243" y="3427331"/>
            <a:ext cx="1674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NeurIPS</a:t>
            </a:r>
            <a:r>
              <a:rPr lang="en-US" altLang="ko-KR" dirty="0"/>
              <a:t> 2025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3029573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40F00-039E-BBFE-2A3C-3805D652F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AC66A6B1-0CD2-7C75-6C65-25C8E6792A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3878" y="2299640"/>
            <a:ext cx="11841922" cy="230194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sz="3600" dirty="0">
                <a:solidFill>
                  <a:schemeClr val="tx1"/>
                </a:solidFill>
                <a:latin typeface="Arial Nova"/>
                <a:cs typeface="Arial"/>
              </a:rPr>
              <a:t>Section 1 : Motivation</a:t>
            </a:r>
            <a:endParaRPr lang="ko-KR" altLang="en-US" b="0" dirty="0">
              <a:solidFill>
                <a:schemeClr val="tx1"/>
              </a:solidFill>
              <a:latin typeface="Arial Nova"/>
              <a:cs typeface="Arial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991E80F-09AA-D534-96ED-EAEB7505FC29}"/>
              </a:ext>
            </a:extLst>
          </p:cNvPr>
          <p:cNvSpPr/>
          <p:nvPr/>
        </p:nvSpPr>
        <p:spPr>
          <a:xfrm>
            <a:off x="4" y="0"/>
            <a:ext cx="12191996" cy="950400"/>
          </a:xfrm>
          <a:prstGeom prst="rect">
            <a:avLst/>
          </a:prstGeom>
          <a:solidFill>
            <a:srgbClr val="2530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40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EECE695D : Deep Learning Theory</a:t>
            </a:r>
            <a:endParaRPr kumimoji="1" lang="ko-Kore-KR" altLang="en-US" sz="4000" b="1" dirty="0">
              <a:solidFill>
                <a:schemeClr val="bg1"/>
              </a:solidFill>
              <a:latin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2424444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E2BB8-1F4B-24E0-DF21-38E946514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750A6C-6C28-655B-BBFB-6C449AB89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00" y="144463"/>
            <a:ext cx="11424720" cy="752792"/>
          </a:xfrm>
        </p:spPr>
        <p:txBody>
          <a:bodyPr/>
          <a:lstStyle/>
          <a:p>
            <a:r>
              <a:rPr lang="en-US" altLang="ko-KR" dirty="0"/>
              <a:t>Motivation</a:t>
            </a:r>
            <a:endParaRPr lang="ko-KR" altLang="en-US" dirty="0"/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3483BEAD-3C2C-1AE7-AB6A-EB7B871FAA01}"/>
              </a:ext>
            </a:extLst>
          </p:cNvPr>
          <p:cNvSpPr txBox="1"/>
          <p:nvPr/>
        </p:nvSpPr>
        <p:spPr>
          <a:xfrm>
            <a:off x="479861" y="1112727"/>
            <a:ext cx="1116075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Arial Nova" panose="020B0504020202020204" pitchFamily="34" charset="0"/>
              </a:rPr>
              <a:t>- PEFT : Technique to reduce the effective number of trained parameters</a:t>
            </a:r>
          </a:p>
          <a:p>
            <a:r>
              <a:rPr lang="en-US" altLang="ko-KR" b="1" dirty="0">
                <a:latin typeface="Arial Nova" panose="020B0504020202020204" pitchFamily="34" charset="0"/>
              </a:rPr>
              <a:t>	- Choices : Update only a few layers, apply rank-limited updates</a:t>
            </a:r>
          </a:p>
          <a:p>
            <a:endParaRPr lang="en-US" altLang="ko-KR" b="1" dirty="0">
              <a:latin typeface="Arial Nova" panose="020B05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altLang="ko-KR" b="1" dirty="0">
                <a:latin typeface="Arial Nova" panose="020B0504020202020204" pitchFamily="34" charset="0"/>
              </a:rPr>
              <a:t>Objective of research : </a:t>
            </a:r>
            <a:r>
              <a:rPr lang="en-US" altLang="ko-KR" b="1" dirty="0">
                <a:solidFill>
                  <a:srgbClr val="0070C0"/>
                </a:solidFill>
                <a:latin typeface="Arial Nova" panose="020B0504020202020204" pitchFamily="34" charset="0"/>
              </a:rPr>
              <a:t>Proximity of the fine-tuned models to the pretrained models promotes linearity</a:t>
            </a:r>
            <a:r>
              <a:rPr lang="en-US" altLang="ko-KR" b="1" dirty="0">
                <a:latin typeface="Arial Nova" panose="020B0504020202020204" pitchFamily="34" charset="0"/>
              </a:rPr>
              <a:t>. Based on this one can predict performance of various fine-tuning decisions using the properties of NTK kernel</a:t>
            </a:r>
          </a:p>
          <a:p>
            <a:pPr marL="285750" indent="-285750">
              <a:buFontTx/>
              <a:buChar char="-"/>
            </a:pPr>
            <a:endParaRPr lang="en-US" altLang="ko-KR" b="1" dirty="0">
              <a:latin typeface="Arial Nova" panose="020B05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altLang="ko-KR" b="1" dirty="0">
                <a:latin typeface="Arial Nova" panose="020B0504020202020204" pitchFamily="34" charset="0"/>
              </a:rPr>
              <a:t>Idea 1. Fine-tuned models are encouraged to remain close to the pretrained model</a:t>
            </a:r>
          </a:p>
          <a:p>
            <a:pPr marL="285750" indent="-285750">
              <a:buFontTx/>
              <a:buChar char="-"/>
            </a:pPr>
            <a:r>
              <a:rPr lang="en-US" altLang="ko-KR" b="1" dirty="0">
                <a:latin typeface="Arial Nova" panose="020B0504020202020204" pitchFamily="34" charset="0"/>
              </a:rPr>
              <a:t>Idea 2. This</a:t>
            </a:r>
            <a:r>
              <a:rPr lang="ko-KR" altLang="en-US" b="1" dirty="0">
                <a:latin typeface="Arial Nova" panose="020B0504020202020204" pitchFamily="34" charset="0"/>
              </a:rPr>
              <a:t> </a:t>
            </a:r>
            <a:r>
              <a:rPr lang="en-US" altLang="ko-KR" b="1" dirty="0">
                <a:latin typeface="Arial Nova" panose="020B0504020202020204" pitchFamily="34" charset="0"/>
              </a:rPr>
              <a:t>restriction</a:t>
            </a:r>
            <a:r>
              <a:rPr lang="ko-KR" altLang="en-US" b="1" dirty="0">
                <a:latin typeface="Arial Nova" panose="020B0504020202020204" pitchFamily="34" charset="0"/>
              </a:rPr>
              <a:t> </a:t>
            </a:r>
            <a:r>
              <a:rPr lang="en-US" altLang="ko-KR" b="1" dirty="0">
                <a:latin typeface="Arial Nova" panose="020B0504020202020204" pitchFamily="34" charset="0"/>
              </a:rPr>
              <a:t>(regularization)</a:t>
            </a:r>
            <a:r>
              <a:rPr lang="ko-KR" altLang="en-US" b="1" dirty="0">
                <a:latin typeface="Arial Nova" panose="020B0504020202020204" pitchFamily="34" charset="0"/>
              </a:rPr>
              <a:t> </a:t>
            </a:r>
            <a:r>
              <a:rPr lang="en-US" altLang="ko-KR" b="1" dirty="0">
                <a:latin typeface="Arial Nova" panose="020B0504020202020204" pitchFamily="34" charset="0"/>
              </a:rPr>
              <a:t>can</a:t>
            </a:r>
            <a:r>
              <a:rPr lang="ko-KR" altLang="en-US" b="1" dirty="0">
                <a:latin typeface="Arial Nova" panose="020B0504020202020204" pitchFamily="34" charset="0"/>
              </a:rPr>
              <a:t> </a:t>
            </a:r>
            <a:r>
              <a:rPr lang="en-US" altLang="ko-KR" b="1" dirty="0">
                <a:latin typeface="Arial Nova" panose="020B0504020202020204" pitchFamily="34" charset="0"/>
              </a:rPr>
              <a:t>achieve</a:t>
            </a:r>
            <a:r>
              <a:rPr lang="ko-KR" altLang="en-US" b="1" dirty="0">
                <a:latin typeface="Arial Nova" panose="020B0504020202020204" pitchFamily="34" charset="0"/>
              </a:rPr>
              <a:t> </a:t>
            </a:r>
            <a:r>
              <a:rPr lang="en-US" altLang="ko-KR" b="1" dirty="0">
                <a:latin typeface="Arial Nova" panose="020B0504020202020204" pitchFamily="34" charset="0"/>
              </a:rPr>
              <a:t>linearization</a:t>
            </a:r>
          </a:p>
          <a:p>
            <a:pPr marL="285750" indent="-285750">
              <a:buFontTx/>
              <a:buChar char="-"/>
            </a:pPr>
            <a:r>
              <a:rPr lang="en-US" altLang="ko-KR" b="1" dirty="0">
                <a:latin typeface="Arial Nova" panose="020B0504020202020204" pitchFamily="34" charset="0"/>
              </a:rPr>
              <a:t>Idea 3. Through this linearization, we can learn fine-tuning using the NTK kernel properties</a:t>
            </a:r>
          </a:p>
          <a:p>
            <a:r>
              <a:rPr lang="en-US" altLang="ko-KR" b="1" dirty="0">
                <a:latin typeface="Arial Nova" panose="020B0504020202020204" pitchFamily="34" charset="0"/>
              </a:rPr>
              <a:t>	</a:t>
            </a:r>
            <a:r>
              <a:rPr lang="en-US" altLang="ko-KR" b="1" dirty="0">
                <a:latin typeface="Arial Nova" panose="020B0504020202020204" pitchFamily="34" charset="0"/>
                <a:sym typeface="Wingdings" panose="05000000000000000000" pitchFamily="2" charset="2"/>
              </a:rPr>
              <a:t> Linearized fine-tuning</a:t>
            </a:r>
          </a:p>
          <a:p>
            <a:endParaRPr lang="en-US" altLang="ko-KR" b="1" dirty="0">
              <a:latin typeface="Arial Nova" panose="020B0504020202020204" pitchFamily="34" charset="0"/>
              <a:sym typeface="Wingdings" panose="05000000000000000000" pitchFamily="2" charset="2"/>
            </a:endParaRPr>
          </a:p>
          <a:p>
            <a:pPr marL="285750" indent="-285750">
              <a:buFontTx/>
              <a:buChar char="-"/>
            </a:pPr>
            <a:r>
              <a:rPr lang="en-US" altLang="ko-KR" b="1" dirty="0">
                <a:latin typeface="Arial Nova" panose="020B0504020202020204" pitchFamily="34" charset="0"/>
                <a:sym typeface="Wingdings" panose="05000000000000000000" pitchFamily="2" charset="2"/>
              </a:rPr>
              <a:t>What the paper shows compared to previous works</a:t>
            </a:r>
          </a:p>
          <a:p>
            <a:pPr marL="742950" lvl="1" indent="-285750">
              <a:buFontTx/>
              <a:buChar char="-"/>
            </a:pPr>
            <a:r>
              <a:rPr lang="en-US" altLang="ko-KR" b="1" dirty="0">
                <a:latin typeface="Arial Nova" panose="020B0504020202020204" pitchFamily="34" charset="0"/>
                <a:sym typeface="Wingdings" panose="05000000000000000000" pitchFamily="2" charset="2"/>
              </a:rPr>
              <a:t>Quantify the extent to which linearity is preserved during fine-tuning</a:t>
            </a:r>
          </a:p>
          <a:p>
            <a:pPr marL="742950" lvl="1" indent="-285750">
              <a:buFontTx/>
              <a:buChar char="-"/>
            </a:pPr>
            <a:r>
              <a:rPr lang="en-US" altLang="ko-KR" b="1" dirty="0">
                <a:latin typeface="Arial Nova" panose="020B0504020202020204" pitchFamily="34" charset="0"/>
                <a:sym typeface="Wingdings" panose="05000000000000000000" pitchFamily="2" charset="2"/>
              </a:rPr>
              <a:t>Theoretical upper bound on the distance between the fine-tuned model and its linearized approximation</a:t>
            </a:r>
          </a:p>
          <a:p>
            <a:endParaRPr lang="en-US" altLang="ko-KR" b="1" dirty="0">
              <a:latin typeface="Arial Nova" panose="020B0504020202020204" pitchFamily="34" charset="0"/>
              <a:sym typeface="Wingdings" panose="05000000000000000000" pitchFamily="2" charset="2"/>
            </a:endParaRPr>
          </a:p>
          <a:p>
            <a:endParaRPr lang="en-US" altLang="ko-KR" b="1" dirty="0">
              <a:latin typeface="Arial Nova" panose="020B05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EDE4A1-CE32-A7E9-10E1-8DC57F6BDD69}"/>
              </a:ext>
            </a:extLst>
          </p:cNvPr>
          <p:cNvSpPr txBox="1"/>
          <p:nvPr/>
        </p:nvSpPr>
        <p:spPr>
          <a:xfrm>
            <a:off x="0" y="6590426"/>
            <a:ext cx="114247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Afzal, Zahra Rahimi, et al. "Linearization Explains Fine-Tuning in Large Language Models." </a:t>
            </a:r>
            <a:r>
              <a:rPr lang="en-US" altLang="ko-KR" sz="1000" i="1" dirty="0">
                <a:solidFill>
                  <a:schemeClr val="bg1">
                    <a:lumMod val="65000"/>
                  </a:schemeClr>
                </a:solidFill>
              </a:rPr>
              <a:t>The 39th Annual Conference on </a:t>
            </a:r>
            <a:r>
              <a:rPr lang="en-US" altLang="ko-KR" sz="1000" i="1" dirty="0" err="1">
                <a:solidFill>
                  <a:schemeClr val="bg1">
                    <a:lumMod val="65000"/>
                  </a:schemeClr>
                </a:solidFill>
              </a:rPr>
              <a:t>NeurIPS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10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6422519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53CCE-FED1-EF45-9731-DC2E50483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50B41D30-5E93-DC70-7237-AAAE9A6F5C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3878" y="2299640"/>
            <a:ext cx="11841922" cy="230194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sz="3600" dirty="0">
                <a:solidFill>
                  <a:schemeClr val="tx1"/>
                </a:solidFill>
                <a:latin typeface="Arial Nova"/>
                <a:cs typeface="Arial"/>
              </a:rPr>
              <a:t>Section 2 : Problem Formulation</a:t>
            </a:r>
            <a:endParaRPr lang="ko-KR" altLang="en-US" b="0" dirty="0">
              <a:solidFill>
                <a:schemeClr val="tx1"/>
              </a:solidFill>
              <a:latin typeface="Arial Nova"/>
              <a:cs typeface="Arial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206348D-8BD6-0280-5D08-30E4D12B0405}"/>
              </a:ext>
            </a:extLst>
          </p:cNvPr>
          <p:cNvSpPr/>
          <p:nvPr/>
        </p:nvSpPr>
        <p:spPr>
          <a:xfrm>
            <a:off x="4" y="0"/>
            <a:ext cx="12191996" cy="950400"/>
          </a:xfrm>
          <a:prstGeom prst="rect">
            <a:avLst/>
          </a:prstGeom>
          <a:solidFill>
            <a:srgbClr val="2530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40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EECE695D : Deep Learning Theory</a:t>
            </a:r>
            <a:endParaRPr kumimoji="1" lang="ko-Kore-KR" altLang="en-US" sz="4000" b="1" dirty="0">
              <a:solidFill>
                <a:schemeClr val="bg1"/>
              </a:solidFill>
              <a:latin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214741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9B52D-E9B6-4728-AD87-CBA935CA4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E9A414-37BC-959B-59A1-399933AF2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00" y="144463"/>
            <a:ext cx="11424720" cy="752792"/>
          </a:xfrm>
        </p:spPr>
        <p:txBody>
          <a:bodyPr/>
          <a:lstStyle/>
          <a:p>
            <a:r>
              <a:rPr lang="en-US" altLang="ko-KR" dirty="0"/>
              <a:t>Problem Formulation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3" name="TextBox 272">
                <a:extLst>
                  <a:ext uri="{FF2B5EF4-FFF2-40B4-BE49-F238E27FC236}">
                    <a16:creationId xmlns:a16="http://schemas.microsoft.com/office/drawing/2014/main" id="{C3F23F09-2655-A238-95E8-3AEE5AAEC569}"/>
                  </a:ext>
                </a:extLst>
              </p:cNvPr>
              <p:cNvSpPr txBox="1"/>
              <p:nvPr/>
            </p:nvSpPr>
            <p:spPr>
              <a:xfrm>
                <a:off x="479861" y="1112727"/>
                <a:ext cx="11160759" cy="59616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Tx/>
                  <a:buChar char="-"/>
                </a:pPr>
                <a:r>
                  <a:rPr lang="en-US" altLang="ko-KR" b="1" dirty="0">
                    <a:latin typeface="Arial Nova" panose="020B0504020202020204" pitchFamily="34" charset="0"/>
                  </a:rPr>
                  <a:t>Pretrained model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sSub>
                          <m:sSubPr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b="1" i="1" smtClean="0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sub>
                    </m:sSub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b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r>
                  <a:rPr lang="en-US" altLang="ko-KR" b="1" dirty="0">
                    <a:latin typeface="Arial Nova" panose="020B0504020202020204" pitchFamily="34" charset="0"/>
                    <a:sym typeface="Wingdings" panose="05000000000000000000" pitchFamily="2" charset="2"/>
                  </a:rPr>
                  <a:t>Target task dataset (downstream)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𝑫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𝑻</m:t>
                        </m:r>
                      </m:sub>
                    </m:sSub>
                    <m:r>
                      <a:rPr lang="en-US" altLang="ko-KR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bSup>
                      <m:sSubSupPr>
                        <m:ctrlP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SupPr>
                      <m:e>
                        <m:d>
                          <m:dPr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b="1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𝒊</m:t>
                                </m:r>
                              </m:sub>
                            </m:sSub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ko-KR" b="1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𝒊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𝒊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=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𝟏</m:t>
                        </m:r>
                      </m:sub>
                      <m:sup>
                        <m: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𝒏</m:t>
                        </m:r>
                      </m:sup>
                    </m:sSubSup>
                  </m:oMath>
                </a14:m>
                <a:endParaRPr lang="en-US" altLang="ko-KR" b="1" dirty="0">
                  <a:latin typeface="Arial Nova" panose="020B0504020202020204" pitchFamily="34" charset="0"/>
                  <a:sym typeface="Wingdings" panose="05000000000000000000" pitchFamily="2" charset="2"/>
                </a:endParaRPr>
              </a:p>
              <a:p>
                <a:pPr marL="285750" indent="-285750">
                  <a:buFontTx/>
                  <a:buChar char="-"/>
                </a:pPr>
                <a:r>
                  <a:rPr lang="en-US" altLang="ko-KR" b="1" dirty="0">
                    <a:latin typeface="Arial Nova" panose="020B0504020202020204" pitchFamily="34" charset="0"/>
                    <a:sym typeface="Wingdings" panose="05000000000000000000" pitchFamily="2" charset="2"/>
                  </a:rPr>
                  <a:t>Loss function :</a:t>
                </a:r>
                <a14:m>
                  <m:oMath xmlns:m="http://schemas.openxmlformats.org/officeDocument/2006/math">
                    <m:r>
                      <a:rPr lang="en-US" altLang="ko-KR" b="1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a:rPr lang="en-US" altLang="ko-KR" b="1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ℒ</m:t>
                    </m:r>
                    <m:d>
                      <m:dPr>
                        <m:ctrlP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∙,∙</m:t>
                        </m:r>
                      </m:e>
                    </m:d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 :</m:t>
                    </m:r>
                    <m:r>
                      <a:rPr lang="en-US" altLang="ko-KR" b="1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ℝ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×</m:t>
                    </m:r>
                    <m:r>
                      <a:rPr lang="en-US" altLang="ko-KR" b="1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ℝ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→</m:t>
                    </m:r>
                    <m:r>
                      <a:rPr lang="en-US" altLang="ko-KR" b="1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ℝ</m:t>
                    </m:r>
                  </m:oMath>
                </a14:m>
                <a:endParaRPr lang="en-US" altLang="ko-KR" b="1" dirty="0">
                  <a:latin typeface="Arial Nova" panose="020B0504020202020204" pitchFamily="34" charset="0"/>
                  <a:sym typeface="Wingdings" panose="05000000000000000000" pitchFamily="2" charset="2"/>
                </a:endParaRPr>
              </a:p>
              <a:p>
                <a:pPr marL="285750" indent="-285750">
                  <a:buFontTx/>
                  <a:buChar char="-"/>
                </a:pPr>
                <a:r>
                  <a:rPr lang="en-US" altLang="ko-KR" b="1" dirty="0">
                    <a:solidFill>
                      <a:srgbClr val="0070C0"/>
                    </a:solidFill>
                    <a:latin typeface="Arial Nova" panose="020B0504020202020204" pitchFamily="34" charset="0"/>
                    <a:sym typeface="Wingdings" panose="05000000000000000000" pitchFamily="2" charset="2"/>
                  </a:rPr>
                  <a:t>Regularized fine-tuned model 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sSup>
                          <m:sSupPr>
                            <m:ctrlPr>
                              <a:rPr lang="en-US" altLang="ko-KR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p>
                            <m:r>
                              <a:rPr lang="en-US" altLang="ko-KR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sub>
                    </m:sSub>
                    <m:d>
                      <m:dPr>
                        <m:ctrlPr>
                          <a:rPr lang="en-US" altLang="ko-KR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</m:e>
                    </m:d>
                    <m:r>
                      <a:rPr lang="en-US" altLang="ko-KR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altLang="ko-KR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ℝ</m:t>
                        </m:r>
                      </m:e>
                      <m:sup>
                        <m:r>
                          <a:rPr lang="en-US" altLang="ko-KR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𝒅</m:t>
                        </m:r>
                      </m:sup>
                    </m:sSup>
                    <m:r>
                      <a:rPr lang="en-US" altLang="ko-KR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→</m:t>
                    </m:r>
                    <m:r>
                      <a:rPr lang="en-US" altLang="ko-KR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ℝ</m:t>
                    </m:r>
                  </m:oMath>
                </a14:m>
                <a:endParaRPr lang="en-US" altLang="ko-KR" b="1" dirty="0">
                  <a:latin typeface="Arial Nova" panose="020B0504020202020204" pitchFamily="34" charset="0"/>
                  <a:sym typeface="Wingdings" panose="05000000000000000000" pitchFamily="2" charset="2"/>
                </a:endParaRPr>
              </a:p>
              <a:p>
                <a:pPr marL="285750" indent="-285750">
                  <a:buFontTx/>
                  <a:buChar char="-"/>
                </a:pPr>
                <a:r>
                  <a:rPr lang="en-US" altLang="ko-KR" b="1" dirty="0">
                    <a:latin typeface="Arial Nova" panose="020B0504020202020204" pitchFamily="34" charset="0"/>
                    <a:sym typeface="Wingdings" panose="05000000000000000000" pitchFamily="2" charset="2"/>
                  </a:rPr>
                  <a:t>Trainable fine-tuning parameters : </a:t>
                </a: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𝜽</m:t>
                    </m:r>
                  </m:oMath>
                </a14:m>
                <a:endParaRPr lang="en-US" altLang="ko-KR" b="1" dirty="0">
                  <a:latin typeface="Arial Nova" panose="020B0504020202020204" pitchFamily="34" charset="0"/>
                  <a:sym typeface="Wingdings" panose="05000000000000000000" pitchFamily="2" charset="2"/>
                </a:endParaRPr>
              </a:p>
              <a:p>
                <a:pPr marL="285750" indent="-285750">
                  <a:buFontTx/>
                  <a:buChar char="-"/>
                </a:pPr>
                <a:r>
                  <a:rPr lang="en-US" altLang="ko-KR" b="1" dirty="0">
                    <a:latin typeface="Arial Nova" panose="020B0504020202020204" pitchFamily="34" charset="0"/>
                    <a:sym typeface="Wingdings" panose="05000000000000000000" pitchFamily="2" charset="2"/>
                  </a:rPr>
                  <a:t>Parameters of the pre-trained model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ko-KR" altLang="en-US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𝜽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𝟎</m:t>
                        </m:r>
                      </m:sub>
                    </m:sSub>
                  </m:oMath>
                </a14:m>
                <a:endParaRPr lang="en-US" altLang="ko-KR" b="1" dirty="0">
                  <a:latin typeface="Arial Nova" panose="020B0504020202020204" pitchFamily="34" charset="0"/>
                  <a:sym typeface="Wingdings" panose="05000000000000000000" pitchFamily="2" charset="2"/>
                </a:endParaRPr>
              </a:p>
              <a:p>
                <a:pPr marL="285750" indent="-285750">
                  <a:buFontTx/>
                  <a:buChar char="-"/>
                </a:pPr>
                <a:r>
                  <a:rPr lang="en-US" altLang="ko-KR" b="1" dirty="0">
                    <a:latin typeface="Arial Nova" panose="020B0504020202020204" pitchFamily="34" charset="0"/>
                    <a:sym typeface="Wingdings" panose="05000000000000000000" pitchFamily="2" charset="2"/>
                  </a:rPr>
                  <a:t>Original objective function :</a:t>
                </a:r>
                <a:r>
                  <a:rPr lang="en-US" altLang="ko-KR" b="1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acc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𝑹</m:t>
                        </m:r>
                      </m:e>
                    </m:acc>
                    <m:r>
                      <a:rPr lang="en-US" altLang="ko-KR" b="1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ko-KR" altLang="en-US" b="1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𝜽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endParaRPr lang="en-US" altLang="ko-KR" b="1" dirty="0">
                  <a:latin typeface="Arial Nova" panose="020B0504020202020204" pitchFamily="34" charset="0"/>
                  <a:sym typeface="Wingdings" panose="05000000000000000000" pitchFamily="2" charset="2"/>
                </a:endParaRPr>
              </a:p>
              <a:p>
                <a:pPr marL="285750" indent="-285750">
                  <a:buFontTx/>
                  <a:buChar char="-"/>
                </a:pPr>
                <a:r>
                  <a:rPr lang="en-US" altLang="ko-KR" b="1" dirty="0">
                    <a:latin typeface="Arial Nova" panose="020B0504020202020204" pitchFamily="34" charset="0"/>
                    <a:sym typeface="Wingdings" panose="05000000000000000000" pitchFamily="2" charset="2"/>
                  </a:rPr>
                  <a:t>Regularization strength hyperparameter 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ko-KR" b="1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λ</m:t>
                    </m:r>
                  </m:oMath>
                </a14:m>
                <a:endParaRPr lang="en-US" altLang="ko-KR" b="1" dirty="0">
                  <a:latin typeface="Arial Nova" panose="020B0504020202020204" pitchFamily="34" charset="0"/>
                  <a:sym typeface="Wingdings" panose="05000000000000000000" pitchFamily="2" charset="2"/>
                </a:endParaRPr>
              </a:p>
              <a:p>
                <a:pPr marL="285750" indent="-285750">
                  <a:buFontTx/>
                  <a:buChar char="-"/>
                </a:pPr>
                <a:endParaRPr lang="en-US" altLang="ko-KR" b="1" dirty="0">
                  <a:latin typeface="Arial Nova" panose="020B0504020202020204" pitchFamily="34" charset="0"/>
                  <a:sym typeface="Wingdings" panose="05000000000000000000" pitchFamily="2" charset="2"/>
                </a:endParaRPr>
              </a:p>
              <a:p>
                <a:pPr marL="285750" indent="-285750">
                  <a:buFontTx/>
                  <a:buChar char="-"/>
                </a:pPr>
                <a:r>
                  <a:rPr lang="en-US" altLang="ko-KR" b="1" dirty="0">
                    <a:latin typeface="Arial Nova" panose="020B0504020202020204" pitchFamily="34" charset="0"/>
                    <a:sym typeface="Wingdings" panose="05000000000000000000" pitchFamily="2" charset="2"/>
                  </a:rPr>
                  <a:t>Explicit inductive bias toward the pretrained model </a:t>
                </a:r>
              </a:p>
              <a:p>
                <a:pPr marL="742950" lvl="1" indent="-285750">
                  <a:buFontTx/>
                  <a:buChar char="-"/>
                </a:pPr>
                <a:r>
                  <a:rPr lang="en-US" altLang="ko-KR" b="1" dirty="0">
                    <a:latin typeface="Arial Nova" panose="020B0504020202020204" pitchFamily="34" charset="0"/>
                    <a:sym typeface="Wingdings" panose="05000000000000000000" pitchFamily="2" charset="2"/>
                  </a:rPr>
                  <a:t>Fine-tuned models are closed to the pretrained model</a:t>
                </a:r>
              </a:p>
              <a:p>
                <a:pPr marL="742950" lvl="1" indent="-285750">
                  <a:buFontTx/>
                  <a:buChar char="-"/>
                </a:pPr>
                <a:r>
                  <a:rPr lang="en-US" altLang="ko-KR" b="1" dirty="0">
                    <a:latin typeface="Arial Nova" panose="020B0504020202020204" pitchFamily="34" charset="0"/>
                    <a:sym typeface="Wingdings" panose="05000000000000000000" pitchFamily="2" charset="2"/>
                  </a:rPr>
                  <a:t>Regularization reduces deviation between fine-tuned and pretrained models (proximal method)</a:t>
                </a:r>
              </a:p>
              <a:p>
                <a:pPr marL="742950" lvl="1" indent="-285750">
                  <a:buFontTx/>
                  <a:buChar char="-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ko-KR" alt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𝜽</m:t>
                        </m:r>
                      </m:e>
                      <m:sup>
                        <m:r>
                          <a:rPr lang="en-US" altLang="ko-KR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∗</m:t>
                        </m:r>
                      </m:sup>
                    </m:sSup>
                    <m:r>
                      <a:rPr lang="en-US" altLang="ko-KR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func>
                      <m:funcPr>
                        <m:ctrlP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min</m:t>
                            </m:r>
                          </m:e>
                          <m:lim>
                            <m:r>
                              <a:rPr lang="ko-KR" altLang="en-US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𝜽</m:t>
                            </m:r>
                          </m:lim>
                        </m:limLow>
                        <m: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[</m:t>
                        </m:r>
                      </m:fName>
                      <m:e>
                        <m:acc>
                          <m:accPr>
                            <m:chr m:val="̃"/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accPr>
                          <m:e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𝑹</m:t>
                            </m:r>
                          </m:e>
                        </m:acc>
                        <m: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(</m:t>
                        </m:r>
                        <m:r>
                          <a:rPr lang="ko-KR" altLang="en-US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𝜽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)</m:t>
                        </m:r>
                      </m:e>
                    </m:func>
                    <m:r>
                      <a:rPr lang="en-US" altLang="ko-KR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  <m:f>
                      <m:fPr>
                        <m:ctrlP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l-GR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λ</m:t>
                        </m:r>
                      </m:num>
                      <m:den>
                        <m: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𝟐</m:t>
                        </m:r>
                      </m:den>
                    </m:f>
                    <m:sSubSup>
                      <m:sSubSupPr>
                        <m:ctrlP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ko-KR" altLang="en-US" b="1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𝜽</m:t>
                            </m:r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ko-KR" b="1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ko-KR" altLang="en-US" b="1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𝜽</m:t>
                                </m:r>
                              </m:e>
                              <m:sub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𝟎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𝟐</m:t>
                        </m:r>
                      </m:sub>
                      <m:sup>
                        <m: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𝟐</m:t>
                        </m:r>
                      </m:sup>
                    </m:sSubSup>
                    <m:r>
                      <a:rPr lang="en-US" altLang="ko-KR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]</m:t>
                    </m:r>
                  </m:oMath>
                </a14:m>
                <a:endParaRPr lang="en-US" altLang="ko-KR" b="1" dirty="0">
                  <a:latin typeface="Arial Nova" panose="020B0504020202020204" pitchFamily="34" charset="0"/>
                  <a:sym typeface="Wingdings" panose="05000000000000000000" pitchFamily="2" charset="2"/>
                </a:endParaRPr>
              </a:p>
              <a:p>
                <a:pPr marL="1200150" lvl="2" indent="-285750">
                  <a:buFontTx/>
                  <a:buChar char="-"/>
                </a:pP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acc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𝑹</m:t>
                        </m:r>
                      </m:e>
                    </m:acc>
                    <m:d>
                      <m:dPr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ko-KR" altLang="en-US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𝜽</m:t>
                        </m:r>
                      </m:e>
                    </m:d>
                    <m:r>
                      <a:rPr lang="en-US" altLang="ko-KR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 </m:t>
                    </m:r>
                    <m:nary>
                      <m:naryPr>
                        <m:chr m:val="∑"/>
                        <m:limLoc m:val="subSup"/>
                        <m:ctrlP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𝒊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=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𝟏</m:t>
                        </m:r>
                      </m:sub>
                      <m:sup>
                        <m: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𝒏</m:t>
                        </m:r>
                      </m:sup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ℒ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𝒇</m:t>
                            </m:r>
                          </m:e>
                          <m:sub>
                            <m:r>
                              <a:rPr lang="ko-KR" altLang="en-US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𝜽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b="1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𝒊</m:t>
                                </m:r>
                              </m:sub>
                            </m:sSub>
                          </m:e>
                        </m:d>
                        <m: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𝒊</m:t>
                            </m:r>
                          </m:sub>
                        </m:sSub>
                        <m: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)</m:t>
                        </m:r>
                      </m:e>
                    </m:nary>
                    <m:r>
                      <a:rPr lang="en-US" altLang="ko-KR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p>
                      <m:sSupPr>
                        <m:ctrlP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b="1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𝒇</m:t>
                                </m:r>
                              </m:e>
                              <m:sub>
                                <m:r>
                                  <a:rPr lang="ko-KR" altLang="en-US" b="1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𝜽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ko-KR" b="1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∗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ko-KR" b="1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𝒚</m:t>
                                </m:r>
                              </m:e>
                              <m:sup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ko-KR" b="1" dirty="0">
                    <a:latin typeface="Arial Nova" panose="020B0504020202020204" pitchFamily="34" charset="0"/>
                    <a:sym typeface="Wingdings" panose="05000000000000000000" pitchFamily="2" charset="2"/>
                  </a:rPr>
                  <a:t> (MSE loss)</a:t>
                </a:r>
              </a:p>
              <a:p>
                <a:pPr marL="285750" indent="-285750">
                  <a:buFontTx/>
                  <a:buChar char="-"/>
                </a:pPr>
                <a:endParaRPr lang="en-US" altLang="ko-KR" b="1" dirty="0">
                  <a:latin typeface="Arial Nova" panose="020B0504020202020204" pitchFamily="34" charset="0"/>
                  <a:sym typeface="Wingdings" panose="05000000000000000000" pitchFamily="2" charset="2"/>
                </a:endParaRPr>
              </a:p>
              <a:p>
                <a:pPr marL="285750" indent="-285750">
                  <a:buFontTx/>
                  <a:buChar char="-"/>
                </a:pPr>
                <a:r>
                  <a:rPr lang="en-US" altLang="ko-KR" b="1" dirty="0">
                    <a:latin typeface="Arial Nova" panose="020B0504020202020204" pitchFamily="34" charset="0"/>
                    <a:sym typeface="Wingdings" panose="05000000000000000000" pitchFamily="2" charset="2"/>
                  </a:rPr>
                  <a:t>Split optimization equation</a:t>
                </a:r>
              </a:p>
              <a:p>
                <a:pPr marL="742950" lvl="1" indent="-285750"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accPr>
                          <m:e>
                            <m:r>
                              <a:rPr lang="ko-KR" altLang="en-US" b="1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𝜽</m:t>
                            </m:r>
                          </m:e>
                        </m:acc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𝒕</m:t>
                        </m:r>
                      </m:sub>
                    </m:sSub>
                    <m:r>
                      <a:rPr lang="en-US" altLang="ko-KR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 </m:t>
                    </m:r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ko-KR" altLang="en-US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𝜽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𝒕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𝟏</m:t>
                        </m:r>
                      </m:sub>
                    </m:sSub>
                    <m:r>
                      <a:rPr lang="en-US" altLang="ko-KR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−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𝜼</m:t>
                    </m:r>
                    <m:r>
                      <a:rPr lang="en-US" altLang="ko-KR" b="1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𝛁</m:t>
                    </m:r>
                    <m:acc>
                      <m:accPr>
                        <m:chr m:val="̃"/>
                        <m:ctrlP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acc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𝑹</m:t>
                        </m:r>
                      </m:e>
                    </m:acc>
                    <m:sSup>
                      <m:sSupPr>
                        <m:ctrlP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b="1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𝜽</m:t>
                                </m:r>
                              </m:e>
                              <m:sub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𝒕</m:t>
                                </m:r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−</m:t>
                                </m:r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𝟏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⏉</m:t>
                        </m:r>
                      </m:sup>
                    </m:sSup>
                  </m:oMath>
                </a14:m>
                <a:r>
                  <a:rPr lang="en-US" altLang="ko-KR" b="1" dirty="0">
                    <a:latin typeface="Arial Nova" panose="020B0504020202020204" pitchFamily="34" charset="0"/>
                    <a:sym typeface="Wingdings" panose="05000000000000000000" pitchFamily="2" charset="2"/>
                  </a:rPr>
                  <a:t> : Gradient descent on R</a:t>
                </a:r>
              </a:p>
              <a:p>
                <a:pPr marL="742950" lvl="1" indent="-285750"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ko-KR" altLang="en-US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𝜽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𝒕</m:t>
                        </m:r>
                      </m:sub>
                    </m:sSub>
                    <m:r>
                      <a:rPr lang="en-US" altLang="ko-KR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accPr>
                          <m:e>
                            <m:r>
                              <a:rPr lang="ko-KR" altLang="en-US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𝜽</m:t>
                            </m:r>
                          </m:e>
                        </m:acc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𝒕</m:t>
                        </m:r>
                      </m:sub>
                    </m:sSub>
                    <m:r>
                      <a:rPr lang="en-US" altLang="ko-KR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−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𝝀𝜼</m:t>
                    </m:r>
                    <m:d>
                      <m:dPr>
                        <m:ctrlP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accPr>
                              <m:e>
                                <m:r>
                                  <a:rPr lang="ko-KR" altLang="en-US" b="1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𝜽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𝒕</m:t>
                            </m:r>
                          </m:sub>
                        </m:sSub>
                        <m: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𝟎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R" b="1" dirty="0">
                    <a:latin typeface="Arial Nova" panose="020B0504020202020204" pitchFamily="34" charset="0"/>
                    <a:sym typeface="Wingdings" panose="05000000000000000000" pitchFamily="2" charset="2"/>
                  </a:rPr>
                  <a:t> : Gradient descent 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l-GR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λ</m:t>
                        </m:r>
                      </m:num>
                      <m:den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𝟐</m:t>
                        </m:r>
                      </m:den>
                    </m:f>
                    <m:sSubSup>
                      <m:sSubSupPr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ko-KR" altLang="en-US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𝜽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ko-KR" altLang="en-US" b="1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𝜽</m:t>
                                </m:r>
                              </m:e>
                              <m:sub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𝟎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𝟐</m:t>
                        </m:r>
                      </m:sub>
                      <m:sup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𝟐</m:t>
                        </m:r>
                      </m:sup>
                    </m:sSubSup>
                  </m:oMath>
                </a14:m>
                <a:endParaRPr lang="en-US" altLang="ko-KR" b="1" dirty="0">
                  <a:latin typeface="Arial Nova" panose="020B0504020202020204" pitchFamily="34" charset="0"/>
                  <a:sym typeface="Wingdings" panose="05000000000000000000" pitchFamily="2" charset="2"/>
                </a:endParaRPr>
              </a:p>
              <a:p>
                <a:endParaRPr lang="en-US" altLang="ko-KR" b="1" dirty="0">
                  <a:latin typeface="Arial Nova" panose="020B0504020202020204" pitchFamily="34" charset="0"/>
                  <a:sym typeface="Wingdings" panose="05000000000000000000" pitchFamily="2" charset="2"/>
                </a:endParaRPr>
              </a:p>
              <a:p>
                <a:endParaRPr lang="en-US" altLang="ko-KR" b="1" dirty="0"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273" name="TextBox 272">
                <a:extLst>
                  <a:ext uri="{FF2B5EF4-FFF2-40B4-BE49-F238E27FC236}">
                    <a16:creationId xmlns:a16="http://schemas.microsoft.com/office/drawing/2014/main" id="{C3F23F09-2655-A238-95E8-3AEE5AAEC5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861" y="1112727"/>
                <a:ext cx="11160759" cy="5961632"/>
              </a:xfrm>
              <a:prstGeom prst="rect">
                <a:avLst/>
              </a:prstGeom>
              <a:blipFill>
                <a:blip r:embed="rId3"/>
                <a:stretch>
                  <a:fillRect l="-492" t="-614" r="-1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181541D0-F854-AFEB-A027-D9EFF9E87895}"/>
              </a:ext>
            </a:extLst>
          </p:cNvPr>
          <p:cNvSpPr txBox="1"/>
          <p:nvPr/>
        </p:nvSpPr>
        <p:spPr>
          <a:xfrm>
            <a:off x="0" y="6590426"/>
            <a:ext cx="114247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Afzal, Zahra Rahimi, et al. "Linearization Explains Fine-Tuning in Large Language Models." </a:t>
            </a:r>
            <a:r>
              <a:rPr lang="en-US" altLang="ko-KR" sz="1000" i="1" dirty="0">
                <a:solidFill>
                  <a:schemeClr val="bg1">
                    <a:lumMod val="65000"/>
                  </a:schemeClr>
                </a:solidFill>
              </a:rPr>
              <a:t>The 39th Annual Conference on </a:t>
            </a:r>
            <a:r>
              <a:rPr lang="en-US" altLang="ko-KR" sz="1000" i="1" dirty="0" err="1">
                <a:solidFill>
                  <a:schemeClr val="bg1">
                    <a:lumMod val="65000"/>
                  </a:schemeClr>
                </a:solidFill>
              </a:rPr>
              <a:t>NeurIPS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1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5610E6D-E8B9-5CC5-5896-29500E6B7F5A}"/>
              </a:ext>
            </a:extLst>
          </p:cNvPr>
          <p:cNvSpPr/>
          <p:nvPr/>
        </p:nvSpPr>
        <p:spPr bwMode="auto">
          <a:xfrm>
            <a:off x="3066139" y="4515558"/>
            <a:ext cx="1255007" cy="412491"/>
          </a:xfrm>
          <a:prstGeom prst="rect">
            <a:avLst/>
          </a:prstGeom>
          <a:solidFill>
            <a:srgbClr val="FFFF00">
              <a:alpha val="4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9314C35-CC12-B315-B2E0-0FAA9EB7105F}"/>
              </a:ext>
            </a:extLst>
          </p:cNvPr>
          <p:cNvSpPr/>
          <p:nvPr/>
        </p:nvSpPr>
        <p:spPr bwMode="auto">
          <a:xfrm>
            <a:off x="2283514" y="4515557"/>
            <a:ext cx="583440" cy="412491"/>
          </a:xfrm>
          <a:prstGeom prst="rect">
            <a:avLst/>
          </a:prstGeom>
          <a:solidFill>
            <a:schemeClr val="accent5">
              <a:lumMod val="40000"/>
              <a:lumOff val="60000"/>
              <a:alpha val="4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808F35F-47F3-25EC-4790-B214963CCD3C}"/>
              </a:ext>
            </a:extLst>
          </p:cNvPr>
          <p:cNvSpPr/>
          <p:nvPr/>
        </p:nvSpPr>
        <p:spPr bwMode="auto">
          <a:xfrm>
            <a:off x="1700074" y="4928048"/>
            <a:ext cx="583440" cy="412491"/>
          </a:xfrm>
          <a:prstGeom prst="rect">
            <a:avLst/>
          </a:prstGeom>
          <a:solidFill>
            <a:schemeClr val="accent5">
              <a:lumMod val="40000"/>
              <a:lumOff val="60000"/>
              <a:alpha val="4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B5A05DD-7710-87B2-5DEC-BC16BDB51A84}"/>
              </a:ext>
            </a:extLst>
          </p:cNvPr>
          <p:cNvSpPr/>
          <p:nvPr/>
        </p:nvSpPr>
        <p:spPr bwMode="auto">
          <a:xfrm>
            <a:off x="6183841" y="4860442"/>
            <a:ext cx="1255007" cy="412491"/>
          </a:xfrm>
          <a:prstGeom prst="rect">
            <a:avLst/>
          </a:prstGeom>
          <a:solidFill>
            <a:schemeClr val="accent5">
              <a:lumMod val="40000"/>
              <a:lumOff val="60000"/>
              <a:alpha val="4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C0240CF-3E82-F5EE-A692-0379364EA917}"/>
              </a:ext>
            </a:extLst>
          </p:cNvPr>
          <p:cNvSpPr/>
          <p:nvPr/>
        </p:nvSpPr>
        <p:spPr bwMode="auto">
          <a:xfrm>
            <a:off x="2725622" y="5709415"/>
            <a:ext cx="1069481" cy="412491"/>
          </a:xfrm>
          <a:prstGeom prst="rect">
            <a:avLst/>
          </a:prstGeom>
          <a:solidFill>
            <a:schemeClr val="accent5">
              <a:lumMod val="40000"/>
              <a:lumOff val="60000"/>
              <a:alpha val="4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E699C24-5DC6-ED7A-13B8-9A2E0AF2E377}"/>
              </a:ext>
            </a:extLst>
          </p:cNvPr>
          <p:cNvSpPr/>
          <p:nvPr/>
        </p:nvSpPr>
        <p:spPr bwMode="auto">
          <a:xfrm>
            <a:off x="2632859" y="6086068"/>
            <a:ext cx="1069482" cy="412491"/>
          </a:xfrm>
          <a:prstGeom prst="rect">
            <a:avLst/>
          </a:prstGeom>
          <a:solidFill>
            <a:srgbClr val="FFFF00">
              <a:alpha val="4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F9CCED7-1158-9594-7AAB-4C9CA5EAA101}"/>
              </a:ext>
            </a:extLst>
          </p:cNvPr>
          <p:cNvSpPr/>
          <p:nvPr/>
        </p:nvSpPr>
        <p:spPr bwMode="auto">
          <a:xfrm>
            <a:off x="2332213" y="6103987"/>
            <a:ext cx="207884" cy="412491"/>
          </a:xfrm>
          <a:prstGeom prst="rect">
            <a:avLst/>
          </a:prstGeom>
          <a:solidFill>
            <a:srgbClr val="FFFF00">
              <a:alpha val="4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4643B5E-C30A-7EE8-DCEB-D85B31B76F5F}"/>
              </a:ext>
            </a:extLst>
          </p:cNvPr>
          <p:cNvSpPr/>
          <p:nvPr/>
        </p:nvSpPr>
        <p:spPr bwMode="auto">
          <a:xfrm>
            <a:off x="5992058" y="6057367"/>
            <a:ext cx="1255006" cy="412491"/>
          </a:xfrm>
          <a:prstGeom prst="rect">
            <a:avLst/>
          </a:prstGeom>
          <a:solidFill>
            <a:srgbClr val="FFFF00">
              <a:alpha val="4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2E9AAEA-D94E-5680-F71F-BA75332D3B25}"/>
              </a:ext>
            </a:extLst>
          </p:cNvPr>
          <p:cNvSpPr/>
          <p:nvPr/>
        </p:nvSpPr>
        <p:spPr bwMode="auto">
          <a:xfrm>
            <a:off x="736787" y="3588869"/>
            <a:ext cx="5719015" cy="412491"/>
          </a:xfrm>
          <a:prstGeom prst="rect">
            <a:avLst/>
          </a:prstGeom>
          <a:solidFill>
            <a:srgbClr val="FFFF00">
              <a:alpha val="4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3167851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EEB86-416E-A9AD-8024-6799F1DA7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B79746-3E3C-C406-AB8D-D662F73A5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00" y="144463"/>
            <a:ext cx="11424720" cy="752792"/>
          </a:xfrm>
        </p:spPr>
        <p:txBody>
          <a:bodyPr/>
          <a:lstStyle/>
          <a:p>
            <a:r>
              <a:rPr lang="en-US" altLang="ko-KR" dirty="0"/>
              <a:t>Problem Formulation : Additional Slide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CFDD15-3CAF-7F7C-B26A-BE41D928067F}"/>
              </a:ext>
            </a:extLst>
          </p:cNvPr>
          <p:cNvSpPr txBox="1"/>
          <p:nvPr/>
        </p:nvSpPr>
        <p:spPr>
          <a:xfrm>
            <a:off x="0" y="6590426"/>
            <a:ext cx="114247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Afzal, Zahra Rahimi, et al. "Linearization Explains Fine-Tuning in Large Language Models." </a:t>
            </a:r>
            <a:r>
              <a:rPr lang="en-US" altLang="ko-KR" sz="1000" i="1" dirty="0">
                <a:solidFill>
                  <a:schemeClr val="bg1">
                    <a:lumMod val="65000"/>
                  </a:schemeClr>
                </a:solidFill>
              </a:rPr>
              <a:t>The 39th Annual Conference on </a:t>
            </a:r>
            <a:r>
              <a:rPr lang="en-US" altLang="ko-KR" sz="1000" i="1" dirty="0" err="1">
                <a:solidFill>
                  <a:schemeClr val="bg1">
                    <a:lumMod val="65000"/>
                  </a:schemeClr>
                </a:solidFill>
              </a:rPr>
              <a:t>NeurIPS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1000" dirty="0">
              <a:solidFill>
                <a:schemeClr val="bg1">
                  <a:lumMod val="6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사각형: 둥근 모서리 4">
                <a:extLst>
                  <a:ext uri="{FF2B5EF4-FFF2-40B4-BE49-F238E27FC236}">
                    <a16:creationId xmlns:a16="http://schemas.microsoft.com/office/drawing/2014/main" id="{EC21480F-F07A-ACD1-CAF5-7A8884627EC3}"/>
                  </a:ext>
                </a:extLst>
              </p:cNvPr>
              <p:cNvSpPr/>
              <p:nvPr/>
            </p:nvSpPr>
            <p:spPr bwMode="auto">
              <a:xfrm>
                <a:off x="327560" y="3014980"/>
                <a:ext cx="2171700" cy="863600"/>
              </a:xfrm>
              <a:prstGeom prst="roundRect">
                <a:avLst/>
              </a:prstGeom>
              <a:noFill/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en-US" altLang="ko-KR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 Narrow" pitchFamily="34" charset="0"/>
                  </a:rPr>
                  <a:t>1. Pre-trained Model</a:t>
                </a:r>
              </a:p>
              <a:p>
                <a:pPr algn="ctr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b="1" i="1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sub>
                      </m:sSub>
                      <m:r>
                        <a:rPr lang="en-US" altLang="ko-KR" b="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ko-KR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0" lang="ko-KR" altLang="en-US" sz="1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</a:endParaRPr>
              </a:p>
            </p:txBody>
          </p:sp>
        </mc:Choice>
        <mc:Fallback xmlns="">
          <p:sp>
            <p:nvSpPr>
              <p:cNvPr id="5" name="사각형: 둥근 모서리 4">
                <a:extLst>
                  <a:ext uri="{FF2B5EF4-FFF2-40B4-BE49-F238E27FC236}">
                    <a16:creationId xmlns:a16="http://schemas.microsoft.com/office/drawing/2014/main" id="{EC21480F-F07A-ACD1-CAF5-7A8884627E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7560" y="3014980"/>
                <a:ext cx="2171700" cy="86360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사각형: 둥근 모서리 5">
                <a:extLst>
                  <a:ext uri="{FF2B5EF4-FFF2-40B4-BE49-F238E27FC236}">
                    <a16:creationId xmlns:a16="http://schemas.microsoft.com/office/drawing/2014/main" id="{DAED8ED8-2557-089F-BC5B-89A15B4E0580}"/>
                  </a:ext>
                </a:extLst>
              </p:cNvPr>
              <p:cNvSpPr/>
              <p:nvPr/>
            </p:nvSpPr>
            <p:spPr bwMode="auto">
              <a:xfrm>
                <a:off x="3823235" y="3014980"/>
                <a:ext cx="2171700" cy="863600"/>
              </a:xfrm>
              <a:prstGeom prst="roundRect">
                <a:avLst/>
              </a:prstGeom>
              <a:noFill/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en-US" altLang="ko-KR" sz="1800" b="1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Arial Narrow" pitchFamily="34" charset="0"/>
                  </a:rPr>
                  <a:t>2. Fine-tuned Model</a:t>
                </a:r>
              </a:p>
              <a:p>
                <a:pPr algn="ctr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sSup>
                            <m:sSupPr>
                              <m:ctrlPr>
                                <a:rPr lang="en-US" altLang="ko-KR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p>
                              <m:r>
                                <a:rPr lang="en-US" altLang="ko-KR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sub>
                      </m:sSub>
                      <m:d>
                        <m:dPr>
                          <m:ctrlPr>
                            <a:rPr lang="en-US" altLang="ko-KR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</m:e>
                      </m:d>
                    </m:oMath>
                  </m:oMathPara>
                </a14:m>
                <a:endParaRPr kumimoji="0" lang="ko-KR" altLang="en-US" sz="1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</a:endParaRPr>
              </a:p>
            </p:txBody>
          </p:sp>
        </mc:Choice>
        <mc:Fallback xmlns="">
          <p:sp>
            <p:nvSpPr>
              <p:cNvPr id="6" name="사각형: 둥근 모서리 5">
                <a:extLst>
                  <a:ext uri="{FF2B5EF4-FFF2-40B4-BE49-F238E27FC236}">
                    <a16:creationId xmlns:a16="http://schemas.microsoft.com/office/drawing/2014/main" id="{DAED8ED8-2557-089F-BC5B-89A15B4E05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23235" y="3014980"/>
                <a:ext cx="2171700" cy="8636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2C2DFC5D-08A2-F5F6-2FB9-8E0B282A2BDB}"/>
              </a:ext>
            </a:extLst>
          </p:cNvPr>
          <p:cNvCxnSpPr>
            <a:stCxn id="5" idx="3"/>
            <a:endCxn id="6" idx="1"/>
          </p:cNvCxnSpPr>
          <p:nvPr/>
        </p:nvCxnSpPr>
        <p:spPr bwMode="auto">
          <a:xfrm>
            <a:off x="2499260" y="3446780"/>
            <a:ext cx="1323975" cy="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사각형: 둥근 모서리 8">
                <a:extLst>
                  <a:ext uri="{FF2B5EF4-FFF2-40B4-BE49-F238E27FC236}">
                    <a16:creationId xmlns:a16="http://schemas.microsoft.com/office/drawing/2014/main" id="{4E9F6E27-B9F1-3A9B-1F47-F7FD62A52881}"/>
                  </a:ext>
                </a:extLst>
              </p:cNvPr>
              <p:cNvSpPr/>
              <p:nvPr/>
            </p:nvSpPr>
            <p:spPr bwMode="auto">
              <a:xfrm>
                <a:off x="2113497" y="1877187"/>
                <a:ext cx="2171700" cy="863600"/>
              </a:xfrm>
              <a:prstGeom prst="roundRect">
                <a:avLst/>
              </a:prstGeom>
              <a:noFill/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en-US" altLang="ko-KR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 Narrow" pitchFamily="34" charset="0"/>
                  </a:rPr>
                  <a:t>Target Dataset</a:t>
                </a:r>
              </a:p>
              <a:p>
                <a:pPr algn="ctr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ko-KR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𝑫</m:t>
                          </m:r>
                        </m:e>
                        <m:sub>
                          <m:r>
                            <a:rPr lang="en-US" altLang="ko-KR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𝑻</m:t>
                          </m:r>
                        </m:sub>
                      </m:sSub>
                      <m:r>
                        <a:rPr lang="en-US" altLang="ko-KR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sSubSup>
                        <m:sSubSupPr>
                          <m:ctrlPr>
                            <a:rPr lang="en-US" altLang="ko-KR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SupPr>
                        <m:e>
                          <m:d>
                            <m:dPr>
                              <m:ctrlPr>
                                <a:rPr lang="en-US" altLang="ko-KR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b="1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altLang="ko-KR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ko-KR" b="1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altLang="ko-KR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𝒊</m:t>
                          </m:r>
                          <m:r>
                            <a:rPr lang="en-US" altLang="ko-KR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=</m:t>
                          </m:r>
                          <m:r>
                            <a:rPr lang="en-US" altLang="ko-KR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𝟏</m:t>
                          </m:r>
                        </m:sub>
                        <m:sup>
                          <m:r>
                            <a:rPr lang="en-US" altLang="ko-KR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𝒏</m:t>
                          </m:r>
                        </m:sup>
                      </m:sSubSup>
                    </m:oMath>
                  </m:oMathPara>
                </a14:m>
                <a:endParaRPr kumimoji="0" lang="ko-KR" altLang="en-US" sz="1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</a:endParaRPr>
              </a:p>
            </p:txBody>
          </p:sp>
        </mc:Choice>
        <mc:Fallback xmlns="">
          <p:sp>
            <p:nvSpPr>
              <p:cNvPr id="9" name="사각형: 둥근 모서리 8">
                <a:extLst>
                  <a:ext uri="{FF2B5EF4-FFF2-40B4-BE49-F238E27FC236}">
                    <a16:creationId xmlns:a16="http://schemas.microsoft.com/office/drawing/2014/main" id="{4E9F6E27-B9F1-3A9B-1F47-F7FD62A528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13497" y="1877187"/>
                <a:ext cx="2171700" cy="86360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13CE09D7-C045-D86F-0AF0-A1BD6B1965B6}"/>
              </a:ext>
            </a:extLst>
          </p:cNvPr>
          <p:cNvCxnSpPr>
            <a:stCxn id="9" idx="2"/>
          </p:cNvCxnSpPr>
          <p:nvPr/>
        </p:nvCxnSpPr>
        <p:spPr bwMode="auto">
          <a:xfrm>
            <a:off x="3199347" y="2740787"/>
            <a:ext cx="0" cy="705993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사각형: 둥근 모서리 11">
                <a:extLst>
                  <a:ext uri="{FF2B5EF4-FFF2-40B4-BE49-F238E27FC236}">
                    <a16:creationId xmlns:a16="http://schemas.microsoft.com/office/drawing/2014/main" id="{F93EC6B8-16ED-B811-BD04-C6DEB8A48236}"/>
                  </a:ext>
                </a:extLst>
              </p:cNvPr>
              <p:cNvSpPr/>
              <p:nvPr/>
            </p:nvSpPr>
            <p:spPr bwMode="auto">
              <a:xfrm>
                <a:off x="3622156" y="4348368"/>
                <a:ext cx="3682465" cy="863600"/>
              </a:xfrm>
              <a:prstGeom prst="roundRect">
                <a:avLst/>
              </a:prstGeom>
              <a:noFill/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en-US" altLang="ko-KR" sz="1800" b="1" i="0" u="none" strike="noStrike" cap="none" normalizeH="0" baseline="0" dirty="0">
                    <a:ln>
                      <a:noFill/>
                    </a:ln>
                    <a:effectLst/>
                    <a:latin typeface="Arial Narrow" pitchFamily="34" charset="0"/>
                  </a:rPr>
                  <a:t>3. Original Objectiv</a:t>
                </a:r>
                <a:r>
                  <a:rPr lang="en-US" altLang="ko-KR" b="1" dirty="0">
                    <a:latin typeface="Arial Narrow" pitchFamily="34" charset="0"/>
                  </a:rPr>
                  <a:t>e Function (MSE)</a:t>
                </a:r>
              </a:p>
              <a:p>
                <a:pPr algn="ctr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altLang="ko-KR" sz="1800" b="1" i="0" u="none" strike="noStrike" cap="none" normalizeH="0" baseline="0" dirty="0">
                    <a:ln>
                      <a:noFill/>
                    </a:ln>
                    <a:effectLst/>
                    <a:latin typeface="Arial Narrow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acc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𝑹</m:t>
                        </m:r>
                      </m:e>
                    </m:acc>
                    <m:d>
                      <m:dPr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ko-KR" altLang="en-US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𝜽</m:t>
                        </m:r>
                      </m:e>
                    </m:d>
                    <m:r>
                      <a:rPr lang="en-US" altLang="ko-KR" b="1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 </m:t>
                    </m:r>
                    <m:sSup>
                      <m:sSupPr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𝒇</m:t>
                                </m:r>
                              </m:e>
                              <m:sub>
                                <m:r>
                                  <a:rPr lang="ko-KR" altLang="en-US" b="1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𝜽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ko-KR" b="1" i="1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1" i="1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altLang="ko-KR" b="1" i="1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∗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𝒚</m:t>
                                </m:r>
                              </m:e>
                              <m:sup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𝟐</m:t>
                        </m:r>
                      </m:sup>
                    </m:sSup>
                  </m:oMath>
                </a14:m>
                <a:endParaRPr kumimoji="0" lang="ko-KR" altLang="en-US" sz="1800" b="1" i="0" u="none" strike="noStrike" cap="none" normalizeH="0" baseline="0" dirty="0">
                  <a:ln>
                    <a:noFill/>
                  </a:ln>
                  <a:effectLst/>
                  <a:latin typeface="Arial Narrow" pitchFamily="34" charset="0"/>
                </a:endParaRPr>
              </a:p>
            </p:txBody>
          </p:sp>
        </mc:Choice>
        <mc:Fallback xmlns="">
          <p:sp>
            <p:nvSpPr>
              <p:cNvPr id="12" name="사각형: 둥근 모서리 11">
                <a:extLst>
                  <a:ext uri="{FF2B5EF4-FFF2-40B4-BE49-F238E27FC236}">
                    <a16:creationId xmlns:a16="http://schemas.microsoft.com/office/drawing/2014/main" id="{F93EC6B8-16ED-B811-BD04-C6DEB8A482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22156" y="4348368"/>
                <a:ext cx="3682465" cy="863600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사각형: 둥근 모서리 12">
                <a:extLst>
                  <a:ext uri="{FF2B5EF4-FFF2-40B4-BE49-F238E27FC236}">
                    <a16:creationId xmlns:a16="http://schemas.microsoft.com/office/drawing/2014/main" id="{E00FC798-6CE7-9AC3-AC94-A0C0B4FA3B7F}"/>
                  </a:ext>
                </a:extLst>
              </p:cNvPr>
              <p:cNvSpPr/>
              <p:nvPr/>
            </p:nvSpPr>
            <p:spPr bwMode="auto">
              <a:xfrm>
                <a:off x="3622155" y="5211968"/>
                <a:ext cx="3682465" cy="863600"/>
              </a:xfrm>
              <a:prstGeom prst="roundRect">
                <a:avLst/>
              </a:prstGeom>
              <a:noFill/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en-US" altLang="ko-KR" b="1" dirty="0">
                    <a:latin typeface="Arial Narrow" pitchFamily="34" charset="0"/>
                  </a:rPr>
                  <a:t>4</a:t>
                </a:r>
                <a:r>
                  <a:rPr kumimoji="0" lang="en-US" altLang="ko-KR" sz="1800" b="1" i="0" u="none" strike="noStrike" cap="none" normalizeH="0" baseline="0" dirty="0">
                    <a:ln>
                      <a:noFill/>
                    </a:ln>
                    <a:effectLst/>
                    <a:latin typeface="Arial Narrow" pitchFamily="34" charset="0"/>
                  </a:rPr>
                  <a:t>. Regularization</a:t>
                </a:r>
                <a:endParaRPr lang="en-US" altLang="ko-KR" b="1" dirty="0">
                  <a:latin typeface="Arial Narrow" pitchFamily="34" charset="0"/>
                </a:endParaRPr>
              </a:p>
              <a:p>
                <a:pPr algn="ctr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l-GR" altLang="ko-KR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λ</m:t>
                          </m:r>
                        </m:num>
                        <m:den>
                          <m:r>
                            <a:rPr lang="en-US" altLang="ko-KR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𝟐</m:t>
                          </m:r>
                        </m:den>
                      </m:f>
                      <m:sSubSup>
                        <m:sSubSupPr>
                          <m:ctrlPr>
                            <a:rPr lang="en-US" altLang="ko-KR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ko-KR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dPr>
                            <m:e>
                              <m:r>
                                <a:rPr lang="ko-KR" altLang="en-US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𝜽</m:t>
                              </m:r>
                              <m:r>
                                <a:rPr lang="en-US" altLang="ko-KR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b="1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b="1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𝜽</m:t>
                                  </m:r>
                                </m:e>
                                <m:sub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𝟎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altLang="ko-KR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𝟐</m:t>
                          </m:r>
                        </m:sub>
                        <m:sup>
                          <m:r>
                            <a:rPr lang="en-US" altLang="ko-KR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𝟐</m:t>
                          </m:r>
                        </m:sup>
                      </m:sSubSup>
                    </m:oMath>
                  </m:oMathPara>
                </a14:m>
                <a:endParaRPr kumimoji="0" lang="ko-KR" altLang="en-US" sz="1800" b="1" i="0" u="none" strike="noStrike" cap="none" normalizeH="0" baseline="0" dirty="0">
                  <a:ln>
                    <a:noFill/>
                  </a:ln>
                  <a:effectLst/>
                  <a:latin typeface="Arial Narrow" pitchFamily="34" charset="0"/>
                </a:endParaRPr>
              </a:p>
            </p:txBody>
          </p:sp>
        </mc:Choice>
        <mc:Fallback xmlns="">
          <p:sp>
            <p:nvSpPr>
              <p:cNvPr id="13" name="사각형: 둥근 모서리 12">
                <a:extLst>
                  <a:ext uri="{FF2B5EF4-FFF2-40B4-BE49-F238E27FC236}">
                    <a16:creationId xmlns:a16="http://schemas.microsoft.com/office/drawing/2014/main" id="{E00FC798-6CE7-9AC3-AC94-A0C0B4FA3B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22155" y="5211968"/>
                <a:ext cx="3682465" cy="863600"/>
              </a:xfrm>
              <a:prstGeom prst="roundRect">
                <a:avLst/>
              </a:prstGeom>
              <a:blipFill>
                <a:blip r:embed="rId7"/>
                <a:stretch>
                  <a:fillRect t="-2740"/>
                </a:stretch>
              </a:blip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왼쪽 중괄호 13">
            <a:extLst>
              <a:ext uri="{FF2B5EF4-FFF2-40B4-BE49-F238E27FC236}">
                <a16:creationId xmlns:a16="http://schemas.microsoft.com/office/drawing/2014/main" id="{B51A5DEF-13E6-3B6B-4032-20E766DF2B12}"/>
              </a:ext>
            </a:extLst>
          </p:cNvPr>
          <p:cNvSpPr/>
          <p:nvPr/>
        </p:nvSpPr>
        <p:spPr bwMode="auto">
          <a:xfrm>
            <a:off x="3323172" y="4661629"/>
            <a:ext cx="298982" cy="1171570"/>
          </a:xfrm>
          <a:prstGeom prst="leftBrace">
            <a:avLst>
              <a:gd name="adj1" fmla="val 40191"/>
              <a:gd name="adj2" fmla="val 50000"/>
            </a:avLst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사각형: 둥근 모서리 16">
                <a:extLst>
                  <a:ext uri="{FF2B5EF4-FFF2-40B4-BE49-F238E27FC236}">
                    <a16:creationId xmlns:a16="http://schemas.microsoft.com/office/drawing/2014/main" id="{04B2B9B6-3702-D7AC-D96C-28540FD8B33C}"/>
                  </a:ext>
                </a:extLst>
              </p:cNvPr>
              <p:cNvSpPr/>
              <p:nvPr/>
            </p:nvSpPr>
            <p:spPr bwMode="auto">
              <a:xfrm>
                <a:off x="1151472" y="4919868"/>
                <a:ext cx="2171700" cy="642223"/>
              </a:xfrm>
              <a:prstGeom prst="roundRect">
                <a:avLst/>
              </a:prstGeom>
              <a:noFill/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ko-KR" b="1" dirty="0">
                    <a:latin typeface="Arial Narrow" pitchFamily="34" charset="0"/>
                  </a:rPr>
                  <a:t>Optimize Loss </a:t>
                </a:r>
              </a:p>
              <a:p>
                <a:pPr algn="ctr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ko-KR" b="1" dirty="0">
                    <a:latin typeface="Arial Narrow" pitchFamily="34" charset="0"/>
                  </a:rPr>
                  <a:t>Function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ko-KR" alt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𝜽</m:t>
                        </m:r>
                      </m:e>
                      <m:sup>
                        <m:r>
                          <a:rPr lang="en-US" altLang="ko-KR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b="1" dirty="0">
                    <a:latin typeface="Arial Narrow" pitchFamily="34" charset="0"/>
                  </a:rPr>
                  <a:t> </a:t>
                </a:r>
                <a:endParaRPr kumimoji="0" lang="ko-KR" altLang="en-US" sz="1800" b="1" i="0" u="none" strike="noStrike" cap="none" normalizeH="0" baseline="0" dirty="0">
                  <a:ln>
                    <a:noFill/>
                  </a:ln>
                  <a:effectLst/>
                  <a:latin typeface="Arial Narrow" pitchFamily="34" charset="0"/>
                </a:endParaRPr>
              </a:p>
            </p:txBody>
          </p:sp>
        </mc:Choice>
        <mc:Fallback xmlns="">
          <p:sp>
            <p:nvSpPr>
              <p:cNvPr id="17" name="사각형: 둥근 모서리 16">
                <a:extLst>
                  <a:ext uri="{FF2B5EF4-FFF2-40B4-BE49-F238E27FC236}">
                    <a16:creationId xmlns:a16="http://schemas.microsoft.com/office/drawing/2014/main" id="{04B2B9B6-3702-D7AC-D96C-28540FD8B3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51472" y="4919868"/>
                <a:ext cx="2171700" cy="642223"/>
              </a:xfrm>
              <a:prstGeom prst="roundRect">
                <a:avLst/>
              </a:prstGeom>
              <a:blipFill>
                <a:blip r:embed="rId8"/>
                <a:stretch>
                  <a:fillRect t="-1835" b="-13761"/>
                </a:stretch>
              </a:blip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사각형: 둥근 모서리 21">
                <a:extLst>
                  <a:ext uri="{FF2B5EF4-FFF2-40B4-BE49-F238E27FC236}">
                    <a16:creationId xmlns:a16="http://schemas.microsoft.com/office/drawing/2014/main" id="{6F5D0466-94E8-5859-2140-EC6DB502D5B4}"/>
                  </a:ext>
                </a:extLst>
              </p:cNvPr>
              <p:cNvSpPr/>
              <p:nvPr/>
            </p:nvSpPr>
            <p:spPr bwMode="auto">
              <a:xfrm>
                <a:off x="7716587" y="3878580"/>
                <a:ext cx="3682465" cy="863600"/>
              </a:xfrm>
              <a:prstGeom prst="roundRect">
                <a:avLst/>
              </a:prstGeom>
              <a:noFill/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en-US" altLang="ko-KR" sz="1800" b="1" i="0" u="none" strike="noStrike" cap="none" normalizeH="0" baseline="0" dirty="0">
                    <a:ln>
                      <a:noFill/>
                    </a:ln>
                    <a:effectLst/>
                    <a:latin typeface="Arial Narrow" pitchFamily="34" charset="0"/>
                  </a:rPr>
                  <a:t>5. Gradient Descent on R</a:t>
                </a:r>
              </a:p>
              <a:p>
                <a:pPr algn="ctr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altLang="ko-KR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accPr>
                            <m:e>
                              <m:r>
                                <a:rPr lang="ko-KR" altLang="en-US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𝜽</m:t>
                              </m:r>
                            </m:e>
                          </m:acc>
                        </m:e>
                        <m:sub>
                          <m:r>
                            <a:rPr lang="en-US" altLang="ko-KR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𝒕</m:t>
                          </m:r>
                        </m:sub>
                      </m:sSub>
                      <m:r>
                        <a:rPr lang="en-US" altLang="ko-KR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 </m:t>
                      </m:r>
                      <m:sSub>
                        <m:sSubPr>
                          <m:ctrlPr>
                            <a:rPr lang="en-US" altLang="ko-KR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ko-KR" altLang="en-US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𝜽</m:t>
                          </m:r>
                        </m:e>
                        <m:sub>
                          <m:r>
                            <a:rPr lang="en-US" altLang="ko-KR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𝒕</m:t>
                          </m:r>
                          <m:r>
                            <a:rPr lang="en-US" altLang="ko-KR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−</m:t>
                          </m:r>
                          <m:r>
                            <a:rPr lang="en-US" altLang="ko-KR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𝟏</m:t>
                          </m:r>
                        </m:sub>
                      </m:sSub>
                      <m:r>
                        <a:rPr lang="en-US" altLang="ko-KR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−</m:t>
                      </m:r>
                      <m:r>
                        <a:rPr lang="en-US" altLang="ko-KR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𝜼</m:t>
                      </m:r>
                      <m:r>
                        <a:rPr lang="en-US" altLang="ko-KR" b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𝛁</m:t>
                      </m:r>
                      <m:acc>
                        <m:accPr>
                          <m:chr m:val="̃"/>
                          <m:ctrlPr>
                            <a:rPr lang="en-US" altLang="ko-KR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accPr>
                        <m:e>
                          <m:r>
                            <a:rPr lang="en-US" altLang="ko-KR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𝑹</m:t>
                          </m:r>
                        </m:e>
                      </m:acc>
                      <m:sSup>
                        <m:sSupPr>
                          <m:ctrlPr>
                            <a:rPr lang="en-US" altLang="ko-KR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b="1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𝜽</m:t>
                                  </m:r>
                                </m:e>
                                <m:sub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𝒕</m:t>
                                  </m:r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−</m:t>
                                  </m:r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ko-KR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⏉</m:t>
                          </m:r>
                        </m:sup>
                      </m:sSup>
                    </m:oMath>
                  </m:oMathPara>
                </a14:m>
                <a:endParaRPr kumimoji="0" lang="ko-KR" altLang="en-US" sz="1800" b="1" i="0" u="none" strike="noStrike" cap="none" normalizeH="0" baseline="0" dirty="0">
                  <a:ln>
                    <a:noFill/>
                  </a:ln>
                  <a:effectLst/>
                  <a:latin typeface="Arial Narrow" pitchFamily="34" charset="0"/>
                </a:endParaRPr>
              </a:p>
            </p:txBody>
          </p:sp>
        </mc:Choice>
        <mc:Fallback xmlns="">
          <p:sp>
            <p:nvSpPr>
              <p:cNvPr id="22" name="사각형: 둥근 모서리 21">
                <a:extLst>
                  <a:ext uri="{FF2B5EF4-FFF2-40B4-BE49-F238E27FC236}">
                    <a16:creationId xmlns:a16="http://schemas.microsoft.com/office/drawing/2014/main" id="{6F5D0466-94E8-5859-2140-EC6DB502D5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16587" y="3878580"/>
                <a:ext cx="3682465" cy="863600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사각형: 둥근 모서리 22">
                <a:extLst>
                  <a:ext uri="{FF2B5EF4-FFF2-40B4-BE49-F238E27FC236}">
                    <a16:creationId xmlns:a16="http://schemas.microsoft.com/office/drawing/2014/main" id="{1BC7D3BC-F328-70BF-21D4-7324DF1E304A}"/>
                  </a:ext>
                </a:extLst>
              </p:cNvPr>
              <p:cNvSpPr/>
              <p:nvPr/>
            </p:nvSpPr>
            <p:spPr bwMode="auto">
              <a:xfrm>
                <a:off x="7716586" y="5562091"/>
                <a:ext cx="3682465" cy="863600"/>
              </a:xfrm>
              <a:prstGeom prst="roundRect">
                <a:avLst/>
              </a:prstGeom>
              <a:noFill/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en-US" altLang="ko-KR" b="1" dirty="0">
                    <a:latin typeface="Arial Narrow" pitchFamily="34" charset="0"/>
                  </a:rPr>
                  <a:t>6. Gradient Descent on Regularization</a:t>
                </a:r>
              </a:p>
              <a:p>
                <a:pPr algn="ctr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ko-KR" altLang="en-US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𝜽</m:t>
                          </m:r>
                        </m:e>
                        <m:sub>
                          <m:r>
                            <a:rPr lang="en-US" altLang="ko-KR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𝒕</m:t>
                          </m:r>
                        </m:sub>
                      </m:sSub>
                      <m:r>
                        <a:rPr lang="en-US" altLang="ko-KR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sSub>
                        <m:sSubPr>
                          <m:ctrlPr>
                            <a:rPr lang="en-US" altLang="ko-KR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altLang="ko-KR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accPr>
                            <m:e>
                              <m:r>
                                <a:rPr lang="ko-KR" altLang="en-US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𝜽</m:t>
                              </m:r>
                            </m:e>
                          </m:acc>
                        </m:e>
                        <m:sub>
                          <m:r>
                            <a:rPr lang="en-US" altLang="ko-KR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𝒕</m:t>
                          </m:r>
                        </m:sub>
                      </m:sSub>
                      <m:r>
                        <a:rPr lang="en-US" altLang="ko-KR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−</m:t>
                      </m:r>
                      <m:r>
                        <a:rPr lang="en-US" altLang="ko-KR" b="1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𝝀𝜼</m:t>
                      </m:r>
                      <m:d>
                        <m:dPr>
                          <m:ctrlPr>
                            <a:rPr lang="en-US" altLang="ko-KR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en-US" altLang="ko-KR" b="1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accPr>
                                <m:e>
                                  <m:r>
                                    <a:rPr lang="ko-KR" altLang="en-US" b="1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ko-KR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𝒕</m:t>
                              </m:r>
                            </m:sub>
                          </m:sSub>
                          <m:r>
                            <a:rPr lang="en-US" altLang="ko-KR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altLang="ko-KR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𝟎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kumimoji="0" lang="ko-KR" altLang="en-US" sz="1800" b="1" i="0" u="none" strike="noStrike" cap="none" normalizeH="0" baseline="0" dirty="0">
                  <a:ln>
                    <a:noFill/>
                  </a:ln>
                  <a:effectLst/>
                  <a:latin typeface="Arial Narrow" pitchFamily="34" charset="0"/>
                </a:endParaRPr>
              </a:p>
            </p:txBody>
          </p:sp>
        </mc:Choice>
        <mc:Fallback xmlns="">
          <p:sp>
            <p:nvSpPr>
              <p:cNvPr id="23" name="사각형: 둥근 모서리 22">
                <a:extLst>
                  <a:ext uri="{FF2B5EF4-FFF2-40B4-BE49-F238E27FC236}">
                    <a16:creationId xmlns:a16="http://schemas.microsoft.com/office/drawing/2014/main" id="{1BC7D3BC-F328-70BF-21D4-7324DF1E30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16586" y="5562091"/>
                <a:ext cx="3682465" cy="863600"/>
              </a:xfrm>
              <a:prstGeom prst="roundRect">
                <a:avLst/>
              </a:prstGeom>
              <a:blipFill>
                <a:blip r:embed="rId10"/>
                <a:stretch>
                  <a:fillRect/>
                </a:stretch>
              </a:blip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95A81E60-0FB0-2793-162D-FEB6CC3C11DC}"/>
              </a:ext>
            </a:extLst>
          </p:cNvPr>
          <p:cNvCxnSpPr>
            <a:stCxn id="17" idx="0"/>
          </p:cNvCxnSpPr>
          <p:nvPr/>
        </p:nvCxnSpPr>
        <p:spPr bwMode="auto">
          <a:xfrm rot="5400000" flipH="1" flipV="1">
            <a:off x="1981790" y="3702312"/>
            <a:ext cx="1473088" cy="962025"/>
          </a:xfrm>
          <a:prstGeom prst="bentConnector3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0502162B-E4D3-66AD-C470-B404E1733120}"/>
              </a:ext>
            </a:extLst>
          </p:cNvPr>
          <p:cNvCxnSpPr>
            <a:stCxn id="12" idx="3"/>
            <a:endCxn id="22" idx="1"/>
          </p:cNvCxnSpPr>
          <p:nvPr/>
        </p:nvCxnSpPr>
        <p:spPr bwMode="auto">
          <a:xfrm flipV="1">
            <a:off x="7304621" y="4310380"/>
            <a:ext cx="411966" cy="469788"/>
          </a:xfrm>
          <a:prstGeom prst="bentConnector3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D933A662-FE48-817D-687E-77D599141CE7}"/>
              </a:ext>
            </a:extLst>
          </p:cNvPr>
          <p:cNvCxnSpPr>
            <a:cxnSpLocks/>
            <a:stCxn id="13" idx="3"/>
            <a:endCxn id="23" idx="1"/>
          </p:cNvCxnSpPr>
          <p:nvPr/>
        </p:nvCxnSpPr>
        <p:spPr bwMode="auto">
          <a:xfrm>
            <a:off x="7304620" y="5643768"/>
            <a:ext cx="411966" cy="350123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56" name="사각형: 둥근 모서리 255">
            <a:extLst>
              <a:ext uri="{FF2B5EF4-FFF2-40B4-BE49-F238E27FC236}">
                <a16:creationId xmlns:a16="http://schemas.microsoft.com/office/drawing/2014/main" id="{2A11F88F-5813-FC1C-B3E4-6E95B1FBAE52}"/>
              </a:ext>
            </a:extLst>
          </p:cNvPr>
          <p:cNvSpPr/>
          <p:nvPr/>
        </p:nvSpPr>
        <p:spPr bwMode="auto">
          <a:xfrm>
            <a:off x="7278861" y="5001075"/>
            <a:ext cx="875450" cy="485378"/>
          </a:xfrm>
          <a:prstGeom prst="round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Split</a:t>
            </a:r>
            <a:endParaRPr kumimoji="0" lang="ko-KR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사각형: 둥근 모서리 257">
                <a:extLst>
                  <a:ext uri="{FF2B5EF4-FFF2-40B4-BE49-F238E27FC236}">
                    <a16:creationId xmlns:a16="http://schemas.microsoft.com/office/drawing/2014/main" id="{8ECE616B-7792-FBCE-9490-8322E81C5D58}"/>
                  </a:ext>
                </a:extLst>
              </p:cNvPr>
              <p:cNvSpPr/>
              <p:nvPr/>
            </p:nvSpPr>
            <p:spPr bwMode="auto">
              <a:xfrm>
                <a:off x="6491772" y="1646032"/>
                <a:ext cx="4907279" cy="1390595"/>
              </a:xfrm>
              <a:prstGeom prst="roundRect">
                <a:avLst/>
              </a:prstGeom>
              <a:noFill/>
              <a:ln w="254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285750" indent="-285750" algn="just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kumimoji="0" lang="en-US" altLang="ko-KR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 Narrow" pitchFamily="34" charset="0"/>
                  </a:rPr>
                  <a:t>Why regularize with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l-GR" altLang="ko-K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λ</m:t>
                        </m:r>
                      </m:num>
                      <m:den>
                        <m:r>
                          <a:rPr lang="en-US" altLang="ko-K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𝟐</m:t>
                        </m:r>
                      </m:den>
                    </m:f>
                    <m:sSubSup>
                      <m:sSubSupPr>
                        <m:ctrlPr>
                          <a:rPr lang="en-US" altLang="ko-K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ko-KR" altLang="en-US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𝜽</m:t>
                            </m:r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ko-KR" altLang="en-US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𝜽</m:t>
                                </m:r>
                              </m:e>
                              <m:sub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𝟎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altLang="ko-K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𝟐</m:t>
                        </m:r>
                      </m:sub>
                      <m:sup>
                        <m:r>
                          <a:rPr lang="en-US" altLang="ko-K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𝟐</m:t>
                        </m:r>
                      </m:sup>
                    </m:sSubSup>
                  </m:oMath>
                </a14:m>
                <a:r>
                  <a:rPr kumimoji="0" lang="en-US" altLang="ko-KR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 Narrow" pitchFamily="34" charset="0"/>
                  </a:rPr>
                  <a:t> ?</a:t>
                </a:r>
              </a:p>
              <a:p>
                <a:pPr marL="285750" indent="-285750" algn="just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Wingdings" panose="05000000000000000000" pitchFamily="2" charset="2"/>
                  <a:buChar char="à"/>
                </a:pPr>
                <a:r>
                  <a:rPr lang="en-US" altLang="ko-KR" b="1" dirty="0">
                    <a:solidFill>
                      <a:schemeClr val="tx1"/>
                    </a:solidFill>
                    <a:latin typeface="Arial Narrow" pitchFamily="34" charset="0"/>
                    <a:sym typeface="Wingdings" panose="05000000000000000000" pitchFamily="2" charset="2"/>
                  </a:rPr>
                  <a:t>Explicit bias that promotes proximity</a:t>
                </a:r>
              </a:p>
              <a:p>
                <a:pPr marL="285750" indent="-285750" algn="just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kumimoji="0" lang="en-US" altLang="ko-KR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 Narrow" pitchFamily="34" charset="0"/>
                  </a:rPr>
                  <a:t>Why keep it close?</a:t>
                </a:r>
              </a:p>
              <a:p>
                <a:pPr marL="285750" indent="-285750" algn="just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Wingdings" panose="05000000000000000000" pitchFamily="2" charset="2"/>
                  <a:buChar char="à"/>
                </a:pPr>
                <a:r>
                  <a:rPr lang="en-US" altLang="ko-KR" b="1" dirty="0">
                    <a:solidFill>
                      <a:schemeClr val="tx1"/>
                    </a:solidFill>
                    <a:latin typeface="Arial Narrow" pitchFamily="34" charset="0"/>
                    <a:sym typeface="Wingdings" panose="05000000000000000000" pitchFamily="2" charset="2"/>
                  </a:rPr>
                  <a:t>If they are close, we can use linear characteristics</a:t>
                </a:r>
              </a:p>
              <a:p>
                <a:pPr marL="285750" indent="-285750" algn="just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kumimoji="0" lang="en-US" altLang="ko-KR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 Narrow" pitchFamily="34" charset="0"/>
                    <a:sym typeface="Wingdings" panose="05000000000000000000" pitchFamily="2" charset="2"/>
                  </a:rPr>
                  <a:t>Why use linear</a:t>
                </a:r>
                <a:r>
                  <a:rPr lang="en-US" altLang="ko-KR" b="1" dirty="0">
                    <a:solidFill>
                      <a:schemeClr val="tx1"/>
                    </a:solidFill>
                    <a:latin typeface="Arial Narrow" pitchFamily="34" charset="0"/>
                    <a:sym typeface="Wingdings" panose="05000000000000000000" pitchFamily="2" charset="2"/>
                  </a:rPr>
                  <a:t> characteristics?</a:t>
                </a:r>
              </a:p>
              <a:p>
                <a:pPr marL="285750" indent="-285750" algn="just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Wingdings" panose="05000000000000000000" pitchFamily="2" charset="2"/>
                  <a:buChar char="à"/>
                </a:pPr>
                <a:r>
                  <a:rPr kumimoji="0" lang="en-US" altLang="ko-KR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 Narrow" pitchFamily="34" charset="0"/>
                    <a:sym typeface="Wingdings" panose="05000000000000000000" pitchFamily="2" charset="2"/>
                  </a:rPr>
                  <a:t>Cuz you can use NTK kernels if linear</a:t>
                </a:r>
              </a:p>
              <a:p>
                <a:pPr marL="285750" indent="-285750" algn="just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b="1" dirty="0">
                    <a:latin typeface="Arial Narrow" pitchFamily="34" charset="0"/>
                    <a:sym typeface="Wingdings" panose="05000000000000000000" pitchFamily="2" charset="2"/>
                  </a:rPr>
                  <a:t>Why use NTK kernels?</a:t>
                </a:r>
              </a:p>
              <a:p>
                <a:pPr marL="285750" indent="-285750" algn="just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Wingdings" panose="05000000000000000000" pitchFamily="2" charset="2"/>
                  <a:buChar char="à"/>
                </a:pPr>
                <a:r>
                  <a:rPr kumimoji="0" lang="en-US" altLang="ko-KR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 Narrow" pitchFamily="34" charset="0"/>
                  </a:rPr>
                  <a:t>We can use its properties to predict performance </a:t>
                </a:r>
              </a:p>
              <a:p>
                <a:pPr algn="just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ko-KR" b="1" dirty="0">
                    <a:latin typeface="Arial Narrow" pitchFamily="34" charset="0"/>
                  </a:rPr>
                  <a:t>     </a:t>
                </a:r>
                <a:r>
                  <a:rPr kumimoji="0" lang="en-US" altLang="ko-KR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 Narrow" pitchFamily="34" charset="0"/>
                  </a:rPr>
                  <a:t>of fine-tuned models</a:t>
                </a:r>
                <a:endParaRPr kumimoji="0" lang="ko-KR" altLang="en-US" sz="1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</a:endParaRPr>
              </a:p>
            </p:txBody>
          </p:sp>
        </mc:Choice>
        <mc:Fallback xmlns="">
          <p:sp>
            <p:nvSpPr>
              <p:cNvPr id="258" name="사각형: 둥근 모서리 257">
                <a:extLst>
                  <a:ext uri="{FF2B5EF4-FFF2-40B4-BE49-F238E27FC236}">
                    <a16:creationId xmlns:a16="http://schemas.microsoft.com/office/drawing/2014/main" id="{8ECE616B-7792-FBCE-9490-8322E81C5D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91772" y="1646032"/>
                <a:ext cx="4907279" cy="1390595"/>
              </a:xfrm>
              <a:prstGeom prst="roundRect">
                <a:avLst/>
              </a:prstGeom>
              <a:blipFill>
                <a:blip r:embed="rId11"/>
                <a:stretch>
                  <a:fillRect t="-44298" r="-3106" b="-54386"/>
                </a:stretch>
              </a:blipFill>
              <a:ln w="254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직사각형 3">
            <a:extLst>
              <a:ext uri="{FF2B5EF4-FFF2-40B4-BE49-F238E27FC236}">
                <a16:creationId xmlns:a16="http://schemas.microsoft.com/office/drawing/2014/main" id="{C50E35F0-8B92-0956-9910-821A4F1303B6}"/>
              </a:ext>
            </a:extLst>
          </p:cNvPr>
          <p:cNvSpPr/>
          <p:nvPr/>
        </p:nvSpPr>
        <p:spPr bwMode="auto">
          <a:xfrm>
            <a:off x="8707758" y="1038263"/>
            <a:ext cx="1255006" cy="412491"/>
          </a:xfrm>
          <a:prstGeom prst="rect">
            <a:avLst/>
          </a:prstGeom>
          <a:solidFill>
            <a:srgbClr val="FFFF00">
              <a:alpha val="4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0C5C8C7-2751-D491-CF77-0C528505F6FC}"/>
              </a:ext>
            </a:extLst>
          </p:cNvPr>
          <p:cNvSpPr/>
          <p:nvPr/>
        </p:nvSpPr>
        <p:spPr bwMode="auto">
          <a:xfrm>
            <a:off x="4835883" y="5593076"/>
            <a:ext cx="1255006" cy="412491"/>
          </a:xfrm>
          <a:prstGeom prst="rect">
            <a:avLst/>
          </a:prstGeom>
          <a:solidFill>
            <a:srgbClr val="FFFF00">
              <a:alpha val="4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83CD882-1CFF-0CE8-4F89-20EB2FAF2EA5}"/>
              </a:ext>
            </a:extLst>
          </p:cNvPr>
          <p:cNvSpPr/>
          <p:nvPr/>
        </p:nvSpPr>
        <p:spPr bwMode="auto">
          <a:xfrm>
            <a:off x="4195502" y="4760707"/>
            <a:ext cx="640381" cy="412491"/>
          </a:xfrm>
          <a:prstGeom prst="rect">
            <a:avLst/>
          </a:prstGeom>
          <a:solidFill>
            <a:schemeClr val="accent5">
              <a:lumMod val="40000"/>
              <a:lumOff val="60000"/>
              <a:alpha val="4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BA138B4-0A6A-86D7-EFC1-E8ECBF13EC3F}"/>
              </a:ext>
            </a:extLst>
          </p:cNvPr>
          <p:cNvSpPr/>
          <p:nvPr/>
        </p:nvSpPr>
        <p:spPr bwMode="auto">
          <a:xfrm>
            <a:off x="9710549" y="4252195"/>
            <a:ext cx="1138498" cy="412491"/>
          </a:xfrm>
          <a:prstGeom prst="rect">
            <a:avLst/>
          </a:prstGeom>
          <a:solidFill>
            <a:schemeClr val="accent5">
              <a:lumMod val="40000"/>
              <a:lumOff val="60000"/>
              <a:alpha val="4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07AF1F1-103A-1638-1590-AFF040E27C6A}"/>
              </a:ext>
            </a:extLst>
          </p:cNvPr>
          <p:cNvSpPr/>
          <p:nvPr/>
        </p:nvSpPr>
        <p:spPr bwMode="auto">
          <a:xfrm>
            <a:off x="9766539" y="5889322"/>
            <a:ext cx="979380" cy="412491"/>
          </a:xfrm>
          <a:prstGeom prst="rect">
            <a:avLst/>
          </a:prstGeom>
          <a:solidFill>
            <a:srgbClr val="FFFF00">
              <a:alpha val="4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9482135-7089-1153-5BB2-76954289AB49}"/>
              </a:ext>
            </a:extLst>
          </p:cNvPr>
          <p:cNvSpPr/>
          <p:nvPr/>
        </p:nvSpPr>
        <p:spPr bwMode="auto">
          <a:xfrm>
            <a:off x="9473074" y="5879667"/>
            <a:ext cx="138439" cy="412491"/>
          </a:xfrm>
          <a:prstGeom prst="rect">
            <a:avLst/>
          </a:prstGeom>
          <a:solidFill>
            <a:srgbClr val="FFFF00">
              <a:alpha val="4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1568633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0342D-AB68-8A4B-DEC9-D70C99BAB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14E710D-CC8C-3692-4E04-3B1DB15D80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3878" y="2299640"/>
            <a:ext cx="11841922" cy="230194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sz="3600" dirty="0">
                <a:solidFill>
                  <a:schemeClr val="tx1"/>
                </a:solidFill>
                <a:latin typeface="Arial Nova"/>
                <a:cs typeface="Arial"/>
              </a:rPr>
              <a:t>Section 3 : Proximity Promotes Linearity</a:t>
            </a:r>
            <a:endParaRPr lang="ko-KR" altLang="en-US" b="0" dirty="0">
              <a:solidFill>
                <a:schemeClr val="tx1"/>
              </a:solidFill>
              <a:latin typeface="Arial Nova"/>
              <a:cs typeface="Arial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461A0DA-A7BA-FDF6-8170-F29102EDBB0E}"/>
              </a:ext>
            </a:extLst>
          </p:cNvPr>
          <p:cNvSpPr/>
          <p:nvPr/>
        </p:nvSpPr>
        <p:spPr>
          <a:xfrm>
            <a:off x="4" y="0"/>
            <a:ext cx="12191996" cy="950400"/>
          </a:xfrm>
          <a:prstGeom prst="rect">
            <a:avLst/>
          </a:prstGeom>
          <a:solidFill>
            <a:srgbClr val="2530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40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EECE695D : Deep Learning Theory</a:t>
            </a:r>
            <a:endParaRPr kumimoji="1" lang="ko-Kore-KR" altLang="en-US" sz="4000" b="1" dirty="0">
              <a:solidFill>
                <a:schemeClr val="bg1"/>
              </a:solidFill>
              <a:latin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4385654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731CC-70B4-4DAE-BB1B-08CD2560C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2F923962-7031-F1ED-33A0-3700403D24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6578" y="1800727"/>
            <a:ext cx="5139660" cy="356608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6F952119-0C20-1D05-4DD9-C50D1F536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00" y="144463"/>
            <a:ext cx="11424720" cy="752792"/>
          </a:xfrm>
        </p:spPr>
        <p:txBody>
          <a:bodyPr/>
          <a:lstStyle/>
          <a:p>
            <a:r>
              <a:rPr lang="en-US" altLang="ko-KR" dirty="0"/>
              <a:t>Proximity to the Pretrained Model Promotes Linearity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3" name="TextBox 272">
                <a:extLst>
                  <a:ext uri="{FF2B5EF4-FFF2-40B4-BE49-F238E27FC236}">
                    <a16:creationId xmlns:a16="http://schemas.microsoft.com/office/drawing/2014/main" id="{C02BE61D-4A8D-C7CB-1ECD-55C8A5E7D914}"/>
                  </a:ext>
                </a:extLst>
              </p:cNvPr>
              <p:cNvSpPr txBox="1"/>
              <p:nvPr/>
            </p:nvSpPr>
            <p:spPr>
              <a:xfrm>
                <a:off x="347880" y="1125427"/>
                <a:ext cx="11424720" cy="46784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Tx/>
                  <a:buChar char="-"/>
                </a:pPr>
                <a:r>
                  <a:rPr lang="en-US" altLang="ko-KR" b="1" dirty="0">
                    <a:latin typeface="Arial Nova" panose="020B0504020202020204" pitchFamily="34" charset="0"/>
                  </a:rPr>
                  <a:t>The authors need to justify proximity of the fine-tuned model to the pretrained model</a:t>
                </a:r>
              </a:p>
              <a:p>
                <a:pPr marL="742950" lvl="1" indent="-285750">
                  <a:buFontTx/>
                  <a:buChar char="-"/>
                </a:pPr>
                <a:r>
                  <a:rPr lang="en-US" altLang="ko-KR" b="1" dirty="0">
                    <a:latin typeface="Arial Nova" panose="020B0504020202020204" pitchFamily="34" charset="0"/>
                  </a:rPr>
                  <a:t>Show the similarity between final fine-tuned solution (answer) &amp; linearized counterpart (objective)</a:t>
                </a:r>
              </a:p>
              <a:p>
                <a:pPr marL="285750" indent="-285750">
                  <a:buFontTx/>
                  <a:buChar char="-"/>
                </a:pPr>
                <a:endParaRPr lang="en-US" altLang="ko-KR" b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r>
                  <a:rPr lang="en-US" altLang="ko-KR" b="1" dirty="0">
                    <a:latin typeface="Arial Nova" panose="020B0504020202020204" pitchFamily="34" charset="0"/>
                  </a:rPr>
                  <a:t>Linearized fine-tuned model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</m:acc>
                      </m:e>
                      <m:sub>
                        <m:sSub>
                          <m:sSubPr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ko-KR" altLang="en-US" b="1" i="1" smtClean="0">
                                    <a:latin typeface="Cambria Math" panose="02040503050406030204" pitchFamily="18" charset="0"/>
                                  </a:rPr>
                                  <m:t>𝜽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sSub>
                          <m:sSubPr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+&lt;</m:t>
                    </m:r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𝛁</m:t>
                    </m:r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0" smtClean="0"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sSub>
                          <m:sSubPr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</m:acc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endParaRPr lang="en-US" altLang="ko-KR" b="1" dirty="0">
                  <a:latin typeface="Arial Nova" panose="020B0504020202020204" pitchFamily="34" charset="0"/>
                </a:endParaRPr>
              </a:p>
              <a:p>
                <a:pPr marL="742950" lvl="1" indent="-285750">
                  <a:buFontTx/>
                  <a:buChar char="-"/>
                </a:pPr>
                <a:r>
                  <a:rPr lang="en-US" altLang="ko-KR" b="1" dirty="0">
                    <a:latin typeface="Arial Nova" panose="020B0504020202020204" pitchFamily="34" charset="0"/>
                  </a:rPr>
                  <a:t>Non-linear function space : </a:t>
                </a:r>
                <a:r>
                  <a:rPr lang="en-US" altLang="ko-KR" b="1" dirty="0">
                    <a:latin typeface="Script MT Bold" panose="03040602040607080904" pitchFamily="66" charset="0"/>
                  </a:rPr>
                  <a:t>F</a:t>
                </a:r>
                <a:endParaRPr lang="en-US" altLang="ko-KR" b="1" dirty="0">
                  <a:latin typeface="Arial Nova" panose="020B0504020202020204" pitchFamily="34" charset="0"/>
                </a:endParaRPr>
              </a:p>
              <a:p>
                <a:pPr marL="742950" lvl="1" indent="-285750">
                  <a:buFontTx/>
                  <a:buChar char="-"/>
                </a:pPr>
                <a:r>
                  <a:rPr lang="en-US" altLang="ko-KR" b="1" dirty="0">
                    <a:latin typeface="Arial Nova" panose="020B0504020202020204" pitchFamily="34" charset="0"/>
                  </a:rPr>
                  <a:t>Linear function space : </a:t>
                </a:r>
                <a:r>
                  <a:rPr lang="en-US" altLang="ko-KR" b="1" dirty="0">
                    <a:latin typeface="Script MT Bold" panose="03040602040607080904" pitchFamily="66" charset="0"/>
                  </a:rPr>
                  <a:t>H</a:t>
                </a:r>
                <a:endParaRPr lang="en-US" altLang="ko-KR" b="1" dirty="0">
                  <a:latin typeface="Arial Nova" panose="020B0504020202020204" pitchFamily="34" charset="0"/>
                </a:endParaRPr>
              </a:p>
              <a:p>
                <a:pPr marL="1200150" lvl="2" indent="-285750">
                  <a:buFontTx/>
                  <a:buChar char="-"/>
                </a:pPr>
                <a:r>
                  <a:rPr lang="en-US" altLang="ko-KR" b="1" dirty="0">
                    <a:latin typeface="Arial Nova" panose="020B0504020202020204" pitchFamily="34" charset="0"/>
                  </a:rPr>
                  <a:t>Defined by NTK</a:t>
                </a:r>
              </a:p>
              <a:p>
                <a:pPr marL="742950" lvl="1" indent="-285750">
                  <a:buFontTx/>
                  <a:buChar char="-"/>
                </a:pPr>
                <a:r>
                  <a:rPr lang="en-US" altLang="ko-KR" b="1" dirty="0">
                    <a:latin typeface="Arial Nova" panose="020B0504020202020204" pitchFamily="34" charset="0"/>
                  </a:rPr>
                  <a:t>Initial pretrained model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sub>
                    </m:sSub>
                  </m:oMath>
                </a14:m>
                <a:endParaRPr lang="en-US" altLang="ko-KR" b="1" dirty="0">
                  <a:latin typeface="Arial Nova" panose="020B0504020202020204" pitchFamily="34" charset="0"/>
                </a:endParaRPr>
              </a:p>
              <a:p>
                <a:pPr marL="742950" lvl="1" indent="-285750">
                  <a:buFontTx/>
                  <a:buChar char="-"/>
                </a:pPr>
                <a:r>
                  <a:rPr lang="en-US" altLang="ko-KR" b="1" dirty="0">
                    <a:latin typeface="Arial Nova" panose="020B0504020202020204" pitchFamily="34" charset="0"/>
                  </a:rPr>
                  <a:t>Linearized fine-tuned model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</m:acc>
                      </m:e>
                      <m:sub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ko-KR" altLang="en-US" b="1" i="1">
                                    <a:latin typeface="Cambria Math" panose="02040503050406030204" pitchFamily="18" charset="0"/>
                                  </a:rPr>
                                  <m:t>𝜽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(at step t)</a:t>
                </a:r>
              </a:p>
              <a:p>
                <a:pPr marL="1200150" lvl="2" indent="-285750">
                  <a:buFontTx/>
                  <a:buChar char="-"/>
                </a:pPr>
                <a:r>
                  <a:rPr lang="en-US" altLang="ko-KR" b="1" dirty="0">
                    <a:latin typeface="Arial Nova" panose="020B0504020202020204" pitchFamily="34" charset="0"/>
                  </a:rPr>
                  <a:t>On </a:t>
                </a:r>
                <a:r>
                  <a:rPr lang="en-US" altLang="ko-KR" b="1" dirty="0">
                    <a:latin typeface="Script MT Bold" panose="03040602040607080904" pitchFamily="66" charset="0"/>
                  </a:rPr>
                  <a:t>H</a:t>
                </a:r>
                <a:endParaRPr lang="en-US" altLang="ko-KR" b="1" dirty="0">
                  <a:latin typeface="Arial Nova" panose="020B0504020202020204" pitchFamily="34" charset="0"/>
                </a:endParaRPr>
              </a:p>
              <a:p>
                <a:pPr marL="742950" lvl="1" indent="-285750">
                  <a:buFontTx/>
                  <a:buChar char="-"/>
                </a:pPr>
                <a:r>
                  <a:rPr lang="en-US" altLang="ko-KR" b="1" dirty="0">
                    <a:latin typeface="Arial Nova" panose="020B0504020202020204" pitchFamily="34" charset="0"/>
                  </a:rPr>
                  <a:t>Fine-tuned model by ERM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sSup>
                          <m:sSupPr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p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sub>
                    </m:sSub>
                  </m:oMath>
                </a14:m>
                <a:endParaRPr lang="en-US" altLang="ko-KR" b="1" dirty="0">
                  <a:latin typeface="Arial Nova" panose="020B0504020202020204" pitchFamily="34" charset="0"/>
                </a:endParaRPr>
              </a:p>
              <a:p>
                <a:pPr marL="1200150" lvl="2" indent="-285750">
                  <a:buFontTx/>
                  <a:buChar char="-"/>
                </a:pPr>
                <a:r>
                  <a:rPr lang="en-US" altLang="ko-KR" b="1" dirty="0">
                    <a:latin typeface="Arial Nova" panose="020B0504020202020204" pitchFamily="34" charset="0"/>
                  </a:rPr>
                  <a:t>On </a:t>
                </a:r>
                <a:r>
                  <a:rPr lang="en-US" altLang="ko-KR" b="1" dirty="0">
                    <a:latin typeface="Script MT Bold" panose="03040602040607080904" pitchFamily="66" charset="0"/>
                  </a:rPr>
                  <a:t>F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altLang="ko-KR" b="1" dirty="0">
                    <a:latin typeface="Arial Nova" panose="020B0504020202020204" pitchFamily="34" charset="0"/>
                  </a:rPr>
                  <a:t>If fine-tuning remains in the linearized regime, </a:t>
                </a:r>
              </a:p>
              <a:p>
                <a:r>
                  <a:rPr lang="en-US" altLang="ko-KR" b="1" dirty="0">
                    <a:latin typeface="Arial Nova" panose="020B0504020202020204" pitchFamily="34" charset="0"/>
                  </a:rPr>
                  <a:t>      then the following is a good approximation</a:t>
                </a:r>
              </a:p>
              <a:p>
                <a:pPr marL="742950" lvl="1" indent="-285750"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sSup>
                          <m:sSupPr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p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sub>
                    </m:sSub>
                    <m:d>
                      <m:d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ko-KR" b="1" i="1">
                        <a:latin typeface="Cambria Math" panose="02040503050406030204" pitchFamily="18" charset="0"/>
                      </a:rPr>
                      <m:t>+&lt;</m:t>
                    </m:r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>
                            <a:latin typeface="Cambria Math" panose="02040503050406030204" pitchFamily="18" charset="0"/>
                          </a:rPr>
                          <m:t>𝛁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sub>
                    </m:sSub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ko-KR" b="1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</m:acc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endParaRPr lang="en-US" altLang="ko-KR" b="1" dirty="0">
                  <a:latin typeface="Arial Nova" panose="020B0504020202020204" pitchFamily="34" charset="0"/>
                </a:endParaRPr>
              </a:p>
              <a:p>
                <a:pPr marL="742950" lvl="1" indent="-285750">
                  <a:buFontTx/>
                  <a:buChar char="-"/>
                </a:pPr>
                <a:endParaRPr lang="en-US" altLang="ko-KR" b="1" dirty="0"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273" name="TextBox 272">
                <a:extLst>
                  <a:ext uri="{FF2B5EF4-FFF2-40B4-BE49-F238E27FC236}">
                    <a16:creationId xmlns:a16="http://schemas.microsoft.com/office/drawing/2014/main" id="{C02BE61D-4A8D-C7CB-1ECD-55C8A5E7D9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880" y="1125427"/>
                <a:ext cx="11424720" cy="4678460"/>
              </a:xfrm>
              <a:prstGeom prst="rect">
                <a:avLst/>
              </a:prstGeom>
              <a:blipFill>
                <a:blip r:embed="rId4"/>
                <a:stretch>
                  <a:fillRect l="-427" t="-652" r="-48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B07FB3C3-C75C-C65D-E48D-C7D4D98B7CE5}"/>
              </a:ext>
            </a:extLst>
          </p:cNvPr>
          <p:cNvSpPr txBox="1"/>
          <p:nvPr/>
        </p:nvSpPr>
        <p:spPr>
          <a:xfrm>
            <a:off x="0" y="6590426"/>
            <a:ext cx="114247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Afzal, Zahra Rahimi, et al. "Linearization Explains Fine-Tuning in Large Language Models." </a:t>
            </a:r>
            <a:r>
              <a:rPr lang="en-US" altLang="ko-KR" sz="1000" i="1" dirty="0">
                <a:solidFill>
                  <a:schemeClr val="bg1">
                    <a:lumMod val="65000"/>
                  </a:schemeClr>
                </a:solidFill>
              </a:rPr>
              <a:t>The 39th Annual Conference on </a:t>
            </a:r>
            <a:r>
              <a:rPr lang="en-US" altLang="ko-KR" sz="1000" i="1" dirty="0" err="1">
                <a:solidFill>
                  <a:schemeClr val="bg1">
                    <a:lumMod val="65000"/>
                  </a:schemeClr>
                </a:solidFill>
              </a:rPr>
              <a:t>NeurIPS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1000" dirty="0">
              <a:solidFill>
                <a:schemeClr val="bg1">
                  <a:lumMod val="6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타원 3">
                <a:extLst>
                  <a:ext uri="{FF2B5EF4-FFF2-40B4-BE49-F238E27FC236}">
                    <a16:creationId xmlns:a16="http://schemas.microsoft.com/office/drawing/2014/main" id="{CC2CEBFE-2893-0B21-7BD7-EB24D7FA2020}"/>
                  </a:ext>
                </a:extLst>
              </p:cNvPr>
              <p:cNvSpPr/>
              <p:nvPr/>
            </p:nvSpPr>
            <p:spPr bwMode="auto">
              <a:xfrm>
                <a:off x="10967520" y="3416880"/>
                <a:ext cx="457200" cy="457200"/>
              </a:xfrm>
              <a:prstGeom prst="ellipse">
                <a:avLst/>
              </a:prstGeom>
              <a:solidFill>
                <a:srgbClr val="0070C0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sSup>
                            <m:sSupPr>
                              <m:ctrlPr>
                                <a:rPr lang="en-US" altLang="ko-KR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p>
                              <m:r>
                                <a:rPr lang="en-US" altLang="ko-KR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sub>
                      </m:sSub>
                    </m:oMath>
                  </m:oMathPara>
                </a14:m>
                <a:endParaRPr kumimoji="0" lang="ko-KR" altLang="en-US" sz="1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</a:endParaRPr>
              </a:p>
            </p:txBody>
          </p:sp>
        </mc:Choice>
        <mc:Fallback xmlns="">
          <p:sp>
            <p:nvSpPr>
              <p:cNvPr id="4" name="타원 3">
                <a:extLst>
                  <a:ext uri="{FF2B5EF4-FFF2-40B4-BE49-F238E27FC236}">
                    <a16:creationId xmlns:a16="http://schemas.microsoft.com/office/drawing/2014/main" id="{CC2CEBFE-2893-0B21-7BD7-EB24D7FA20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967520" y="3416880"/>
                <a:ext cx="457200" cy="457200"/>
              </a:xfrm>
              <a:prstGeom prst="ellipse">
                <a:avLst/>
              </a:prstGeom>
              <a:blipFill>
                <a:blip r:embed="rId5"/>
                <a:stretch>
                  <a:fillRect l="-11392" b="-1266"/>
                </a:stretch>
              </a:blip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타원 4">
                <a:extLst>
                  <a:ext uri="{FF2B5EF4-FFF2-40B4-BE49-F238E27FC236}">
                    <a16:creationId xmlns:a16="http://schemas.microsoft.com/office/drawing/2014/main" id="{F11BDCB9-4344-7CCA-8BCC-C0CBA8958EF2}"/>
                  </a:ext>
                </a:extLst>
              </p:cNvPr>
              <p:cNvSpPr/>
              <p:nvPr/>
            </p:nvSpPr>
            <p:spPr bwMode="auto">
              <a:xfrm>
                <a:off x="9761251" y="2357533"/>
                <a:ext cx="457200" cy="4572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kumimoji="0" lang="ko-KR" altLang="en-US" sz="1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</a:endParaRPr>
              </a:p>
            </p:txBody>
          </p:sp>
        </mc:Choice>
        <mc:Fallback xmlns="">
          <p:sp>
            <p:nvSpPr>
              <p:cNvPr id="5" name="타원 4">
                <a:extLst>
                  <a:ext uri="{FF2B5EF4-FFF2-40B4-BE49-F238E27FC236}">
                    <a16:creationId xmlns:a16="http://schemas.microsoft.com/office/drawing/2014/main" id="{F11BDCB9-4344-7CCA-8BCC-C0CBA8958E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761251" y="2357533"/>
                <a:ext cx="457200" cy="457200"/>
              </a:xfrm>
              <a:prstGeom prst="ellipse">
                <a:avLst/>
              </a:prstGeom>
              <a:blipFill>
                <a:blip r:embed="rId6"/>
                <a:stretch>
                  <a:fillRect l="-12658"/>
                </a:stretch>
              </a:blip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타원 5">
                <a:extLst>
                  <a:ext uri="{FF2B5EF4-FFF2-40B4-BE49-F238E27FC236}">
                    <a16:creationId xmlns:a16="http://schemas.microsoft.com/office/drawing/2014/main" id="{69D1600B-EAB2-7722-1720-946170A859B8}"/>
                  </a:ext>
                </a:extLst>
              </p:cNvPr>
              <p:cNvSpPr/>
              <p:nvPr/>
            </p:nvSpPr>
            <p:spPr bwMode="auto">
              <a:xfrm>
                <a:off x="10967520" y="2741580"/>
                <a:ext cx="457200" cy="457200"/>
              </a:xfrm>
              <a:prstGeom prst="ellipse">
                <a:avLst/>
              </a:prstGeom>
              <a:solidFill>
                <a:srgbClr val="00B050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ko-KR" altLang="en-US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e>
                          </m:acc>
                        </m:e>
                        <m:sub>
                          <m:acc>
                            <m:accPr>
                              <m:chr m:val="̅"/>
                              <m:ctrlPr>
                                <a:rPr lang="ko-KR" altLang="en-US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acc>
                        </m:sub>
                      </m:sSub>
                    </m:oMath>
                  </m:oMathPara>
                </a14:m>
                <a:endParaRPr kumimoji="0" lang="ko-KR" altLang="en-US" sz="1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</a:endParaRPr>
              </a:p>
            </p:txBody>
          </p:sp>
        </mc:Choice>
        <mc:Fallback xmlns="">
          <p:sp>
            <p:nvSpPr>
              <p:cNvPr id="6" name="타원 5">
                <a:extLst>
                  <a:ext uri="{FF2B5EF4-FFF2-40B4-BE49-F238E27FC236}">
                    <a16:creationId xmlns:a16="http://schemas.microsoft.com/office/drawing/2014/main" id="{69D1600B-EAB2-7722-1720-946170A859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967520" y="2741580"/>
                <a:ext cx="457200" cy="457200"/>
              </a:xfrm>
              <a:prstGeom prst="ellipse">
                <a:avLst/>
              </a:prstGeom>
              <a:blipFill>
                <a:blip r:embed="rId7"/>
                <a:stretch>
                  <a:fillRect l="-3797" b="-1266"/>
                </a:stretch>
              </a:blip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3918430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4843F-B2F5-AF45-71C2-B086F6F0C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E4686D-5A39-7147-C1C2-0A213D4AB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00" y="144463"/>
            <a:ext cx="11424720" cy="752792"/>
          </a:xfrm>
        </p:spPr>
        <p:txBody>
          <a:bodyPr/>
          <a:lstStyle/>
          <a:p>
            <a:r>
              <a:rPr lang="en-US" altLang="ko-KR" dirty="0"/>
              <a:t>Proximity : Additional Slide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4E53D6-8D75-1B4C-3016-AD2C270FBD40}"/>
              </a:ext>
            </a:extLst>
          </p:cNvPr>
          <p:cNvSpPr txBox="1"/>
          <p:nvPr/>
        </p:nvSpPr>
        <p:spPr>
          <a:xfrm>
            <a:off x="0" y="6590426"/>
            <a:ext cx="114247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Afzal, Zahra Rahimi, et al. "Linearization Explains Fine-Tuning in Large Language Models." </a:t>
            </a:r>
            <a:r>
              <a:rPr lang="en-US" altLang="ko-KR" sz="1000" i="1" dirty="0">
                <a:solidFill>
                  <a:schemeClr val="bg1">
                    <a:lumMod val="65000"/>
                  </a:schemeClr>
                </a:solidFill>
              </a:rPr>
              <a:t>The 39th Annual Conference on </a:t>
            </a:r>
            <a:r>
              <a:rPr lang="en-US" altLang="ko-KR" sz="1000" i="1" dirty="0" err="1">
                <a:solidFill>
                  <a:schemeClr val="bg1">
                    <a:lumMod val="65000"/>
                  </a:schemeClr>
                </a:solidFill>
              </a:rPr>
              <a:t>NeurIPS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1000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77CC629-49F3-8CFC-2063-AD2897E28A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6745" y="1222308"/>
            <a:ext cx="6063289" cy="4206934"/>
          </a:xfrm>
          <a:prstGeom prst="rect">
            <a:avLst/>
          </a:prstGeom>
        </p:spPr>
      </p:pic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F78E43A-0BBF-D2BF-8ED6-AB074CBB399D}"/>
              </a:ext>
            </a:extLst>
          </p:cNvPr>
          <p:cNvSpPr/>
          <p:nvPr/>
        </p:nvSpPr>
        <p:spPr bwMode="auto">
          <a:xfrm>
            <a:off x="2294203" y="1791840"/>
            <a:ext cx="1787016" cy="342186"/>
          </a:xfrm>
          <a:prstGeom prst="round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Linear </a:t>
            </a:r>
          </a:p>
          <a:p>
            <a:pPr marR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function space</a:t>
            </a:r>
            <a:endParaRPr kumimoji="0" lang="ko-KR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2B286701-7F46-D9A8-C15B-9BBA3F52380C}"/>
              </a:ext>
            </a:extLst>
          </p:cNvPr>
          <p:cNvSpPr/>
          <p:nvPr/>
        </p:nvSpPr>
        <p:spPr bwMode="auto">
          <a:xfrm>
            <a:off x="1953260" y="2840448"/>
            <a:ext cx="1787016" cy="342186"/>
          </a:xfrm>
          <a:prstGeom prst="round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Non-linear</a:t>
            </a:r>
          </a:p>
          <a:p>
            <a:pPr marR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 function space</a:t>
            </a:r>
            <a:endParaRPr kumimoji="0" lang="ko-KR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43554906-42AC-CB8C-3BE5-CB2EB19EC7D5}"/>
              </a:ext>
            </a:extLst>
          </p:cNvPr>
          <p:cNvSpPr/>
          <p:nvPr/>
        </p:nvSpPr>
        <p:spPr bwMode="auto">
          <a:xfrm>
            <a:off x="4117600" y="1814076"/>
            <a:ext cx="1002295" cy="342186"/>
          </a:xfrm>
          <a:prstGeom prst="round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pre-trained</a:t>
            </a:r>
          </a:p>
          <a:p>
            <a:pPr marR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ko-KR" b="1" dirty="0">
                <a:latin typeface="Arial Narrow" pitchFamily="34" charset="0"/>
              </a:rPr>
              <a:t>model</a:t>
            </a:r>
            <a:endParaRPr kumimoji="0" lang="ko-KR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B442C45D-F091-DDB4-4FA8-47516A3C47DD}"/>
              </a:ext>
            </a:extLst>
          </p:cNvPr>
          <p:cNvSpPr/>
          <p:nvPr/>
        </p:nvSpPr>
        <p:spPr bwMode="auto">
          <a:xfrm>
            <a:off x="7121835" y="1891082"/>
            <a:ext cx="1515728" cy="505712"/>
          </a:xfrm>
          <a:prstGeom prst="round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800" b="1" i="0" u="none" strike="noStrike" cap="none" normalizeH="0" baseline="0" dirty="0">
                <a:ln>
                  <a:noFill/>
                </a:ln>
                <a:effectLst/>
                <a:latin typeface="Arial Narrow" pitchFamily="34" charset="0"/>
              </a:rPr>
              <a:t>linear</a:t>
            </a:r>
            <a:r>
              <a:rPr lang="en-US" altLang="ko-KR" b="1" dirty="0">
                <a:latin typeface="Arial Narrow" pitchFamily="34" charset="0"/>
              </a:rPr>
              <a:t>-approximated</a:t>
            </a:r>
          </a:p>
          <a:p>
            <a:pPr marR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800" b="1" i="0" u="none" strike="noStrike" cap="none" normalizeH="0" baseline="0" dirty="0">
                <a:ln>
                  <a:noFill/>
                </a:ln>
                <a:effectLst/>
                <a:latin typeface="Arial Narrow" pitchFamily="34" charset="0"/>
              </a:rPr>
              <a:t>fine-tuned model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5CE85BB2-92C6-071F-FA22-967469D59A8C}"/>
              </a:ext>
            </a:extLst>
          </p:cNvPr>
          <p:cNvSpPr/>
          <p:nvPr/>
        </p:nvSpPr>
        <p:spPr bwMode="auto">
          <a:xfrm>
            <a:off x="7382168" y="3387574"/>
            <a:ext cx="2119856" cy="556603"/>
          </a:xfrm>
          <a:prstGeom prst="round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800" b="1" i="0" u="none" strike="noStrike" cap="none" normalizeH="0" baseline="0" dirty="0">
                <a:ln>
                  <a:noFill/>
                </a:ln>
                <a:effectLst/>
                <a:latin typeface="Arial Narrow" pitchFamily="34" charset="0"/>
              </a:rPr>
              <a:t>ERM </a:t>
            </a:r>
            <a:r>
              <a:rPr lang="en-US" altLang="ko-KR" b="1" dirty="0">
                <a:latin typeface="Arial Narrow" pitchFamily="34" charset="0"/>
              </a:rPr>
              <a:t>regularized </a:t>
            </a:r>
          </a:p>
          <a:p>
            <a:pPr marR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800" b="1" i="0" u="none" strike="noStrike" cap="none" normalizeH="0" baseline="0" dirty="0">
                <a:ln>
                  <a:noFill/>
                </a:ln>
                <a:effectLst/>
                <a:latin typeface="Arial Narrow" pitchFamily="34" charset="0"/>
              </a:rPr>
              <a:t>fine-tuned </a:t>
            </a:r>
            <a:r>
              <a:rPr lang="en-US" altLang="ko-KR" b="1" dirty="0">
                <a:latin typeface="Arial Narrow" pitchFamily="34" charset="0"/>
              </a:rPr>
              <a:t>model</a:t>
            </a:r>
            <a:endParaRPr kumimoji="0" lang="en-US" altLang="ko-KR" sz="1800" b="1" i="0" u="none" strike="noStrike" cap="none" normalizeH="0" baseline="0" dirty="0">
              <a:ln>
                <a:noFill/>
              </a:ln>
              <a:effectLst/>
              <a:latin typeface="Arial Narrow" pitchFamily="34" charset="0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28CEB9D0-A251-A02D-EF32-9B89EFE18A19}"/>
              </a:ext>
            </a:extLst>
          </p:cNvPr>
          <p:cNvSpPr/>
          <p:nvPr/>
        </p:nvSpPr>
        <p:spPr bwMode="auto">
          <a:xfrm>
            <a:off x="7512515" y="2573960"/>
            <a:ext cx="2760958" cy="690800"/>
          </a:xfrm>
          <a:prstGeom prst="round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8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Arial Narrow" pitchFamily="34" charset="0"/>
              </a:rPr>
              <a:t>Objective : </a:t>
            </a:r>
          </a:p>
          <a:p>
            <a:pPr marR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ko-KR" b="1" dirty="0">
                <a:solidFill>
                  <a:srgbClr val="0070C0"/>
                </a:solidFill>
                <a:latin typeface="Arial Narrow" pitchFamily="34" charset="0"/>
              </a:rPr>
              <a:t>Justify that these are close</a:t>
            </a:r>
            <a:endParaRPr kumimoji="0" lang="en-US" altLang="ko-KR" sz="1800" b="1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Arial Narrow" pitchFamily="34" charset="0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2DFEEDC-EEC1-1BF1-206F-0270BCB4AFA8}"/>
              </a:ext>
            </a:extLst>
          </p:cNvPr>
          <p:cNvSpPr/>
          <p:nvPr/>
        </p:nvSpPr>
        <p:spPr bwMode="auto">
          <a:xfrm>
            <a:off x="3721431" y="3761888"/>
            <a:ext cx="2119856" cy="957028"/>
          </a:xfrm>
          <a:prstGeom prst="roundRect">
            <a:avLst>
              <a:gd name="adj" fmla="val 9317"/>
            </a:avLst>
          </a:prstGeom>
          <a:solidFill>
            <a:schemeClr val="bg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ko-KR" sz="1600" b="1" dirty="0">
                <a:latin typeface="Arial Narrow" pitchFamily="34" charset="0"/>
              </a:rPr>
              <a:t>Theorem 1</a:t>
            </a:r>
          </a:p>
          <a:p>
            <a:pPr marR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Monoticity</a:t>
            </a:r>
            <a:r>
              <a:rPr kumimoji="0" lang="en-US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 of updates in </a:t>
            </a:r>
          </a:p>
          <a:p>
            <a:pPr marR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regularized fine-tuning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사각형: 둥근 모서리 24">
                <a:extLst>
                  <a:ext uri="{FF2B5EF4-FFF2-40B4-BE49-F238E27FC236}">
                    <a16:creationId xmlns:a16="http://schemas.microsoft.com/office/drawing/2014/main" id="{ECECCA39-44CF-00DC-2C9A-6DA5E65C92B1}"/>
                  </a:ext>
                </a:extLst>
              </p:cNvPr>
              <p:cNvSpPr/>
              <p:nvPr/>
            </p:nvSpPr>
            <p:spPr bwMode="auto">
              <a:xfrm>
                <a:off x="6365606" y="4155074"/>
                <a:ext cx="4902615" cy="957028"/>
              </a:xfrm>
              <a:prstGeom prst="roundRect">
                <a:avLst>
                  <a:gd name="adj" fmla="val 7112"/>
                </a:avLst>
              </a:prstGeom>
              <a:solidFill>
                <a:schemeClr val="bg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en-US" altLang="ko-KR" sz="1600" b="1" dirty="0">
                    <a:latin typeface="Arial Narrow" pitchFamily="34" charset="0"/>
                  </a:rPr>
                  <a:t>Theorem 2</a:t>
                </a:r>
              </a:p>
              <a:p>
                <a:pPr algn="ctr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altLang="ko-KR" sz="16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 Narrow" pitchFamily="34" charset="0"/>
                  </a:rPr>
                  <a:t>Bound on dist</a:t>
                </a:r>
                <a:r>
                  <a:rPr lang="en-US" altLang="ko-KR" sz="1600" b="1" dirty="0">
                    <a:latin typeface="Arial Narrow" pitchFamily="34" charset="0"/>
                  </a:rPr>
                  <a:t>ance between </a:t>
                </a:r>
                <a:r>
                  <a:rPr kumimoji="0" lang="en-US" altLang="ko-KR" sz="16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 Narrow" pitchFamily="34" charset="0"/>
                  </a:rPr>
                  <a:t>parameters (</a:t>
                </a:r>
                <a14:m>
                  <m:oMath xmlns:m="http://schemas.openxmlformats.org/officeDocument/2006/math">
                    <m:r>
                      <a:rPr lang="en-US" altLang="ko-KR" sz="1600" b="1" i="1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kumimoji="0" lang="en-US" altLang="ko-KR" sz="16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 Narrow" pitchFamily="34" charset="0"/>
                  </a:rPr>
                  <a:t>) </a:t>
                </a:r>
              </a:p>
              <a:p>
                <a:pPr algn="ctr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altLang="ko-KR" sz="16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 Narrow" pitchFamily="34" charset="0"/>
                  </a:rPr>
                  <a:t>of fine-tuned model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ko-KR" sz="16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r>
                  <a:rPr kumimoji="0" lang="en-US" altLang="ko-KR" sz="16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 Narrow" pitchFamily="34" charset="0"/>
                  </a:rPr>
                  <a:t>) and pretrained model </a:t>
                </a:r>
                <a:r>
                  <a:rPr lang="en-US" altLang="ko-KR" sz="1600" b="1" dirty="0">
                    <a:latin typeface="Arial Narrow" pitchFamily="34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ko-KR" sz="16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ko-KR" sz="1600" b="1" dirty="0">
                    <a:latin typeface="Arial Narrow" pitchFamily="34" charset="0"/>
                  </a:rPr>
                  <a:t>) </a:t>
                </a:r>
                <a:endParaRPr kumimoji="0" lang="en-US" altLang="ko-KR" sz="1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</a:endParaRPr>
              </a:p>
            </p:txBody>
          </p:sp>
        </mc:Choice>
        <mc:Fallback xmlns="">
          <p:sp>
            <p:nvSpPr>
              <p:cNvPr id="25" name="사각형: 둥근 모서리 24">
                <a:extLst>
                  <a:ext uri="{FF2B5EF4-FFF2-40B4-BE49-F238E27FC236}">
                    <a16:creationId xmlns:a16="http://schemas.microsoft.com/office/drawing/2014/main" id="{ECECCA39-44CF-00DC-2C9A-6DA5E65C92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65606" y="4155074"/>
                <a:ext cx="4902615" cy="957028"/>
              </a:xfrm>
              <a:prstGeom prst="roundRect">
                <a:avLst>
                  <a:gd name="adj" fmla="val 7112"/>
                </a:avLst>
              </a:prstGeom>
              <a:blipFill>
                <a:blip r:embed="rId4"/>
                <a:stretch>
                  <a:fillRect/>
                </a:stretch>
              </a:blip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사각형: 둥근 모서리 28">
                <a:extLst>
                  <a:ext uri="{FF2B5EF4-FFF2-40B4-BE49-F238E27FC236}">
                    <a16:creationId xmlns:a16="http://schemas.microsoft.com/office/drawing/2014/main" id="{CB31E261-0DAD-B958-8D82-48BFCF21E47B}"/>
                  </a:ext>
                </a:extLst>
              </p:cNvPr>
              <p:cNvSpPr/>
              <p:nvPr/>
            </p:nvSpPr>
            <p:spPr bwMode="auto">
              <a:xfrm>
                <a:off x="6365606" y="5211376"/>
                <a:ext cx="4902615" cy="957028"/>
              </a:xfrm>
              <a:prstGeom prst="roundRect">
                <a:avLst>
                  <a:gd name="adj" fmla="val 9317"/>
                </a:avLst>
              </a:prstGeom>
              <a:solidFill>
                <a:schemeClr val="bg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en-US" altLang="ko-KR" sz="1600" b="1" dirty="0">
                    <a:latin typeface="Arial Narrow" pitchFamily="34" charset="0"/>
                  </a:rPr>
                  <a:t>Theorem 3</a:t>
                </a:r>
              </a:p>
              <a:p>
                <a:pPr algn="ctr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altLang="ko-KR" sz="16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 Narrow" pitchFamily="34" charset="0"/>
                  </a:rPr>
                  <a:t>Bound on dist</a:t>
                </a:r>
                <a:r>
                  <a:rPr lang="en-US" altLang="ko-KR" sz="1600" b="1" dirty="0">
                    <a:latin typeface="Arial Narrow" pitchFamily="34" charset="0"/>
                  </a:rPr>
                  <a:t>ance between </a:t>
                </a:r>
                <a:r>
                  <a:rPr kumimoji="0" lang="en-US" altLang="ko-KR" sz="16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 Narrow" pitchFamily="34" charset="0"/>
                  </a:rPr>
                  <a:t>inference of</a:t>
                </a:r>
              </a:p>
              <a:p>
                <a:pPr algn="ctr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altLang="ko-KR" sz="16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 Narrow" pitchFamily="34" charset="0"/>
                  </a:rPr>
                  <a:t>fine-tuned model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ko-KR" sz="1600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sub>
                    </m:sSub>
                    <m:d>
                      <m:dPr>
                        <m:ctrlPr>
                          <a:rPr lang="en-US" altLang="ko-KR" sz="16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ko-KR" sz="1600" b="1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kumimoji="0" lang="en-US" altLang="ko-KR" sz="16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 Narrow" pitchFamily="34" charset="0"/>
                  </a:rPr>
                  <a:t>) and linearized model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ko-KR" sz="16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600" b="1" i="1"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</m:acc>
                      </m:e>
                      <m:sub>
                        <m:acc>
                          <m:accPr>
                            <m:chr m:val="̅"/>
                            <m:ctrlPr>
                              <a:rPr lang="en-US" altLang="ko-KR" sz="1600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600" b="1" i="1" smtClean="0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</m:acc>
                      </m:sub>
                    </m:sSub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ko-KR" sz="16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ko-KR" sz="1600" b="1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0" lang="en-US" altLang="ko-KR" sz="16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 Narrow" pitchFamily="34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9" name="사각형: 둥근 모서리 28">
                <a:extLst>
                  <a:ext uri="{FF2B5EF4-FFF2-40B4-BE49-F238E27FC236}">
                    <a16:creationId xmlns:a16="http://schemas.microsoft.com/office/drawing/2014/main" id="{CB31E261-0DAD-B958-8D82-48BFCF21E4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65606" y="5211376"/>
                <a:ext cx="4902615" cy="957028"/>
              </a:xfrm>
              <a:prstGeom prst="roundRect">
                <a:avLst>
                  <a:gd name="adj" fmla="val 9317"/>
                </a:avLst>
              </a:prstGeom>
              <a:blipFill>
                <a:blip r:embed="rId5"/>
                <a:stretch>
                  <a:fillRect/>
                </a:stretch>
              </a:blip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사각형: 둥근 모서리 30">
                <a:extLst>
                  <a:ext uri="{FF2B5EF4-FFF2-40B4-BE49-F238E27FC236}">
                    <a16:creationId xmlns:a16="http://schemas.microsoft.com/office/drawing/2014/main" id="{9293BB31-B045-CEA5-3306-C6DB2D15A68E}"/>
                  </a:ext>
                </a:extLst>
              </p:cNvPr>
              <p:cNvSpPr/>
              <p:nvPr/>
            </p:nvSpPr>
            <p:spPr bwMode="auto">
              <a:xfrm>
                <a:off x="78817" y="4730633"/>
                <a:ext cx="4907279" cy="1810118"/>
              </a:xfrm>
              <a:prstGeom prst="roundRect">
                <a:avLst/>
              </a:prstGeom>
              <a:noFill/>
              <a:ln w="254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285750" indent="-285750" algn="just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ko-KR" b="1" i="0" dirty="0">
                    <a:latin typeface="Arial Narrow" pitchFamily="34" charset="0"/>
                  </a:rPr>
                  <a:t> : Parameters of pretrained model</a:t>
                </a:r>
              </a:p>
              <a:p>
                <a:pPr marL="285750" indent="-285750" algn="just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n-US" altLang="ko-KR" b="1" i="0" dirty="0">
                    <a:latin typeface="Arial Narrow" pitchFamily="34" charset="0"/>
                  </a:rPr>
                  <a:t> : Fine-tuning parameters at step t</a:t>
                </a:r>
              </a:p>
              <a:p>
                <a:pPr marL="285750" indent="-285750" algn="just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p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b="1" i="0" dirty="0">
                    <a:latin typeface="Arial Narrow" pitchFamily="34" charset="0"/>
                  </a:rPr>
                  <a:t> : ERM obtained fine-tuned model params</a:t>
                </a:r>
              </a:p>
              <a:p>
                <a:pPr marL="285750" indent="-285750" algn="just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acc>
                  </m:oMath>
                </a14:m>
                <a:r>
                  <a:rPr kumimoji="0" lang="en-US" altLang="ko-KR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 Narrow" pitchFamily="34" charset="0"/>
                  </a:rPr>
                  <a:t> : Parameters of linearized model</a:t>
                </a:r>
              </a:p>
              <a:p>
                <a:pPr marL="285750" indent="-285750" algn="just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kumimoji="0" lang="en-US" altLang="ko-KR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 Narrow" pitchFamily="34" charset="0"/>
                  </a:rPr>
                  <a:t> : Fine-tuned model</a:t>
                </a:r>
              </a:p>
              <a:p>
                <a:pPr marL="285750" indent="-285750" algn="just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0" lang="en-US" altLang="ko-KR" sz="1800" b="1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0" lang="en-US" altLang="ko-KR" sz="1800" b="1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</m:acc>
                  </m:oMath>
                </a14:m>
                <a:r>
                  <a:rPr kumimoji="0" lang="ko-KR" altLang="en-US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 Narrow" pitchFamily="34" charset="0"/>
                  </a:rPr>
                  <a:t> </a:t>
                </a:r>
                <a:r>
                  <a:rPr kumimoji="0" lang="en-US" altLang="ko-KR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 Narrow" pitchFamily="34" charset="0"/>
                  </a:rPr>
                  <a:t>:  Linearized model</a:t>
                </a:r>
                <a:endParaRPr kumimoji="0" lang="ko-KR" altLang="en-US" sz="1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</a:endParaRPr>
              </a:p>
            </p:txBody>
          </p:sp>
        </mc:Choice>
        <mc:Fallback xmlns="">
          <p:sp>
            <p:nvSpPr>
              <p:cNvPr id="31" name="사각형: 둥근 모서리 30">
                <a:extLst>
                  <a:ext uri="{FF2B5EF4-FFF2-40B4-BE49-F238E27FC236}">
                    <a16:creationId xmlns:a16="http://schemas.microsoft.com/office/drawing/2014/main" id="{9293BB31-B045-CEA5-3306-C6DB2D15A6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8817" y="4730633"/>
                <a:ext cx="4907279" cy="1810118"/>
              </a:xfrm>
              <a:prstGeom prst="roundRect">
                <a:avLst/>
              </a:prstGeom>
              <a:blipFill>
                <a:blip r:embed="rId6"/>
                <a:stretch>
                  <a:fillRect b="-3704"/>
                </a:stretch>
              </a:blipFill>
              <a:ln w="254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0" name="화살표: 오른쪽 259">
            <a:extLst>
              <a:ext uri="{FF2B5EF4-FFF2-40B4-BE49-F238E27FC236}">
                <a16:creationId xmlns:a16="http://schemas.microsoft.com/office/drawing/2014/main" id="{8FD78652-E0A4-C257-A3B1-D362B10DA18C}"/>
              </a:ext>
            </a:extLst>
          </p:cNvPr>
          <p:cNvSpPr/>
          <p:nvPr/>
        </p:nvSpPr>
        <p:spPr bwMode="auto">
          <a:xfrm rot="2776797">
            <a:off x="5194002" y="2746223"/>
            <a:ext cx="556149" cy="328214"/>
          </a:xfrm>
          <a:prstGeom prst="rightArrow">
            <a:avLst/>
          </a:prstGeom>
          <a:solidFill>
            <a:schemeClr val="bg1"/>
          </a:solidFill>
          <a:ln w="76200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5DB9F6FF-F95A-8D73-2634-F4760F7617B4}"/>
              </a:ext>
            </a:extLst>
          </p:cNvPr>
          <p:cNvCxnSpPr>
            <a:cxnSpLocks/>
          </p:cNvCxnSpPr>
          <p:nvPr/>
        </p:nvCxnSpPr>
        <p:spPr bwMode="auto">
          <a:xfrm flipH="1">
            <a:off x="6634348" y="2755900"/>
            <a:ext cx="22620" cy="481820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7030A0"/>
            </a:solidFill>
            <a:prstDash val="solid"/>
            <a:round/>
            <a:headEnd type="triangle"/>
            <a:tailEnd type="triangle"/>
          </a:ln>
          <a:effectLst/>
        </p:spPr>
      </p:cxnSp>
      <p:sp>
        <p:nvSpPr>
          <p:cNvPr id="263" name="타원 262">
            <a:extLst>
              <a:ext uri="{FF2B5EF4-FFF2-40B4-BE49-F238E27FC236}">
                <a16:creationId xmlns:a16="http://schemas.microsoft.com/office/drawing/2014/main" id="{13D7240B-8D46-F7E9-BCD3-AE1AC64FFBBE}"/>
              </a:ext>
            </a:extLst>
          </p:cNvPr>
          <p:cNvSpPr/>
          <p:nvPr/>
        </p:nvSpPr>
        <p:spPr bwMode="auto">
          <a:xfrm flipV="1">
            <a:off x="5728654" y="3081627"/>
            <a:ext cx="112633" cy="126665"/>
          </a:xfrm>
          <a:prstGeom prst="ellipse">
            <a:avLst/>
          </a:prstGeom>
          <a:solidFill>
            <a:srgbClr val="FF0000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264" name="타원 263">
            <a:extLst>
              <a:ext uri="{FF2B5EF4-FFF2-40B4-BE49-F238E27FC236}">
                <a16:creationId xmlns:a16="http://schemas.microsoft.com/office/drawing/2014/main" id="{AC888CC3-2D21-EDD8-1DEB-31716361F15B}"/>
              </a:ext>
            </a:extLst>
          </p:cNvPr>
          <p:cNvSpPr/>
          <p:nvPr/>
        </p:nvSpPr>
        <p:spPr bwMode="auto">
          <a:xfrm flipV="1">
            <a:off x="5841287" y="2509412"/>
            <a:ext cx="112633" cy="126665"/>
          </a:xfrm>
          <a:prstGeom prst="ellipse">
            <a:avLst/>
          </a:prstGeom>
          <a:solidFill>
            <a:srgbClr val="FF0000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6" name="타원 265">
                <a:extLst>
                  <a:ext uri="{FF2B5EF4-FFF2-40B4-BE49-F238E27FC236}">
                    <a16:creationId xmlns:a16="http://schemas.microsoft.com/office/drawing/2014/main" id="{EDC15EF2-0DF5-095E-362D-B8601D68FDA6}"/>
                  </a:ext>
                </a:extLst>
              </p:cNvPr>
              <p:cNvSpPr/>
              <p:nvPr/>
            </p:nvSpPr>
            <p:spPr bwMode="auto">
              <a:xfrm>
                <a:off x="5281157" y="3182634"/>
                <a:ext cx="457200" cy="457200"/>
              </a:xfrm>
              <a:prstGeom prst="ellipse">
                <a:avLst/>
              </a:prstGeom>
              <a:solidFill>
                <a:srgbClr val="0070C0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kumimoji="0" lang="ko-KR" altLang="en-US" sz="1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</a:endParaRPr>
              </a:p>
            </p:txBody>
          </p:sp>
        </mc:Choice>
        <mc:Fallback xmlns="">
          <p:sp>
            <p:nvSpPr>
              <p:cNvPr id="266" name="타원 265">
                <a:extLst>
                  <a:ext uri="{FF2B5EF4-FFF2-40B4-BE49-F238E27FC236}">
                    <a16:creationId xmlns:a16="http://schemas.microsoft.com/office/drawing/2014/main" id="{EDC15EF2-0DF5-095E-362D-B8601D68FD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81157" y="3182634"/>
                <a:ext cx="457200" cy="457200"/>
              </a:xfrm>
              <a:prstGeom prst="ellipse">
                <a:avLst/>
              </a:prstGeom>
              <a:blipFill>
                <a:blip r:embed="rId7"/>
                <a:stretch>
                  <a:fillRect l="-10127"/>
                </a:stretch>
              </a:blip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7" name="타원 266">
                <a:extLst>
                  <a:ext uri="{FF2B5EF4-FFF2-40B4-BE49-F238E27FC236}">
                    <a16:creationId xmlns:a16="http://schemas.microsoft.com/office/drawing/2014/main" id="{797E6339-C1C7-BE63-14EB-5FD30116C7CE}"/>
                  </a:ext>
                </a:extLst>
              </p:cNvPr>
              <p:cNvSpPr/>
              <p:nvPr/>
            </p:nvSpPr>
            <p:spPr bwMode="auto">
              <a:xfrm>
                <a:off x="6757552" y="3208675"/>
                <a:ext cx="457200" cy="457200"/>
              </a:xfrm>
              <a:prstGeom prst="ellipse">
                <a:avLst/>
              </a:prstGeom>
              <a:solidFill>
                <a:srgbClr val="0070C0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sSup>
                            <m:sSupPr>
                              <m:ctrlPr>
                                <a:rPr lang="en-US" altLang="ko-KR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p>
                              <m:r>
                                <a:rPr lang="en-US" altLang="ko-KR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sub>
                      </m:sSub>
                    </m:oMath>
                  </m:oMathPara>
                </a14:m>
                <a:endParaRPr kumimoji="0" lang="ko-KR" altLang="en-US" sz="1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</a:endParaRPr>
              </a:p>
            </p:txBody>
          </p:sp>
        </mc:Choice>
        <mc:Fallback xmlns="">
          <p:sp>
            <p:nvSpPr>
              <p:cNvPr id="267" name="타원 266">
                <a:extLst>
                  <a:ext uri="{FF2B5EF4-FFF2-40B4-BE49-F238E27FC236}">
                    <a16:creationId xmlns:a16="http://schemas.microsoft.com/office/drawing/2014/main" id="{797E6339-C1C7-BE63-14EB-5FD30116C7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57552" y="3208675"/>
                <a:ext cx="457200" cy="457200"/>
              </a:xfrm>
              <a:prstGeom prst="ellipse">
                <a:avLst/>
              </a:prstGeom>
              <a:blipFill>
                <a:blip r:embed="rId8"/>
                <a:stretch>
                  <a:fillRect l="-11392" b="-1266"/>
                </a:stretch>
              </a:blip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8" name="타원 267">
                <a:extLst>
                  <a:ext uri="{FF2B5EF4-FFF2-40B4-BE49-F238E27FC236}">
                    <a16:creationId xmlns:a16="http://schemas.microsoft.com/office/drawing/2014/main" id="{86DD780C-F0DE-091C-6069-D3986C6A03B7}"/>
                  </a:ext>
                </a:extLst>
              </p:cNvPr>
              <p:cNvSpPr/>
              <p:nvPr/>
            </p:nvSpPr>
            <p:spPr bwMode="auto">
              <a:xfrm>
                <a:off x="5355562" y="1986272"/>
                <a:ext cx="457200" cy="4572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kumimoji="0" lang="ko-KR" altLang="en-US" sz="1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</a:endParaRPr>
              </a:p>
            </p:txBody>
          </p:sp>
        </mc:Choice>
        <mc:Fallback xmlns="">
          <p:sp>
            <p:nvSpPr>
              <p:cNvPr id="268" name="타원 267">
                <a:extLst>
                  <a:ext uri="{FF2B5EF4-FFF2-40B4-BE49-F238E27FC236}">
                    <a16:creationId xmlns:a16="http://schemas.microsoft.com/office/drawing/2014/main" id="{86DD780C-F0DE-091C-6069-D3986C6A03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55562" y="1986272"/>
                <a:ext cx="457200" cy="457200"/>
              </a:xfrm>
              <a:prstGeom prst="ellipse">
                <a:avLst/>
              </a:prstGeom>
              <a:blipFill>
                <a:blip r:embed="rId9"/>
                <a:stretch>
                  <a:fillRect l="-13924"/>
                </a:stretch>
              </a:blip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9" name="타원 268">
                <a:extLst>
                  <a:ext uri="{FF2B5EF4-FFF2-40B4-BE49-F238E27FC236}">
                    <a16:creationId xmlns:a16="http://schemas.microsoft.com/office/drawing/2014/main" id="{EF21A55A-1FD4-0BC1-AE62-A79E9642410C}"/>
                  </a:ext>
                </a:extLst>
              </p:cNvPr>
              <p:cNvSpPr/>
              <p:nvPr/>
            </p:nvSpPr>
            <p:spPr bwMode="auto">
              <a:xfrm>
                <a:off x="5961870" y="2112267"/>
                <a:ext cx="457200" cy="457200"/>
              </a:xfrm>
              <a:prstGeom prst="ellipse">
                <a:avLst/>
              </a:prstGeom>
              <a:solidFill>
                <a:srgbClr val="00B050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ko-KR" altLang="en-US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e>
                          </m:acc>
                        </m:e>
                        <m:sub>
                          <m:sSub>
                            <m:sSubPr>
                              <m:ctrlPr>
                                <a:rPr lang="en-US" altLang="ko-KR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ko-KR" altLang="en-US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kumimoji="0" lang="ko-KR" altLang="en-US" sz="1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</a:endParaRPr>
              </a:p>
            </p:txBody>
          </p:sp>
        </mc:Choice>
        <mc:Fallback xmlns="">
          <p:sp>
            <p:nvSpPr>
              <p:cNvPr id="269" name="타원 268">
                <a:extLst>
                  <a:ext uri="{FF2B5EF4-FFF2-40B4-BE49-F238E27FC236}">
                    <a16:creationId xmlns:a16="http://schemas.microsoft.com/office/drawing/2014/main" id="{EF21A55A-1FD4-0BC1-AE62-A79E964241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61870" y="2112267"/>
                <a:ext cx="457200" cy="457200"/>
              </a:xfrm>
              <a:prstGeom prst="ellipse">
                <a:avLst/>
              </a:prstGeom>
              <a:blipFill>
                <a:blip r:embed="rId10"/>
                <a:stretch>
                  <a:fillRect l="-10127"/>
                </a:stretch>
              </a:blip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타원 269">
                <a:extLst>
                  <a:ext uri="{FF2B5EF4-FFF2-40B4-BE49-F238E27FC236}">
                    <a16:creationId xmlns:a16="http://schemas.microsoft.com/office/drawing/2014/main" id="{F46A1ADF-4C22-9CED-7B63-E297466FC77C}"/>
                  </a:ext>
                </a:extLst>
              </p:cNvPr>
              <p:cNvSpPr/>
              <p:nvPr/>
            </p:nvSpPr>
            <p:spPr bwMode="auto">
              <a:xfrm>
                <a:off x="6777731" y="2412793"/>
                <a:ext cx="457200" cy="457200"/>
              </a:xfrm>
              <a:prstGeom prst="ellipse">
                <a:avLst/>
              </a:prstGeom>
              <a:solidFill>
                <a:srgbClr val="00B050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ko-KR" altLang="en-US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e>
                          </m:acc>
                        </m:e>
                        <m:sub>
                          <m:acc>
                            <m:accPr>
                              <m:chr m:val="̅"/>
                              <m:ctrlPr>
                                <a:rPr lang="ko-KR" altLang="en-US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acc>
                        </m:sub>
                      </m:sSub>
                    </m:oMath>
                  </m:oMathPara>
                </a14:m>
                <a:endParaRPr kumimoji="0" lang="ko-KR" altLang="en-US" sz="1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</a:endParaRPr>
              </a:p>
            </p:txBody>
          </p:sp>
        </mc:Choice>
        <mc:Fallback xmlns="">
          <p:sp>
            <p:nvSpPr>
              <p:cNvPr id="270" name="타원 269">
                <a:extLst>
                  <a:ext uri="{FF2B5EF4-FFF2-40B4-BE49-F238E27FC236}">
                    <a16:creationId xmlns:a16="http://schemas.microsoft.com/office/drawing/2014/main" id="{F46A1ADF-4C22-9CED-7B63-E297466FC7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77731" y="2412793"/>
                <a:ext cx="457200" cy="457200"/>
              </a:xfrm>
              <a:prstGeom prst="ellipse">
                <a:avLst/>
              </a:prstGeom>
              <a:blipFill>
                <a:blip r:embed="rId11"/>
                <a:stretch>
                  <a:fillRect l="-3797" b="-1266"/>
                </a:stretch>
              </a:blip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07E7D520-46E9-030B-270A-68565DD47CB8}"/>
              </a:ext>
            </a:extLst>
          </p:cNvPr>
          <p:cNvCxnSpPr>
            <a:cxnSpLocks/>
          </p:cNvCxnSpPr>
          <p:nvPr/>
        </p:nvCxnSpPr>
        <p:spPr bwMode="auto">
          <a:xfrm>
            <a:off x="5434449" y="2636077"/>
            <a:ext cx="1103855" cy="628683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7030A0"/>
            </a:solidFill>
            <a:prstDash val="solid"/>
            <a:round/>
            <a:headEnd type="triangle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414964064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1141A-9A32-0A7E-F524-DCE90A26C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8D2CEA45-6FC0-2813-B952-D2E6E405A069}"/>
              </a:ext>
            </a:extLst>
          </p:cNvPr>
          <p:cNvSpPr/>
          <p:nvPr/>
        </p:nvSpPr>
        <p:spPr bwMode="auto">
          <a:xfrm>
            <a:off x="347880" y="2826591"/>
            <a:ext cx="11424720" cy="1560623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862E7CB-5822-038B-0384-3F4314DBD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00" y="144463"/>
            <a:ext cx="11424720" cy="752792"/>
          </a:xfrm>
        </p:spPr>
        <p:txBody>
          <a:bodyPr/>
          <a:lstStyle/>
          <a:p>
            <a:r>
              <a:rPr lang="en-US" altLang="ko-KR" dirty="0"/>
              <a:t>Lemma 3. Gradient Flow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23B190-DACC-41AF-D9AE-0BDBEBB8B8EA}"/>
              </a:ext>
            </a:extLst>
          </p:cNvPr>
          <p:cNvSpPr txBox="1"/>
          <p:nvPr/>
        </p:nvSpPr>
        <p:spPr>
          <a:xfrm>
            <a:off x="0" y="6590426"/>
            <a:ext cx="114247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Afzal, Zahra Rahimi, et al. "Linearization Explains Fine-Tuning in Large Language Models." </a:t>
            </a:r>
            <a:r>
              <a:rPr lang="en-US" altLang="ko-KR" sz="1000" i="1" dirty="0">
                <a:solidFill>
                  <a:schemeClr val="bg1">
                    <a:lumMod val="65000"/>
                  </a:schemeClr>
                </a:solidFill>
              </a:rPr>
              <a:t>The 39th Annual Conference on </a:t>
            </a:r>
            <a:r>
              <a:rPr lang="en-US" altLang="ko-KR" sz="1000" i="1" dirty="0" err="1">
                <a:solidFill>
                  <a:schemeClr val="bg1">
                    <a:lumMod val="65000"/>
                  </a:schemeClr>
                </a:solidFill>
              </a:rPr>
              <a:t>NeurIPS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1000" dirty="0">
              <a:solidFill>
                <a:schemeClr val="bg1">
                  <a:lumMod val="6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F6B82E2-20A8-195F-8318-49415662D616}"/>
                  </a:ext>
                </a:extLst>
              </p:cNvPr>
              <p:cNvSpPr txBox="1"/>
              <p:nvPr/>
            </p:nvSpPr>
            <p:spPr>
              <a:xfrm>
                <a:off x="347880" y="2855167"/>
                <a:ext cx="11424720" cy="17264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Tx/>
                  <a:buChar char="-"/>
                </a:pPr>
                <a:r>
                  <a:rPr lang="en-US" altLang="ko-KR" b="1" dirty="0">
                    <a:latin typeface="Arial Nova" panose="020B0504020202020204" pitchFamily="34" charset="0"/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be the gradient flow limit of the regularized fine-tuning gradient descent described above. If we assume that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switches at most countably often and denote instantaneous value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𝝀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,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satisfies the following differential equation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𝒅</m:t>
                          </m:r>
                        </m:num>
                        <m:den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𝒅𝒕</m:t>
                          </m:r>
                        </m:den>
                      </m:f>
                      <m:sSub>
                        <m:sSubPr>
                          <m:ctrlPr>
                            <a:rPr lang="en-US" altLang="ko-KR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altLang="ko-KR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US" altLang="ko-KR" b="1" i="1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altLang="ko-KR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>
                              <a:latin typeface="Cambria Math" panose="02040503050406030204" pitchFamily="18" charset="0"/>
                            </a:rPr>
                            <m:t>𝛁</m:t>
                          </m:r>
                        </m:e>
                        <m:sub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acc>
                        <m:accPr>
                          <m:chr m:val="̃"/>
                          <m:ctrlPr>
                            <a:rPr lang="en-US" altLang="ko-KR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accPr>
                        <m:e>
                          <m:r>
                            <a:rPr lang="en-US" altLang="ko-KR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𝑹</m:t>
                          </m:r>
                        </m:e>
                      </m:acc>
                      <m:sSup>
                        <m:sSupPr>
                          <m:ctrlPr>
                            <a:rPr lang="en-US" altLang="ko-KR" b="1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b="1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𝜽</m:t>
                                  </m:r>
                                </m:e>
                                <m:sub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𝒕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ko-KR" b="1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⏉</m:t>
                          </m:r>
                        </m:sup>
                      </m:sSup>
                      <m:r>
                        <a:rPr lang="en-US" altLang="ko-KR" b="1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−</m:t>
                      </m:r>
                      <m:sSub>
                        <m:sSubPr>
                          <m:ctrlPr>
                            <a:rPr lang="en-US" altLang="ko-KR" b="1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ko-KR" b="1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𝝀</m:t>
                          </m:r>
                        </m:e>
                        <m:sub>
                          <m:r>
                            <a:rPr lang="en-US" altLang="ko-KR" b="1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𝒕</m:t>
                          </m:r>
                        </m:sub>
                      </m:sSub>
                      <m:r>
                        <a:rPr lang="en-US" altLang="ko-KR" b="1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(</m:t>
                      </m:r>
                      <m:sSub>
                        <m:sSubPr>
                          <m:ctrlPr>
                            <a:rPr lang="en-US" altLang="ko-KR" b="1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ko-KR" b="1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𝜽</m:t>
                          </m:r>
                        </m:e>
                        <m:sub>
                          <m:r>
                            <a:rPr lang="en-US" altLang="ko-KR" b="1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𝒕</m:t>
                          </m:r>
                        </m:sub>
                      </m:sSub>
                      <m:r>
                        <a:rPr lang="en-US" altLang="ko-KR" b="1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−</m:t>
                      </m:r>
                      <m:sSub>
                        <m:sSubPr>
                          <m:ctrlPr>
                            <a:rPr lang="en-US" altLang="ko-KR" b="1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ko-KR" b="1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𝜽</m:t>
                          </m:r>
                        </m:e>
                        <m:sub>
                          <m:r>
                            <a:rPr lang="en-US" altLang="ko-KR" b="1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𝟎</m:t>
                          </m:r>
                        </m:sub>
                      </m:sSub>
                      <m:r>
                        <a:rPr lang="en-US" altLang="ko-KR" b="1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)</m:t>
                      </m:r>
                    </m:oMath>
                  </m:oMathPara>
                </a14:m>
                <a:endParaRPr lang="en-US" altLang="ko-KR" b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endParaRPr lang="en-US" altLang="ko-KR" b="1" dirty="0"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F6B82E2-20A8-195F-8318-49415662D6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880" y="2855167"/>
                <a:ext cx="11424720" cy="1726435"/>
              </a:xfrm>
              <a:prstGeom prst="rect">
                <a:avLst/>
              </a:prstGeom>
              <a:blipFill>
                <a:blip r:embed="rId3"/>
                <a:stretch>
                  <a:fillRect l="-427" t="-1408" r="-3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106254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A65FF-A46B-5649-DC54-6A72E4563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7EC05937-0702-CE50-6CE7-4C88138EE94A}"/>
              </a:ext>
            </a:extLst>
          </p:cNvPr>
          <p:cNvSpPr/>
          <p:nvPr/>
        </p:nvSpPr>
        <p:spPr bwMode="auto">
          <a:xfrm>
            <a:off x="347880" y="1096852"/>
            <a:ext cx="11424720" cy="936719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C2158A9-72A8-580F-F9C2-9E7831490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00" y="144463"/>
            <a:ext cx="11424720" cy="752792"/>
          </a:xfrm>
        </p:spPr>
        <p:txBody>
          <a:bodyPr/>
          <a:lstStyle/>
          <a:p>
            <a:r>
              <a:rPr lang="en-US" altLang="ko-KR" dirty="0"/>
              <a:t>Theorem 1. Monotonic Updates in Regularized Fine-tuning 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0A778F-EC98-EF7F-B1CF-19CD58FDCF22}"/>
              </a:ext>
            </a:extLst>
          </p:cNvPr>
          <p:cNvSpPr txBox="1"/>
          <p:nvPr/>
        </p:nvSpPr>
        <p:spPr>
          <a:xfrm>
            <a:off x="0" y="6590426"/>
            <a:ext cx="114247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Afzal, Zahra Rahimi, et al. "Linearization Explains Fine-Tuning in Large Language Models." </a:t>
            </a:r>
            <a:r>
              <a:rPr lang="en-US" altLang="ko-KR" sz="1000" i="1" dirty="0">
                <a:solidFill>
                  <a:schemeClr val="bg1">
                    <a:lumMod val="65000"/>
                  </a:schemeClr>
                </a:solidFill>
              </a:rPr>
              <a:t>The 39th Annual Conference on </a:t>
            </a:r>
            <a:r>
              <a:rPr lang="en-US" altLang="ko-KR" sz="1000" i="1" dirty="0" err="1">
                <a:solidFill>
                  <a:schemeClr val="bg1">
                    <a:lumMod val="65000"/>
                  </a:schemeClr>
                </a:solidFill>
              </a:rPr>
              <a:t>NeurIPS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1000" dirty="0">
              <a:solidFill>
                <a:schemeClr val="bg1">
                  <a:lumMod val="6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FA3C536-AA24-0394-A4D6-436B652C87C6}"/>
                  </a:ext>
                </a:extLst>
              </p:cNvPr>
              <p:cNvSpPr txBox="1"/>
              <p:nvPr/>
            </p:nvSpPr>
            <p:spPr>
              <a:xfrm>
                <a:off x="347880" y="1125427"/>
                <a:ext cx="11424720" cy="54484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Tx/>
                  <a:buChar char="-"/>
                </a:pPr>
                <a:r>
                  <a:rPr lang="en-US" altLang="ko-KR" b="1" dirty="0">
                    <a:latin typeface="Arial Nova" panose="020B0504020202020204" pitchFamily="34" charset="0"/>
                  </a:rPr>
                  <a:t>Under the squared loss, for any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, if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𝝀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0" smtClean="0">
                            <a:latin typeface="Cambria Math" panose="02040503050406030204" pitchFamily="18" charset="0"/>
                          </a:rPr>
                          <m:t>𝛁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sub>
                    </m:sSub>
                    <m:acc>
                      <m:accPr>
                        <m:chr m:val="̃"/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acc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𝑹</m:t>
                        </m:r>
                      </m:e>
                    </m:acc>
                    <m:r>
                      <a:rPr lang="en-US" altLang="ko-KR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𝜽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𝒕</m:t>
                        </m:r>
                      </m:sub>
                    </m:sSub>
                    <m:r>
                      <a:rPr lang="en-US" altLang="ko-KR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)(</m:t>
                    </m:r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𝜽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𝒕</m:t>
                        </m:r>
                      </m:sub>
                    </m:sSub>
                    <m:r>
                      <a:rPr lang="en-US" altLang="ko-KR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−</m:t>
                    </m:r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𝜽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𝟎</m:t>
                        </m:r>
                      </m:sub>
                    </m:sSub>
                    <m:r>
                      <a:rPr lang="en-US" altLang="ko-KR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≥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𝟎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, then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𝒅</m:t>
                        </m:r>
                      </m:num>
                      <m:den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𝒅𝒕</m:t>
                        </m:r>
                      </m:den>
                    </m:f>
                    <m:sSup>
                      <m:sSup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sub>
                                </m:sSub>
                              </m:sub>
                            </m:sSub>
                            <m:d>
                              <m:dPr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ko-KR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altLang="ko-KR" b="1" i="1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  <m:sup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endParaRPr lang="en-US" altLang="ko-KR" b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r>
                  <a:rPr lang="en-US" altLang="ko-KR" b="1" dirty="0">
                    <a:latin typeface="Arial Nova" panose="020B0504020202020204" pitchFamily="34" charset="0"/>
                  </a:rPr>
                  <a:t>Moreover,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𝜵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𝜽</m:t>
                        </m:r>
                      </m:sub>
                    </m:sSub>
                    <m:acc>
                      <m:accPr>
                        <m:chr m:val="̃"/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acc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𝑹</m:t>
                        </m:r>
                      </m:e>
                    </m:acc>
                    <m:d>
                      <m:dPr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𝒕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𝒕</m:t>
                            </m:r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𝟎</m:t>
                            </m:r>
                          </m:sub>
                        </m:sSub>
                      </m:e>
                    </m:d>
                    <m:r>
                      <a:rPr lang="en-US" altLang="ko-KR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&lt;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𝟎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, then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𝝀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is a sufficient condition for the above equation to hold.</a:t>
                </a:r>
              </a:p>
              <a:p>
                <a:pPr marL="285750" indent="-285750">
                  <a:buFontTx/>
                  <a:buChar char="-"/>
                </a:pPr>
                <a:endParaRPr lang="en-US" altLang="ko-KR" b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r>
                  <a:rPr lang="en-US" altLang="ko-KR" dirty="0">
                    <a:latin typeface="Arial Nova" panose="020B0504020202020204" pitchFamily="34" charset="0"/>
                  </a:rPr>
                  <a:t>Monotonicity of updates </a:t>
                </a:r>
                <a:r>
                  <a:rPr lang="en-US" altLang="ko-KR" dirty="0">
                    <a:latin typeface="Arial Nova" panose="020B0504020202020204" pitchFamily="34" charset="0"/>
                    <a:sym typeface="Wingdings" panose="05000000000000000000" pitchFamily="2" charset="2"/>
                  </a:rPr>
                  <a:t> Training fine-tuned models decreases loss</a:t>
                </a:r>
                <a:endParaRPr lang="en-US" altLang="ko-KR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r>
                  <a:rPr lang="en-US" altLang="ko-KR" dirty="0">
                    <a:latin typeface="Arial Nova" panose="020B0504020202020204" pitchFamily="34" charset="0"/>
                  </a:rPr>
                  <a:t>How to show that loss decreases </a:t>
                </a:r>
                <a:r>
                  <a:rPr lang="en-US" altLang="ko-KR" dirty="0">
                    <a:latin typeface="Arial Nova" panose="020B0504020202020204" pitchFamily="34" charset="0"/>
                    <a:sym typeface="Wingdings" panose="05000000000000000000" pitchFamily="2" charset="2"/>
                  </a:rPr>
                  <a:t> Show that the derivative of the loss function surface is negative</a:t>
                </a:r>
              </a:p>
              <a:p>
                <a:pPr marL="742950" lvl="1" indent="-285750">
                  <a:buFontTx/>
                  <a:buChar char="-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sub>
                            </m:sSub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≤0</m:t>
                    </m:r>
                  </m:oMath>
                </a14:m>
                <a:endParaRPr lang="en-US" altLang="ko-KR" dirty="0">
                  <a:latin typeface="Arial Nova" panose="020B0504020202020204" pitchFamily="34" charset="0"/>
                </a:endParaRPr>
              </a:p>
              <a:p>
                <a:pPr marL="742950" lvl="1" indent="-285750">
                  <a:buFontTx/>
                  <a:buChar char="-"/>
                </a:pPr>
                <a:endParaRPr lang="en-US" altLang="ko-KR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endParaRPr lang="en-US" altLang="ko-KR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r>
                  <a:rPr lang="en-US" altLang="ko-KR" dirty="0">
                    <a:latin typeface="Arial Nova" panose="020B0504020202020204" pitchFamily="34" charset="0"/>
                  </a:rPr>
                  <a:t>(1)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∇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f>
                      <m:fPr>
                        <m:ctrlPr>
                          <a:rPr lang="en-US" altLang="ko-KR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altLang="ko-KR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sSub>
                      <m:sSubPr>
                        <m:ctrlPr>
                          <a:rPr lang="en-US" altLang="ko-KR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d>
                      <m:d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∵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𝑎𝑡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𝑠𝑡𝑒𝑝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altLang="ko-KR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𝛻</m:t>
                    </m:r>
                    <m:sSub>
                      <m:sSubPr>
                        <m:ctrlPr>
                          <a:rPr lang="en-US" altLang="ko-K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sSub>
                          <m:sSubPr>
                            <m:ctrlPr>
                              <a:rPr lang="en-US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ko-K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𝛻</m:t>
                    </m:r>
                    <m:sSubSup>
                      <m:sSubSupPr>
                        <m:ctrlPr>
                          <a:rPr lang="en-US" altLang="ko-KR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sSub>
                          <m:sSubPr>
                            <m:ctrlPr>
                              <a:rPr lang="en-US" altLang="ko-KR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  <m:sup>
                        <m:r>
                          <a:rPr lang="en-US" altLang="ko-KR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⏉</m:t>
                        </m:r>
                      </m:sup>
                    </m:sSubSup>
                    <m:d>
                      <m:dPr>
                        <m:ctrlPr>
                          <a:rPr lang="en-US" altLang="ko-KR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d>
                      <m:dPr>
                        <m:ctrlPr>
                          <a:rPr lang="en-US" altLang="ko-KR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altLang="ko-KR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ko-KR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ko-KR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ko-KR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∇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d>
                      <m:dPr>
                        <m:ctrlPr>
                          <a:rPr lang="en-US" altLang="ko-KR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(∵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𝐿𝑒𝑚𝑚𝑎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3 :</m:t>
                    </m:r>
                    <m:f>
                      <m:fPr>
                        <m:ctrlPr>
                          <a:rPr lang="en-US" altLang="ko-KR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altLang="ko-KR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sSub>
                      <m:sSubPr>
                        <m:ctrlPr>
                          <a:rPr lang="en-US" altLang="ko-KR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𝛻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acc>
                      <m:accPr>
                        <m:chr m:val="̃"/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𝑅</m:t>
                        </m:r>
                      </m:e>
                    </m:acc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⏉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−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𝜆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endParaRPr lang="en-US" altLang="ko-KR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altLang="ko-KR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𝛻</m:t>
                    </m:r>
                    <m:sSub>
                      <m:sSubPr>
                        <m:ctrlPr>
                          <a:rPr lang="en-US" altLang="ko-KR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sSub>
                          <m:sSubPr>
                            <m:ctrlPr>
                              <a:rPr lang="en-US" altLang="ko-KR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ko-KR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𝛻</m:t>
                    </m:r>
                    <m:sSubSup>
                      <m:sSubSupPr>
                        <m:ctrlPr>
                          <a:rPr lang="en-US" altLang="ko-KR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sSub>
                          <m:sSubPr>
                            <m:ctrlPr>
                              <a:rPr lang="en-US" altLang="ko-KR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  <m:sup>
                        <m:r>
                          <a:rPr lang="en-US" altLang="ko-KR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⏉</m:t>
                        </m:r>
                      </m:sup>
                    </m:sSubSup>
                    <m:d>
                      <m:dPr>
                        <m:ctrlPr>
                          <a:rPr lang="en-US" altLang="ko-KR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d>
                      <m:dPr>
                        <m:ctrlPr>
                          <a:rPr lang="en-US" altLang="ko-K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m:rPr>
                        <m:sty m:val="p"/>
                      </m:rP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∇</m:t>
                    </m:r>
                    <m:sSub>
                      <m:sSubPr>
                        <m:ctrlPr>
                          <a:rPr lang="en-US" altLang="ko-K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sSub>
                          <m:sSubPr>
                            <m:ctrlPr>
                              <a:rPr lang="en-US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ko-K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d>
                      <m:dPr>
                        <m:ctrlPr>
                          <a:rPr lang="en-US" altLang="ko-K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en-US" altLang="ko-KR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=−(2</m:t>
                    </m:r>
                    <m:sSub>
                      <m:sSubPr>
                        <m:ctrlPr>
                          <a:rPr lang="en-US" altLang="ko-KR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𝜆𝛻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dirty="0">
                    <a:latin typeface="Arial Nova" panose="020B05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(∵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𝐾𝑒𝑟𝑛𝑒𝑙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:</m:t>
                    </m:r>
                    <m:sSub>
                      <m:sSubPr>
                        <m:ctrlPr>
                          <a:rPr lang="en-US" altLang="ko-KR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i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endParaRPr lang="en-US" altLang="ko-KR" b="1" i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endParaRPr lang="en-US" altLang="ko-KR" b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endParaRPr lang="en-US" altLang="ko-KR" b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endParaRPr lang="en-US" altLang="ko-KR" b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endParaRPr lang="en-US" altLang="ko-KR" b="1" i="1" dirty="0"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FA3C536-AA24-0394-A4D6-436B652C87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880" y="1125427"/>
                <a:ext cx="11424720" cy="5448479"/>
              </a:xfrm>
              <a:prstGeom prst="rect">
                <a:avLst/>
              </a:prstGeom>
              <a:blipFill>
                <a:blip r:embed="rId3"/>
                <a:stretch>
                  <a:fillRect l="-42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사각형: 둥근 모서리 3">
                <a:extLst>
                  <a:ext uri="{FF2B5EF4-FFF2-40B4-BE49-F238E27FC236}">
                    <a16:creationId xmlns:a16="http://schemas.microsoft.com/office/drawing/2014/main" id="{28E0FE0B-5494-3DDF-9CD9-FFE3F03B6B86}"/>
                  </a:ext>
                </a:extLst>
              </p:cNvPr>
              <p:cNvSpPr/>
              <p:nvPr/>
            </p:nvSpPr>
            <p:spPr bwMode="auto">
              <a:xfrm>
                <a:off x="1446326" y="3020475"/>
                <a:ext cx="1515728" cy="505712"/>
              </a:xfrm>
              <a:prstGeom prst="roundRect">
                <a:avLst/>
              </a:prstGeom>
              <a:noFill/>
              <a:ln w="254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altLang="ko-KR" sz="1800" i="0" u="none" strike="noStrike" cap="none" normalizeH="0" baseline="0" dirty="0">
                    <a:ln>
                      <a:noFill/>
                    </a:ln>
                    <a:effectLst/>
                    <a:latin typeface="Arial Narrow" pitchFamily="34" charset="0"/>
                  </a:rPr>
                  <a:t>MSE Loss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acc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𝑅</m:t>
                        </m:r>
                      </m:e>
                    </m:acc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ko-KR" altLang="en-US" b="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𝜃</m:t>
                        </m:r>
                      </m:e>
                    </m:d>
                    <m:r>
                      <a:rPr lang="en-US" altLang="ko-KR" b="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</m:oMath>
                </a14:m>
                <a:endParaRPr kumimoji="0" lang="en-US" altLang="ko-KR" sz="1800" i="0" u="none" strike="noStrike" cap="none" normalizeH="0" baseline="0" dirty="0">
                  <a:ln>
                    <a:noFill/>
                  </a:ln>
                  <a:effectLst/>
                  <a:latin typeface="Arial Narrow" pitchFamily="34" charset="0"/>
                </a:endParaRPr>
              </a:p>
            </p:txBody>
          </p:sp>
        </mc:Choice>
        <mc:Fallback xmlns="">
          <p:sp>
            <p:nvSpPr>
              <p:cNvPr id="4" name="사각형: 둥근 모서리 3">
                <a:extLst>
                  <a:ext uri="{FF2B5EF4-FFF2-40B4-BE49-F238E27FC236}">
                    <a16:creationId xmlns:a16="http://schemas.microsoft.com/office/drawing/2014/main" id="{28E0FE0B-5494-3DDF-9CD9-FFE3F03B6B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46326" y="3020475"/>
                <a:ext cx="1515728" cy="505712"/>
              </a:xfrm>
              <a:prstGeom prst="roundRect">
                <a:avLst/>
              </a:prstGeom>
              <a:blipFill>
                <a:blip r:embed="rId4"/>
                <a:stretch>
                  <a:fillRect l="-6827" b="-7229"/>
                </a:stretch>
              </a:blipFill>
              <a:ln w="254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직사각형 5">
            <a:extLst>
              <a:ext uri="{FF2B5EF4-FFF2-40B4-BE49-F238E27FC236}">
                <a16:creationId xmlns:a16="http://schemas.microsoft.com/office/drawing/2014/main" id="{856D0070-1F30-29DE-D465-9FE1CD2B734B}"/>
              </a:ext>
            </a:extLst>
          </p:cNvPr>
          <p:cNvSpPr/>
          <p:nvPr/>
        </p:nvSpPr>
        <p:spPr bwMode="auto">
          <a:xfrm>
            <a:off x="1375621" y="2686991"/>
            <a:ext cx="1657139" cy="412491"/>
          </a:xfrm>
          <a:prstGeom prst="rect">
            <a:avLst/>
          </a:prstGeom>
          <a:solidFill>
            <a:schemeClr val="accent5">
              <a:lumMod val="40000"/>
              <a:lumOff val="60000"/>
              <a:alpha val="4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BFDBBD6-8DA6-210A-159A-A15FA7037904}"/>
              </a:ext>
            </a:extLst>
          </p:cNvPr>
          <p:cNvSpPr/>
          <p:nvPr/>
        </p:nvSpPr>
        <p:spPr bwMode="auto">
          <a:xfrm>
            <a:off x="2403361" y="3099482"/>
            <a:ext cx="476999" cy="412491"/>
          </a:xfrm>
          <a:prstGeom prst="rect">
            <a:avLst/>
          </a:prstGeom>
          <a:solidFill>
            <a:schemeClr val="accent5">
              <a:lumMod val="40000"/>
              <a:lumOff val="60000"/>
              <a:alpha val="4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5C22814-B0BF-84DD-3C1B-FFF393AA6D6E}"/>
              </a:ext>
            </a:extLst>
          </p:cNvPr>
          <p:cNvSpPr/>
          <p:nvPr/>
        </p:nvSpPr>
        <p:spPr bwMode="auto">
          <a:xfrm>
            <a:off x="2133484" y="4073415"/>
            <a:ext cx="2011796" cy="412491"/>
          </a:xfrm>
          <a:prstGeom prst="rect">
            <a:avLst/>
          </a:prstGeom>
          <a:solidFill>
            <a:schemeClr val="accent5">
              <a:lumMod val="40000"/>
              <a:lumOff val="60000"/>
              <a:alpha val="4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7B9CB72-A510-F959-2D0D-D680DB19D81B}"/>
              </a:ext>
            </a:extLst>
          </p:cNvPr>
          <p:cNvSpPr/>
          <p:nvPr/>
        </p:nvSpPr>
        <p:spPr bwMode="auto">
          <a:xfrm>
            <a:off x="1127586" y="4087629"/>
            <a:ext cx="152574" cy="412491"/>
          </a:xfrm>
          <a:prstGeom prst="rect">
            <a:avLst/>
          </a:prstGeom>
          <a:solidFill>
            <a:schemeClr val="accent5">
              <a:lumMod val="40000"/>
              <a:lumOff val="60000"/>
              <a:alpha val="4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742B3C5-43C9-A6CF-E085-2D1CD363AFDA}"/>
              </a:ext>
            </a:extLst>
          </p:cNvPr>
          <p:cNvSpPr/>
          <p:nvPr/>
        </p:nvSpPr>
        <p:spPr bwMode="auto">
          <a:xfrm>
            <a:off x="8732346" y="4073414"/>
            <a:ext cx="1006014" cy="412491"/>
          </a:xfrm>
          <a:prstGeom prst="rect">
            <a:avLst/>
          </a:prstGeom>
          <a:solidFill>
            <a:schemeClr val="accent5">
              <a:lumMod val="40000"/>
              <a:lumOff val="60000"/>
              <a:alpha val="4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7758436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A84FA-A934-452A-3192-A6CDC5BED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675B1A73-17FA-AF34-9DC8-2A9680084AB6}"/>
              </a:ext>
            </a:extLst>
          </p:cNvPr>
          <p:cNvSpPr/>
          <p:nvPr/>
        </p:nvSpPr>
        <p:spPr bwMode="auto">
          <a:xfrm>
            <a:off x="347880" y="1096852"/>
            <a:ext cx="11424720" cy="936719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78CCD4C-C620-95F0-8E00-5B9C78791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00" y="144463"/>
            <a:ext cx="11424720" cy="752792"/>
          </a:xfrm>
        </p:spPr>
        <p:txBody>
          <a:bodyPr/>
          <a:lstStyle/>
          <a:p>
            <a:r>
              <a:rPr lang="en-US" altLang="ko-KR" dirty="0"/>
              <a:t>Theorem 1. Monotonic Updates in Regularized Fine-tuning 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AD3C27-2D9E-53B3-0D44-500ED8A75002}"/>
              </a:ext>
            </a:extLst>
          </p:cNvPr>
          <p:cNvSpPr txBox="1"/>
          <p:nvPr/>
        </p:nvSpPr>
        <p:spPr>
          <a:xfrm>
            <a:off x="0" y="6590426"/>
            <a:ext cx="114247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Afzal, Zahra Rahimi, et al. "Linearization Explains Fine-Tuning in Large Language Models." </a:t>
            </a:r>
            <a:r>
              <a:rPr lang="en-US" altLang="ko-KR" sz="1000" i="1" dirty="0">
                <a:solidFill>
                  <a:schemeClr val="bg1">
                    <a:lumMod val="65000"/>
                  </a:schemeClr>
                </a:solidFill>
              </a:rPr>
              <a:t>The 39th Annual Conference on </a:t>
            </a:r>
            <a:r>
              <a:rPr lang="en-US" altLang="ko-KR" sz="1000" i="1" dirty="0" err="1">
                <a:solidFill>
                  <a:schemeClr val="bg1">
                    <a:lumMod val="65000"/>
                  </a:schemeClr>
                </a:solidFill>
              </a:rPr>
              <a:t>NeurIPS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1000" dirty="0">
              <a:solidFill>
                <a:schemeClr val="bg1">
                  <a:lumMod val="6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1C45B72-1E94-CEDB-ADAB-A80A20AD631C}"/>
                  </a:ext>
                </a:extLst>
              </p:cNvPr>
              <p:cNvSpPr txBox="1"/>
              <p:nvPr/>
            </p:nvSpPr>
            <p:spPr>
              <a:xfrm>
                <a:off x="347880" y="1125427"/>
                <a:ext cx="11424720" cy="5450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Tx/>
                  <a:buChar char="-"/>
                </a:pPr>
                <a:r>
                  <a:rPr lang="en-US" altLang="ko-KR" b="1" dirty="0">
                    <a:latin typeface="Arial Nova" panose="020B0504020202020204" pitchFamily="34" charset="0"/>
                  </a:rPr>
                  <a:t>Under the squared loss, for any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, if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𝝀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0" smtClean="0">
                            <a:latin typeface="Cambria Math" panose="02040503050406030204" pitchFamily="18" charset="0"/>
                          </a:rPr>
                          <m:t>𝛁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sub>
                    </m:sSub>
                    <m:acc>
                      <m:accPr>
                        <m:chr m:val="̃"/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acc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𝑹</m:t>
                        </m:r>
                      </m:e>
                    </m:acc>
                    <m:r>
                      <a:rPr lang="en-US" altLang="ko-KR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𝜽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𝒕</m:t>
                        </m:r>
                      </m:sub>
                    </m:sSub>
                    <m:r>
                      <a:rPr lang="en-US" altLang="ko-KR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)(</m:t>
                    </m:r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𝜽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𝒕</m:t>
                        </m:r>
                      </m:sub>
                    </m:sSub>
                    <m:r>
                      <a:rPr lang="en-US" altLang="ko-KR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−</m:t>
                    </m:r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𝜽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𝟎</m:t>
                        </m:r>
                      </m:sub>
                    </m:sSub>
                    <m:r>
                      <a:rPr lang="en-US" altLang="ko-KR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≥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𝟎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, then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𝒅</m:t>
                        </m:r>
                      </m:num>
                      <m:den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𝒅𝒕</m:t>
                        </m:r>
                      </m:den>
                    </m:f>
                    <m:sSup>
                      <m:sSup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sub>
                                </m:sSub>
                              </m:sub>
                            </m:sSub>
                            <m:d>
                              <m:dPr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ko-KR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altLang="ko-KR" b="1" i="1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  <m:sup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endParaRPr lang="en-US" altLang="ko-KR" b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r>
                  <a:rPr lang="en-US" altLang="ko-KR" b="1" dirty="0">
                    <a:latin typeface="Arial Nova" panose="020B0504020202020204" pitchFamily="34" charset="0"/>
                  </a:rPr>
                  <a:t>Moreover,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𝜵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𝜽</m:t>
                        </m:r>
                      </m:sub>
                    </m:sSub>
                    <m:acc>
                      <m:accPr>
                        <m:chr m:val="̃"/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acc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𝑹</m:t>
                        </m:r>
                      </m:e>
                    </m:acc>
                    <m:d>
                      <m:dPr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𝒕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𝒕</m:t>
                            </m:r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𝟎</m:t>
                            </m:r>
                          </m:sub>
                        </m:sSub>
                      </m:e>
                    </m:d>
                    <m:r>
                      <a:rPr lang="en-US" altLang="ko-KR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&lt;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𝟎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, then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𝝀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is a sufficient condition for the above equation to hold.</a:t>
                </a:r>
              </a:p>
              <a:p>
                <a:pPr marL="285750" indent="-285750">
                  <a:buFontTx/>
                  <a:buChar char="-"/>
                </a:pPr>
                <a:endParaRPr lang="en-US" altLang="ko-KR" b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r>
                  <a:rPr lang="en-US" altLang="ko-KR" dirty="0">
                    <a:latin typeface="Arial Nova" panose="020B0504020202020204" pitchFamily="34" charset="0"/>
                  </a:rPr>
                  <a:t>Monotonicity of updates </a:t>
                </a:r>
                <a:r>
                  <a:rPr lang="en-US" altLang="ko-KR" dirty="0">
                    <a:latin typeface="Arial Nova" panose="020B0504020202020204" pitchFamily="34" charset="0"/>
                    <a:sym typeface="Wingdings" panose="05000000000000000000" pitchFamily="2" charset="2"/>
                  </a:rPr>
                  <a:t> Training fine-tuned models decreases loss</a:t>
                </a:r>
                <a:endParaRPr lang="en-US" altLang="ko-KR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r>
                  <a:rPr lang="en-US" altLang="ko-KR" dirty="0">
                    <a:latin typeface="Arial Nova" panose="020B0504020202020204" pitchFamily="34" charset="0"/>
                  </a:rPr>
                  <a:t>How to show that loss decreases </a:t>
                </a:r>
                <a:r>
                  <a:rPr lang="en-US" altLang="ko-KR" dirty="0">
                    <a:latin typeface="Arial Nova" panose="020B0504020202020204" pitchFamily="34" charset="0"/>
                    <a:sym typeface="Wingdings" panose="05000000000000000000" pitchFamily="2" charset="2"/>
                  </a:rPr>
                  <a:t> Show that the derivative of the loss function surface is negative</a:t>
                </a:r>
              </a:p>
              <a:p>
                <a:pPr marL="742950" lvl="1" indent="-285750">
                  <a:buFontTx/>
                  <a:buChar char="-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sub>
                            </m:sSub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≤0</m:t>
                    </m:r>
                  </m:oMath>
                </a14:m>
                <a:endParaRPr lang="en-US" altLang="ko-KR" dirty="0">
                  <a:latin typeface="Arial Nova" panose="020B0504020202020204" pitchFamily="34" charset="0"/>
                </a:endParaRPr>
              </a:p>
              <a:p>
                <a:pPr marL="742950" lvl="1" indent="-285750">
                  <a:buFontTx/>
                  <a:buChar char="-"/>
                </a:pPr>
                <a:endParaRPr lang="en-US" altLang="ko-KR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endParaRPr lang="en-US" altLang="ko-KR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r>
                  <a:rPr lang="en-US" altLang="ko-KR" dirty="0">
                    <a:latin typeface="Arial Nova" panose="020B0504020202020204" pitchFamily="34" charset="0"/>
                  </a:rPr>
                  <a:t>(1)</a:t>
                </a:r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 −(2</m:t>
                    </m:r>
                    <m:sSub>
                      <m:sSubPr>
                        <m:ctrlPr>
                          <a:rPr lang="en-US" altLang="ko-KR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𝜆𝛻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dirty="0">
                    <a:latin typeface="Arial Nova" panose="020B0504020202020204" pitchFamily="34" charset="0"/>
                  </a:rPr>
                  <a:t> 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altLang="ko-KR" dirty="0">
                    <a:latin typeface="Arial Nova" panose="020B0504020202020204" pitchFamily="34" charset="0"/>
                  </a:rPr>
                  <a:t>(2)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𝑦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p>
                    </m:sSubSup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d>
                                  <m:d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⏉</m:t>
                            </m:r>
                          </m:sup>
                        </m:sSup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⏉</m:t>
                        </m:r>
                      </m:sup>
                    </m:sSup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altLang="ko-KR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=−2</m:t>
                    </m:r>
                    <m:sSup>
                      <m:sSupPr>
                        <m:ctrlPr>
                          <a:rPr lang="en-US" altLang="ko-KR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⏉</m:t>
                        </m:r>
                      </m:sup>
                    </m:sSup>
                    <m:sSub>
                      <m:sSubPr>
                        <m:ctrlPr>
                          <a:rPr lang="en-US" altLang="ko-KR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𝜆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⏉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𝛻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i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=−2</m:t>
                    </m:r>
                    <m:d>
                      <m:dPr>
                        <m:begChr m:val="⟨"/>
                        <m:endChr m:val="⟩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𝜆</m:t>
                    </m:r>
                    <m:sSup>
                      <m:sSupPr>
                        <m:ctrlPr>
                          <a:rPr lang="en-US" altLang="ko-KR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d>
                              <m:dPr>
                                <m:ctrlPr>
                                  <a:rPr lang="en-US" altLang="ko-KR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altLang="ko-KR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ko-KR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ko-KR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ko-KR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⏉</m:t>
                        </m:r>
                      </m:sup>
                    </m:sSup>
                    <m:r>
                      <a:rPr lang="en-US" altLang="ko-KR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𝛻</m:t>
                    </m:r>
                    <m:sSub>
                      <m:sSubPr>
                        <m:ctrlPr>
                          <a:rPr lang="en-US" altLang="ko-KR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sSub>
                          <m:sSubPr>
                            <m:ctrlPr>
                              <a:rPr lang="en-US" altLang="ko-KR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ko-KR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i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=−2</m:t>
                    </m:r>
                    <m:d>
                      <m:dPr>
                        <m:begChr m:val="⟨"/>
                        <m:endChr m:val="⟩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num>
                          <m:den>
                            <m:r>
                              <a:rPr lang="en-US" altLang="ko-KR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sSub>
                      <m:sSubPr>
                        <m:ctrlPr>
                          <a:rPr lang="en-US" altLang="ko-KR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𝛻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acc>
                      <m:accPr>
                        <m:chr m:val="̃"/>
                        <m:ctrlPr>
                          <a:rPr lang="en-US" altLang="ko-KR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𝑅</m:t>
                        </m:r>
                      </m:e>
                    </m:acc>
                    <m:d>
                      <m:dPr>
                        <m:ctrlPr>
                          <a:rPr lang="en-US" altLang="ko-KR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ko-KR" alt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𝑡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US" altLang="ko-KR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(∵</m:t>
                    </m:r>
                    <m:sSub>
                      <m:sSubPr>
                        <m:ctrlPr>
                          <a:rPr lang="en-US" altLang="ko-KR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𝛻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acc>
                      <m:accPr>
                        <m:chr m:val="̃"/>
                        <m:ctrlPr>
                          <a:rPr lang="en-US" altLang="ko-KR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𝑅</m:t>
                        </m:r>
                      </m:e>
                    </m:acc>
                    <m:d>
                      <m:dPr>
                        <m:ctrlPr>
                          <a:rPr lang="en-US" altLang="ko-KR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ko-KR" alt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altLang="ko-KR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=2</m:t>
                    </m:r>
                    <m:sSup>
                      <m:sSupPr>
                        <m:ctrlPr>
                          <a:rPr lang="en-US" altLang="ko-KR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d>
                              <m:dPr>
                                <m:ctrlPr>
                                  <a:rPr lang="en-US" altLang="ko-KR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altLang="ko-KR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ko-KR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ko-KR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ko-KR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⏉</m:t>
                        </m:r>
                      </m:sup>
                    </m:sSup>
                    <m:r>
                      <a:rPr lang="en-US" altLang="ko-KR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𝛻</m:t>
                    </m:r>
                    <m:sSub>
                      <m:sSubPr>
                        <m:ctrlPr>
                          <a:rPr lang="en-US" altLang="ko-KR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sSub>
                          <m:sSubPr>
                            <m:ctrlPr>
                              <a:rPr lang="en-US" altLang="ko-KR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ko-KR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i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∴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sSubSup>
                      <m:sSubSupPr>
                        <m:ctrlP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𝑦</m:t>
                            </m:r>
                            <m:d>
                              <m:dPr>
                                <m:ctrlPr>
                                  <a:rPr lang="en-US" altLang="ko-KR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ko-KR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  <m:sup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p>
                    </m:sSubSup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−2</m:t>
                    </m:r>
                    <m:d>
                      <m:dPr>
                        <m:begChr m:val="⟨"/>
                        <m:endChr m:val="⟩"/>
                        <m:ctrlPr>
                          <a:rPr lang="en-US" altLang="ko-K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d>
                              <m:dPr>
                                <m:ctrlPr>
                                  <a:rPr lang="en-US" altLang="ko-KR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ko-KR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d>
                              <m:dPr>
                                <m:ctrlPr>
                                  <a:rPr lang="en-US" altLang="ko-KR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ko-KR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e>
                    </m:d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altLang="ko-K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num>
                          <m:den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sSub>
                      <m:sSubPr>
                        <m:ctrlPr>
                          <a:rPr lang="en-US" altLang="ko-K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𝛻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acc>
                      <m:accPr>
                        <m:chr m:val="̃"/>
                        <m:ctrlPr>
                          <a:rPr lang="en-US" altLang="ko-K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𝑅</m:t>
                        </m:r>
                      </m:e>
                    </m:acc>
                    <m:d>
                      <m:dPr>
                        <m:ctrlPr>
                          <a:rPr lang="en-US" altLang="ko-K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ko-KR" alt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𝑡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US" altLang="ko-K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en-US" altLang="ko-KR" i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endParaRPr lang="en-US" altLang="ko-KR" i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endParaRPr lang="en-US" altLang="ko-KR" b="1" dirty="0"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1C45B72-1E94-CEDB-ADAB-A80A20AD63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880" y="1125427"/>
                <a:ext cx="11424720" cy="5450531"/>
              </a:xfrm>
              <a:prstGeom prst="rect">
                <a:avLst/>
              </a:prstGeom>
              <a:blipFill>
                <a:blip r:embed="rId3"/>
                <a:stretch>
                  <a:fillRect l="-42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사각형: 둥근 모서리 3">
                <a:extLst>
                  <a:ext uri="{FF2B5EF4-FFF2-40B4-BE49-F238E27FC236}">
                    <a16:creationId xmlns:a16="http://schemas.microsoft.com/office/drawing/2014/main" id="{8152825D-6DBB-DF66-392F-BB71EB7711B2}"/>
                  </a:ext>
                </a:extLst>
              </p:cNvPr>
              <p:cNvSpPr/>
              <p:nvPr/>
            </p:nvSpPr>
            <p:spPr bwMode="auto">
              <a:xfrm>
                <a:off x="1446326" y="3020475"/>
                <a:ext cx="1515728" cy="505712"/>
              </a:xfrm>
              <a:prstGeom prst="roundRect">
                <a:avLst/>
              </a:prstGeom>
              <a:noFill/>
              <a:ln w="254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altLang="ko-KR" sz="1800" b="1" i="0" u="none" strike="noStrike" cap="none" normalizeH="0" baseline="0" dirty="0">
                    <a:ln>
                      <a:noFill/>
                    </a:ln>
                    <a:effectLst/>
                    <a:latin typeface="Arial Narrow" pitchFamily="34" charset="0"/>
                  </a:rPr>
                  <a:t>MSE Loss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acc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𝑹</m:t>
                        </m:r>
                      </m:e>
                    </m:acc>
                    <m:d>
                      <m:dPr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ko-KR" altLang="en-US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𝜽</m:t>
                        </m:r>
                      </m:e>
                    </m:d>
                    <m:r>
                      <a:rPr lang="en-US" altLang="ko-KR" b="1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</m:oMath>
                </a14:m>
                <a:endParaRPr kumimoji="0" lang="en-US" altLang="ko-KR" sz="1800" b="1" i="0" u="none" strike="noStrike" cap="none" normalizeH="0" baseline="0" dirty="0">
                  <a:ln>
                    <a:noFill/>
                  </a:ln>
                  <a:effectLst/>
                  <a:latin typeface="Arial Narrow" pitchFamily="34" charset="0"/>
                </a:endParaRPr>
              </a:p>
            </p:txBody>
          </p:sp>
        </mc:Choice>
        <mc:Fallback xmlns="">
          <p:sp>
            <p:nvSpPr>
              <p:cNvPr id="4" name="사각형: 둥근 모서리 3">
                <a:extLst>
                  <a:ext uri="{FF2B5EF4-FFF2-40B4-BE49-F238E27FC236}">
                    <a16:creationId xmlns:a16="http://schemas.microsoft.com/office/drawing/2014/main" id="{8152825D-6DBB-DF66-392F-BB71EB7711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46326" y="3020475"/>
                <a:ext cx="1515728" cy="505712"/>
              </a:xfrm>
              <a:prstGeom prst="roundRect">
                <a:avLst/>
              </a:prstGeom>
              <a:blipFill>
                <a:blip r:embed="rId4"/>
                <a:stretch>
                  <a:fillRect l="-8434" r="-4819" b="-7229"/>
                </a:stretch>
              </a:blipFill>
              <a:ln w="254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직사각형 5">
            <a:extLst>
              <a:ext uri="{FF2B5EF4-FFF2-40B4-BE49-F238E27FC236}">
                <a16:creationId xmlns:a16="http://schemas.microsoft.com/office/drawing/2014/main" id="{E0AF2197-3AA0-DBEB-BEBE-6C9887E4F889}"/>
              </a:ext>
            </a:extLst>
          </p:cNvPr>
          <p:cNvSpPr/>
          <p:nvPr/>
        </p:nvSpPr>
        <p:spPr bwMode="auto">
          <a:xfrm>
            <a:off x="1375621" y="2686991"/>
            <a:ext cx="1657139" cy="412491"/>
          </a:xfrm>
          <a:prstGeom prst="rect">
            <a:avLst/>
          </a:prstGeom>
          <a:solidFill>
            <a:schemeClr val="accent5">
              <a:lumMod val="40000"/>
              <a:lumOff val="60000"/>
              <a:alpha val="4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E0C4248-BBA2-0803-A4E3-D3B2C169705F}"/>
              </a:ext>
            </a:extLst>
          </p:cNvPr>
          <p:cNvSpPr/>
          <p:nvPr/>
        </p:nvSpPr>
        <p:spPr bwMode="auto">
          <a:xfrm>
            <a:off x="2403361" y="3099482"/>
            <a:ext cx="476999" cy="412491"/>
          </a:xfrm>
          <a:prstGeom prst="rect">
            <a:avLst/>
          </a:prstGeom>
          <a:solidFill>
            <a:schemeClr val="accent5">
              <a:lumMod val="40000"/>
              <a:lumOff val="60000"/>
              <a:alpha val="4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F16D794-F59C-0F90-2988-22040DB763BC}"/>
              </a:ext>
            </a:extLst>
          </p:cNvPr>
          <p:cNvSpPr/>
          <p:nvPr/>
        </p:nvSpPr>
        <p:spPr bwMode="auto">
          <a:xfrm>
            <a:off x="1215601" y="4081953"/>
            <a:ext cx="1515729" cy="412491"/>
          </a:xfrm>
          <a:prstGeom prst="rect">
            <a:avLst/>
          </a:prstGeom>
          <a:solidFill>
            <a:schemeClr val="accent5">
              <a:lumMod val="40000"/>
              <a:lumOff val="60000"/>
              <a:alpha val="4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34EDE65-4C10-1767-36D3-7BA2A6A47BED}"/>
                  </a:ext>
                </a:extLst>
              </p:cNvPr>
              <p:cNvSpPr txBox="1"/>
              <p:nvPr/>
            </p:nvSpPr>
            <p:spPr>
              <a:xfrm>
                <a:off x="655473" y="5924573"/>
                <a:ext cx="4960735" cy="4521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  (∵</m:t>
                    </m:r>
                    <m:sSub>
                      <m:sSubPr>
                        <m:ctrlPr>
                          <a:rPr lang="en-US" altLang="ko-KR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ko-KR" b="0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𝛻</m:t>
                    </m:r>
                    <m:sSub>
                      <m:sSubPr>
                        <m:ctrlPr>
                          <a:rPr lang="en-US" altLang="ko-KR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sSub>
                          <m:sSubPr>
                            <m:ctrlPr>
                              <a:rPr lang="en-US" altLang="ko-KR" i="1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b="0" i="1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ko-KR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i="1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b="0" i="1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b="0" i="1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𝛻</m:t>
                    </m:r>
                    <m:sSubSup>
                      <m:sSubSupPr>
                        <m:ctrlPr>
                          <a:rPr lang="en-US" altLang="ko-KR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0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sSub>
                          <m:sSubPr>
                            <m:ctrlPr>
                              <a:rPr lang="en-US" altLang="ko-KR" i="1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b="0" i="1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  <m:sup>
                        <m:r>
                          <a:rPr lang="en-US" altLang="ko-KR" b="0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⏉</m:t>
                        </m:r>
                      </m:sup>
                    </m:sSubSup>
                    <m:d>
                      <m:dPr>
                        <m:ctrlPr>
                          <a:rPr lang="en-US" altLang="ko-KR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i="1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b="0" i="1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ko-KR" i="1" dirty="0">
                    <a:solidFill>
                      <a:schemeClr val="accent3"/>
                    </a:solidFill>
                    <a:latin typeface="Arial Nova" panose="020B0504020202020204" pitchFamily="34" charset="0"/>
                  </a:rPr>
                  <a:t> </a:t>
                </a:r>
                <a:r>
                  <a:rPr lang="en-US" altLang="ko-KR" dirty="0">
                    <a:solidFill>
                      <a:schemeClr val="accent3"/>
                    </a:solidFill>
                    <a:latin typeface="Arial Nova" panose="020B0504020202020204" pitchFamily="34" charset="0"/>
                  </a:rPr>
                  <a:t>is semidefinite)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34EDE65-4C10-1767-36D3-7BA2A6A47B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473" y="5924573"/>
                <a:ext cx="4960735" cy="452175"/>
              </a:xfrm>
              <a:prstGeom prst="rect">
                <a:avLst/>
              </a:prstGeom>
              <a:blipFill>
                <a:blip r:embed="rId5"/>
                <a:stretch>
                  <a:fillRect b="-108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직사각형 12">
            <a:extLst>
              <a:ext uri="{FF2B5EF4-FFF2-40B4-BE49-F238E27FC236}">
                <a16:creationId xmlns:a16="http://schemas.microsoft.com/office/drawing/2014/main" id="{D38BC582-5CE4-57C4-5603-41EAD5781DDF}"/>
              </a:ext>
            </a:extLst>
          </p:cNvPr>
          <p:cNvSpPr/>
          <p:nvPr/>
        </p:nvSpPr>
        <p:spPr bwMode="auto">
          <a:xfrm>
            <a:off x="6442921" y="5526327"/>
            <a:ext cx="1893359" cy="412491"/>
          </a:xfrm>
          <a:prstGeom prst="rect">
            <a:avLst/>
          </a:prstGeom>
          <a:solidFill>
            <a:schemeClr val="accent2">
              <a:alpha val="4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E419715-EF20-F5B6-4435-6E2B0AA5E71C}"/>
                  </a:ext>
                </a:extLst>
              </p:cNvPr>
              <p:cNvSpPr txBox="1"/>
              <p:nvPr/>
            </p:nvSpPr>
            <p:spPr>
              <a:xfrm>
                <a:off x="5531160" y="5874387"/>
                <a:ext cx="6950399" cy="7804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𝛻</m:t>
                        </m:r>
                      </m:e>
                      <m:sub>
                        <m:r>
                          <a:rPr lang="en-US" altLang="ko-KR" b="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acc>
                      <m:accPr>
                        <m:chr m:val="̃"/>
                        <m:ctrlPr>
                          <a:rPr lang="en-US" altLang="ko-KR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accPr>
                      <m:e>
                        <m:r>
                          <a:rPr lang="en-US" altLang="ko-KR" b="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𝑅</m:t>
                        </m:r>
                      </m:e>
                    </m:acc>
                    <m:r>
                      <a:rPr lang="en-US" altLang="ko-KR" b="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sSub>
                      <m:sSubPr>
                        <m:ctrlPr>
                          <a:rPr lang="en-US" altLang="ko-KR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b="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𝜃</m:t>
                        </m:r>
                      </m:e>
                      <m:sub>
                        <m:r>
                          <a:rPr lang="en-US" altLang="ko-KR" b="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sub>
                    </m:sSub>
                    <m:r>
                      <a:rPr lang="en-US" altLang="ko-KR" b="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)(</m:t>
                    </m:r>
                    <m:sSub>
                      <m:sSubPr>
                        <m:ctrlPr>
                          <a:rPr lang="en-US" altLang="ko-KR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b="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𝜃</m:t>
                        </m:r>
                      </m:e>
                      <m:sub>
                        <m:r>
                          <a:rPr lang="en-US" altLang="ko-KR" b="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sub>
                    </m:sSub>
                    <m:r>
                      <a:rPr lang="en-US" altLang="ko-KR" b="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−</m:t>
                    </m:r>
                    <m:sSub>
                      <m:sSubPr>
                        <m:ctrlPr>
                          <a:rPr lang="en-US" altLang="ko-KR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b="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𝜃</m:t>
                        </m:r>
                      </m:e>
                      <m:sub>
                        <m:r>
                          <a:rPr lang="en-US" altLang="ko-KR" b="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0</m:t>
                        </m:r>
                      </m:sub>
                    </m:sSub>
                    <m:r>
                      <a:rPr lang="en-US" altLang="ko-KR" b="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  <m:r>
                      <a:rPr lang="en-US" altLang="ko-KR" b="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≥0</m:t>
                    </m:r>
                  </m:oMath>
                </a14:m>
                <a:r>
                  <a:rPr lang="en-US" altLang="ko-KR" dirty="0">
                    <a:solidFill>
                      <a:srgbClr val="C00000"/>
                    </a:solidFill>
                    <a:latin typeface="Arial Nova" panose="020B0504020202020204" pitchFamily="34" charset="0"/>
                  </a:rPr>
                  <a:t> required to keep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b="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>
                      <m:fPr>
                        <m:ctrlPr>
                          <a:rPr lang="en-US" altLang="ko-KR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altLang="ko-KR" b="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sSubSup>
                      <m:sSubSupPr>
                        <m:ctrlPr>
                          <a:rPr lang="en-US" altLang="ko-KR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ko-KR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𝑦</m:t>
                            </m:r>
                            <m:d>
                              <m:dPr>
                                <m:ctrlPr>
                                  <a:rPr lang="en-US" altLang="ko-KR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altLang="ko-KR" b="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ko-KR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ko-KR" b="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US" altLang="ko-KR" b="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  <m:sup>
                        <m:r>
                          <a:rPr lang="en-US" altLang="ko-KR" b="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p>
                    </m:sSubSup>
                    <m:r>
                      <a:rPr lang="en-US" altLang="ko-KR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≤0</m:t>
                    </m:r>
                  </m:oMath>
                </a14:m>
                <a:endParaRPr lang="en-US" altLang="ko-KR" dirty="0">
                  <a:solidFill>
                    <a:srgbClr val="C00000"/>
                  </a:solidFill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r>
                  <a:rPr lang="en-US" altLang="ko-KR" dirty="0">
                    <a:solidFill>
                      <a:srgbClr val="C00000"/>
                    </a:solidFill>
                    <a:latin typeface="Arial Nova" panose="020B0504020202020204" pitchFamily="34" charset="0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𝛻</m:t>
                        </m:r>
                      </m:e>
                      <m:sub>
                        <m:r>
                          <a:rPr lang="en-US" altLang="ko-KR" b="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acc>
                      <m:accPr>
                        <m:chr m:val="̃"/>
                        <m:ctrlPr>
                          <a:rPr lang="en-US" altLang="ko-KR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accPr>
                      <m:e>
                        <m:r>
                          <a:rPr lang="en-US" altLang="ko-KR" b="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𝑅</m:t>
                        </m:r>
                      </m:e>
                    </m:acc>
                    <m:r>
                      <a:rPr lang="en-US" altLang="ko-KR" b="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sSub>
                      <m:sSubPr>
                        <m:ctrlPr>
                          <a:rPr lang="en-US" altLang="ko-KR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b="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𝜃</m:t>
                        </m:r>
                      </m:e>
                      <m:sub>
                        <m:r>
                          <a:rPr lang="en-US" altLang="ko-KR" b="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sub>
                    </m:sSub>
                    <m:r>
                      <a:rPr lang="en-US" altLang="ko-KR" b="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)(</m:t>
                    </m:r>
                    <m:sSub>
                      <m:sSubPr>
                        <m:ctrlPr>
                          <a:rPr lang="en-US" altLang="ko-KR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b="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𝜃</m:t>
                        </m:r>
                      </m:e>
                      <m:sub>
                        <m:r>
                          <a:rPr lang="en-US" altLang="ko-KR" b="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sub>
                    </m:sSub>
                    <m:r>
                      <a:rPr lang="en-US" altLang="ko-KR" b="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−</m:t>
                    </m:r>
                    <m:sSub>
                      <m:sSubPr>
                        <m:ctrlPr>
                          <a:rPr lang="en-US" altLang="ko-KR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b="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𝜃</m:t>
                        </m:r>
                      </m:e>
                      <m:sub>
                        <m:r>
                          <a:rPr lang="en-US" altLang="ko-KR" b="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0</m:t>
                        </m:r>
                      </m:sub>
                    </m:sSub>
                    <m:r>
                      <a:rPr lang="en-US" altLang="ko-KR" b="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  <m:r>
                      <a:rPr lang="en-US" altLang="ko-KR" b="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&lt;0</m:t>
                    </m:r>
                  </m:oMath>
                </a14:m>
                <a:r>
                  <a:rPr lang="en-US" altLang="ko-KR" dirty="0">
                    <a:solidFill>
                      <a:srgbClr val="C00000"/>
                    </a:solidFill>
                    <a:latin typeface="Arial Nova" panose="020B0504020202020204" pitchFamily="34" charset="0"/>
                  </a:rPr>
                  <a:t> then </a:t>
                </a:r>
                <a14:m>
                  <m:oMath xmlns:m="http://schemas.openxmlformats.org/officeDocument/2006/math">
                    <m:r>
                      <a:rPr lang="en-US" altLang="ko-KR" b="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ko-KR" b="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ko-KR" dirty="0">
                    <a:solidFill>
                      <a:srgbClr val="C00000"/>
                    </a:solidFill>
                    <a:latin typeface="Arial Nova" panose="020B0504020202020204" pitchFamily="34" charset="0"/>
                  </a:rPr>
                  <a:t> is necessary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E419715-EF20-F5B6-4435-6E2B0AA5E7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1160" y="5874387"/>
                <a:ext cx="6950399" cy="780470"/>
              </a:xfrm>
              <a:prstGeom prst="rect">
                <a:avLst/>
              </a:prstGeom>
              <a:blipFill>
                <a:blip r:embed="rId6"/>
                <a:stretch>
                  <a:fillRect l="-702" b="-1093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직사각형 15">
            <a:extLst>
              <a:ext uri="{FF2B5EF4-FFF2-40B4-BE49-F238E27FC236}">
                <a16:creationId xmlns:a16="http://schemas.microsoft.com/office/drawing/2014/main" id="{6273FD75-3908-8529-88B7-1AC48D124266}"/>
              </a:ext>
            </a:extLst>
          </p:cNvPr>
          <p:cNvSpPr/>
          <p:nvPr/>
        </p:nvSpPr>
        <p:spPr bwMode="auto">
          <a:xfrm>
            <a:off x="3135841" y="5512082"/>
            <a:ext cx="2725048" cy="412491"/>
          </a:xfrm>
          <a:prstGeom prst="rect">
            <a:avLst/>
          </a:prstGeom>
          <a:solidFill>
            <a:schemeClr val="accent3">
              <a:alpha val="4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A6CA0A5-4FE1-6DCD-E68E-19C1F6BC0AAD}"/>
              </a:ext>
            </a:extLst>
          </p:cNvPr>
          <p:cNvSpPr/>
          <p:nvPr/>
        </p:nvSpPr>
        <p:spPr bwMode="auto">
          <a:xfrm>
            <a:off x="6183842" y="5526327"/>
            <a:ext cx="147272" cy="191777"/>
          </a:xfrm>
          <a:prstGeom prst="rect">
            <a:avLst/>
          </a:prstGeom>
          <a:solidFill>
            <a:schemeClr val="accent2">
              <a:alpha val="4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BD3EFC3-2CD3-3B81-1C2A-AD45168070C6}"/>
              </a:ext>
            </a:extLst>
          </p:cNvPr>
          <p:cNvSpPr/>
          <p:nvPr/>
        </p:nvSpPr>
        <p:spPr bwMode="auto">
          <a:xfrm>
            <a:off x="8885968" y="6327742"/>
            <a:ext cx="631412" cy="276791"/>
          </a:xfrm>
          <a:prstGeom prst="rect">
            <a:avLst/>
          </a:prstGeom>
          <a:solidFill>
            <a:schemeClr val="accent2">
              <a:alpha val="4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0122141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B6A2C-DA90-A41E-4E87-41B25A5A0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703EE428-DFA7-7357-99A7-73A6EBC060F1}"/>
              </a:ext>
            </a:extLst>
          </p:cNvPr>
          <p:cNvSpPr/>
          <p:nvPr/>
        </p:nvSpPr>
        <p:spPr bwMode="auto">
          <a:xfrm>
            <a:off x="347880" y="1096852"/>
            <a:ext cx="11424720" cy="936719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694A324-2985-C79F-7B70-6C4576282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00" y="144463"/>
            <a:ext cx="11424720" cy="752792"/>
          </a:xfrm>
        </p:spPr>
        <p:txBody>
          <a:bodyPr/>
          <a:lstStyle/>
          <a:p>
            <a:r>
              <a:rPr lang="en-US" altLang="ko-KR" dirty="0"/>
              <a:t>Theorem 1. Monotonic Updates in Regularized Fine-tuning 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3526AD-C315-798E-57AF-C2B492742CF9}"/>
              </a:ext>
            </a:extLst>
          </p:cNvPr>
          <p:cNvSpPr txBox="1"/>
          <p:nvPr/>
        </p:nvSpPr>
        <p:spPr>
          <a:xfrm>
            <a:off x="0" y="6590426"/>
            <a:ext cx="114247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Afzal, Zahra Rahimi, et al. "Linearization Explains Fine-Tuning in Large Language Models." </a:t>
            </a:r>
            <a:r>
              <a:rPr lang="en-US" altLang="ko-KR" sz="1000" i="1" dirty="0">
                <a:solidFill>
                  <a:schemeClr val="bg1">
                    <a:lumMod val="65000"/>
                  </a:schemeClr>
                </a:solidFill>
              </a:rPr>
              <a:t>The 39th Annual Conference on </a:t>
            </a:r>
            <a:r>
              <a:rPr lang="en-US" altLang="ko-KR" sz="1000" i="1" dirty="0" err="1">
                <a:solidFill>
                  <a:schemeClr val="bg1">
                    <a:lumMod val="65000"/>
                  </a:schemeClr>
                </a:solidFill>
              </a:rPr>
              <a:t>NeurIPS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1000" dirty="0">
              <a:solidFill>
                <a:schemeClr val="bg1">
                  <a:lumMod val="6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025E90B-71C1-ADCE-6C4E-79B025999249}"/>
                  </a:ext>
                </a:extLst>
              </p:cNvPr>
              <p:cNvSpPr txBox="1"/>
              <p:nvPr/>
            </p:nvSpPr>
            <p:spPr>
              <a:xfrm>
                <a:off x="347880" y="1125427"/>
                <a:ext cx="11424720" cy="49319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Tx/>
                  <a:buChar char="-"/>
                </a:pPr>
                <a:r>
                  <a:rPr lang="en-US" altLang="ko-KR" b="1" dirty="0">
                    <a:latin typeface="Arial Nova" panose="020B0504020202020204" pitchFamily="34" charset="0"/>
                  </a:rPr>
                  <a:t>Under the squared loss, for any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, if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𝝀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0" smtClean="0">
                            <a:latin typeface="Cambria Math" panose="02040503050406030204" pitchFamily="18" charset="0"/>
                          </a:rPr>
                          <m:t>𝛁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sub>
                    </m:sSub>
                    <m:acc>
                      <m:accPr>
                        <m:chr m:val="̃"/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acc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𝑹</m:t>
                        </m:r>
                      </m:e>
                    </m:acc>
                    <m:r>
                      <a:rPr lang="en-US" altLang="ko-KR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𝜽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𝒕</m:t>
                        </m:r>
                      </m:sub>
                    </m:sSub>
                    <m:r>
                      <a:rPr lang="en-US" altLang="ko-KR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)(</m:t>
                    </m:r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𝜽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𝒕</m:t>
                        </m:r>
                      </m:sub>
                    </m:sSub>
                    <m:r>
                      <a:rPr lang="en-US" altLang="ko-KR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−</m:t>
                    </m:r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𝜽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𝟎</m:t>
                        </m:r>
                      </m:sub>
                    </m:sSub>
                    <m:r>
                      <a:rPr lang="en-US" altLang="ko-KR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≥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𝟎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, then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𝒅</m:t>
                        </m:r>
                      </m:num>
                      <m:den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𝒅𝒕</m:t>
                        </m:r>
                      </m:den>
                    </m:f>
                    <m:sSup>
                      <m:sSup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sub>
                                </m:sSub>
                              </m:sub>
                            </m:sSub>
                            <m:d>
                              <m:dPr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ko-KR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altLang="ko-KR" b="1" i="1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  <m:sup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endParaRPr lang="en-US" altLang="ko-KR" b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r>
                  <a:rPr lang="en-US" altLang="ko-KR" b="1" dirty="0">
                    <a:latin typeface="Arial Nova" panose="020B0504020202020204" pitchFamily="34" charset="0"/>
                  </a:rPr>
                  <a:t>Moreover,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>
                            <a:latin typeface="Cambria Math" panose="02040503050406030204" pitchFamily="18" charset="0"/>
                          </a:rPr>
                          <m:t>𝛁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𝜽</m:t>
                        </m:r>
                      </m:sub>
                    </m:sSub>
                    <m:acc>
                      <m:accPr>
                        <m:chr m:val="̃"/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acc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𝑹</m:t>
                        </m:r>
                      </m:e>
                    </m:acc>
                    <m:d>
                      <m:dPr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𝒕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𝒕</m:t>
                            </m:r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𝟎</m:t>
                            </m:r>
                          </m:sub>
                        </m:sSub>
                      </m:e>
                    </m:d>
                    <m:r>
                      <a:rPr lang="en-US" altLang="ko-KR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&lt;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𝟎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, then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𝝀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is a sufficient condition for the above equation to hold.</a:t>
                </a:r>
              </a:p>
              <a:p>
                <a:pPr marL="285750" indent="-285750">
                  <a:buFontTx/>
                  <a:buChar char="-"/>
                </a:pPr>
                <a:endParaRPr lang="en-US" altLang="ko-KR" b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r>
                  <a:rPr lang="en-US" altLang="ko-KR" dirty="0">
                    <a:latin typeface="Arial Nova" panose="020B0504020202020204" pitchFamily="34" charset="0"/>
                  </a:rPr>
                  <a:t>What does this imply? 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altLang="ko-KR" dirty="0">
                    <a:latin typeface="Arial Nova" panose="020B0504020202020204" pitchFamily="34" charset="0"/>
                  </a:rPr>
                  <a:t>The selective regularization scheme, where</a:t>
                </a: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ko-KR" alt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𝜃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={</m:t>
                    </m:r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mPr>
                      <m:m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accPr>
                                <m:e>
                                  <m:r>
                                    <a:rPr lang="ko-KR" altLang="en-US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𝜃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 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𝜆𝜂</m:t>
                          </m:r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  <a:sym typeface="Wingdings" panose="05000000000000000000" pitchFamily="2" charset="2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ko-KR" altLang="en-US" b="0" i="1" smtClean="0">
                                          <a:latin typeface="Cambria Math" panose="02040503050406030204" pitchFamily="18" charset="0"/>
                                          <a:sym typeface="Wingdings" panose="05000000000000000000" pitchFamily="2" charset="2"/>
                                        </a:rPr>
                                        <m:t>𝜃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   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𝑖𝑓</m:t>
                          </m:r>
                          <m:r>
                            <m:rPr>
                              <m:nor/>
                            </m:rPr>
                            <a:rPr lang="en-US" altLang="ko-KR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  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acc>
                            <m:accPr>
                              <m:chr m:val="̃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acc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𝑅</m:t>
                              </m:r>
                            </m:e>
                          </m:acc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≥0</m:t>
                          </m:r>
                        </m:e>
                      </m:mr>
                      <m:m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accPr>
                                <m:e>
                                  <m:r>
                                    <a:rPr lang="ko-KR" altLang="en-US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𝜃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                                  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𝑖𝑓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b="0" i="1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acc>
                            <m:accPr>
                              <m:chr m:val="̃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acc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𝑅</m:t>
                              </m:r>
                            </m:e>
                          </m:acc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&lt;0</m:t>
                          </m:r>
                        </m:e>
                      </m:mr>
                    </m:m>
                  </m:oMath>
                </a14:m>
                <a:endParaRPr lang="en-US" altLang="ko-KR" dirty="0">
                  <a:latin typeface="Arial Nova" panose="020B0504020202020204" pitchFamily="34" charset="0"/>
                  <a:sym typeface="Wingdings" panose="05000000000000000000" pitchFamily="2" charset="2"/>
                </a:endParaRPr>
              </a:p>
              <a:p>
                <a:pPr marL="285750" indent="-285750">
                  <a:buFontTx/>
                  <a:buChar char="-"/>
                </a:pPr>
                <a:r>
                  <a:rPr lang="en-US" altLang="ko-KR" dirty="0">
                    <a:latin typeface="Arial Nova" panose="020B0504020202020204" pitchFamily="34" charset="0"/>
                    <a:sym typeface="Wingdings" panose="05000000000000000000" pitchFamily="2" charset="2"/>
                  </a:rPr>
                  <a:t>( gradient descent on the regularization term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ko-KR" alt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𝜃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accPr>
                          <m:e>
                            <m:r>
                              <a:rPr lang="ko-KR" altLang="en-US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𝜆𝜂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accPr>
                              <m:e>
                                <m:r>
                                  <a:rPr lang="ko-KR" altLang="en-US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𝜃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R" dirty="0">
                    <a:latin typeface="Arial Nova" panose="020B0504020202020204" pitchFamily="34" charset="0"/>
                    <a:sym typeface="Wingdings" panose="05000000000000000000" pitchFamily="2" charset="2"/>
                  </a:rPr>
                  <a:t>)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altLang="ko-KR" dirty="0">
                    <a:latin typeface="Arial Nova" panose="020B0504020202020204" pitchFamily="34" charset="0"/>
                  </a:rPr>
                  <a:t>A non-increasing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sub>
                            </m:sSub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ko-KR" dirty="0">
                    <a:latin typeface="Arial Nova" panose="020B0504020202020204" pitchFamily="34" charset="0"/>
                  </a:rPr>
                  <a:t> is guaranteed at step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altLang="ko-KR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r>
                  <a:rPr lang="en-US" altLang="ko-KR" dirty="0">
                    <a:latin typeface="Arial Nova" panose="020B0504020202020204" pitchFamily="34" charset="0"/>
                  </a:rPr>
                  <a:t>Meaning, the model is guaranteed to learn with decreasing error</a:t>
                </a:r>
              </a:p>
              <a:p>
                <a:pPr marL="285750" indent="-285750">
                  <a:buFontTx/>
                  <a:buChar char="-"/>
                </a:pPr>
                <a:endParaRPr lang="en-US" altLang="ko-KR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r>
                  <a:rPr lang="en-US" altLang="ko-KR" dirty="0">
                    <a:latin typeface="Arial Nova" panose="020B0504020202020204" pitchFamily="34" charset="0"/>
                  </a:rPr>
                  <a:t>Intuition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m:rPr>
                            <m:sty m:val="p"/>
                          </m:rPr>
                          <a:rPr lang="en-US" altLang="ko-KR" b="0" i="1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acc>
                      <m:accPr>
                        <m:chr m:val="̃"/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𝑅</m:t>
                        </m:r>
                      </m:e>
                    </m:acc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𝑡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en-US" altLang="ko-KR" dirty="0">
                  <a:latin typeface="Arial Nova" panose="020B0504020202020204" pitchFamily="34" charset="0"/>
                  <a:sym typeface="Wingdings" panose="05000000000000000000" pitchFamily="2" charset="2"/>
                </a:endParaRPr>
              </a:p>
              <a:p>
                <a:pPr marL="285750" indent="-285750">
                  <a:buFontTx/>
                  <a:buChar char="-"/>
                </a:pPr>
                <a:r>
                  <a:rPr lang="en-US" altLang="ko-KR" dirty="0">
                    <a:latin typeface="Arial Nova" panose="020B0504020202020204" pitchFamily="34" charset="0"/>
                  </a:rPr>
                  <a:t>How aligned the current progress is with the negative gradient update direction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altLang="ko-KR" dirty="0">
                    <a:latin typeface="Arial Nova" panose="020B0504020202020204" pitchFamily="34" charset="0"/>
                  </a:rPr>
                  <a:t>The positive inner product suggests movement toward a higher loss region,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accPr>
                          <m:e>
                            <m:r>
                              <a:rPr lang="ko-KR" altLang="en-US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𝜆𝜂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accPr>
                              <m:e>
                                <m:r>
                                  <a:rPr lang="ko-KR" altLang="en-US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𝜃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</m:oMath>
                </a14:m>
                <a:r>
                  <a:rPr lang="en-US" altLang="ko-KR" dirty="0">
                    <a:latin typeface="Arial Nova" panose="020B0504020202020204" pitchFamily="34" charset="0"/>
                  </a:rPr>
                  <a:t>is applied</a:t>
                </a:r>
              </a:p>
              <a:p>
                <a:pPr marL="285750" indent="-285750">
                  <a:buFontTx/>
                  <a:buChar char="-"/>
                </a:pPr>
                <a:endParaRPr lang="en-US" altLang="ko-KR" b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endParaRPr lang="en-US" altLang="ko-KR" b="1" i="1" dirty="0"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025E90B-71C1-ADCE-6C4E-79B0259992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880" y="1125427"/>
                <a:ext cx="11424720" cy="4931991"/>
              </a:xfrm>
              <a:prstGeom prst="rect">
                <a:avLst/>
              </a:prstGeom>
              <a:blipFill>
                <a:blip r:embed="rId3"/>
                <a:stretch>
                  <a:fillRect l="-42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 descr="Check ">
            <a:extLst>
              <a:ext uri="{FF2B5EF4-FFF2-40B4-BE49-F238E27FC236}">
                <a16:creationId xmlns:a16="http://schemas.microsoft.com/office/drawing/2014/main" id="{F2814019-441A-3083-0FA4-C02018025A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900" y="4412620"/>
            <a:ext cx="480036" cy="480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399661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8A571-8E27-C4B2-7EB7-DF8FC86C8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D2B51CBD-A912-DE7C-CFA7-7E742021FCE8}"/>
              </a:ext>
            </a:extLst>
          </p:cNvPr>
          <p:cNvSpPr/>
          <p:nvPr/>
        </p:nvSpPr>
        <p:spPr bwMode="auto">
          <a:xfrm>
            <a:off x="347880" y="2735152"/>
            <a:ext cx="11424720" cy="1309798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B00C4D3-CC61-A47A-EBDA-5FA4222CC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00" y="144463"/>
            <a:ext cx="11424720" cy="752792"/>
          </a:xfrm>
        </p:spPr>
        <p:txBody>
          <a:bodyPr/>
          <a:lstStyle/>
          <a:p>
            <a:r>
              <a:rPr lang="en-US" altLang="ko-KR" dirty="0"/>
              <a:t>Lemma 1. Norm Bounds and </a:t>
            </a:r>
            <a:r>
              <a:rPr lang="en-US" altLang="ko-KR" dirty="0" err="1"/>
              <a:t>Lipschitzness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532DEF-4BB5-925D-42EE-F3CB0241E2FE}"/>
              </a:ext>
            </a:extLst>
          </p:cNvPr>
          <p:cNvSpPr txBox="1"/>
          <p:nvPr/>
        </p:nvSpPr>
        <p:spPr>
          <a:xfrm>
            <a:off x="0" y="6590426"/>
            <a:ext cx="114247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Afzal, Zahra Rahimi, et al. "Linearization Explains Fine-Tuning in Large Language Models." </a:t>
            </a:r>
            <a:r>
              <a:rPr lang="en-US" altLang="ko-KR" sz="1000" i="1" dirty="0">
                <a:solidFill>
                  <a:schemeClr val="bg1">
                    <a:lumMod val="65000"/>
                  </a:schemeClr>
                </a:solidFill>
              </a:rPr>
              <a:t>The 39th Annual Conference on </a:t>
            </a:r>
            <a:r>
              <a:rPr lang="en-US" altLang="ko-KR" sz="1000" i="1" dirty="0" err="1">
                <a:solidFill>
                  <a:schemeClr val="bg1">
                    <a:lumMod val="65000"/>
                  </a:schemeClr>
                </a:solidFill>
              </a:rPr>
              <a:t>NeurIPS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1000" dirty="0">
              <a:solidFill>
                <a:schemeClr val="bg1">
                  <a:lumMod val="6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9284D0C-6445-6D51-5C4C-4B4C7E32BF77}"/>
                  </a:ext>
                </a:extLst>
              </p:cNvPr>
              <p:cNvSpPr txBox="1"/>
              <p:nvPr/>
            </p:nvSpPr>
            <p:spPr>
              <a:xfrm>
                <a:off x="347880" y="2865327"/>
                <a:ext cx="11424720" cy="9405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Tx/>
                  <a:buChar char="-"/>
                </a:pPr>
                <a:r>
                  <a:rPr lang="en-US" altLang="ko-KR" b="1" dirty="0">
                    <a:latin typeface="Arial Nova" panose="020B0504020202020204" pitchFamily="34" charset="0"/>
                  </a:rPr>
                  <a:t>If for all </a:t>
                </a: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𝜽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in a given range,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𝜽</m:t>
                        </m:r>
                      </m:sub>
                    </m:sSub>
                    <m:d>
                      <m:d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is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𝑳𝒊𝒑</m:t>
                    </m:r>
                    <m:d>
                      <m:d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</m:d>
                    <m:r>
                      <a:rPr lang="en-US" altLang="ko-KR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𝑳𝒊𝒑𝒔𝒄𝒉𝒊𝒕𝒛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in </a:t>
                </a: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𝜽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0" smtClean="0">
                            <a:latin typeface="Cambria Math" panose="02040503050406030204" pitchFamily="18" charset="0"/>
                          </a:rPr>
                          <m:t>𝛁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𝜽</m:t>
                        </m:r>
                      </m:sub>
                    </m:sSub>
                    <m:d>
                      <m:d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is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𝑳𝒊𝒑</m:t>
                    </m:r>
                    <m:d>
                      <m:d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0" smtClean="0">
                            <a:latin typeface="Cambria Math" panose="02040503050406030204" pitchFamily="18" charset="0"/>
                          </a:rPr>
                          <m:t>𝛁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</m:d>
                    <m:r>
                      <a:rPr lang="en-US" altLang="ko-KR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𝑳𝒊𝒑𝒔𝒄𝒉𝒊𝒕𝒛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in </a:t>
                </a: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𝜽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, </a:t>
                </a:r>
                <a:r>
                  <a:rPr lang="en-US" altLang="ko-KR" b="1" dirty="0">
                    <a:solidFill>
                      <a:schemeClr val="tx1"/>
                    </a:solidFill>
                    <a:latin typeface="Arial Nova" panose="020B0504020202020204" pitchFamily="34" charset="0"/>
                  </a:rPr>
                  <a:t>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sub>
                    </m:sSub>
                    <m:d>
                      <m:d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>
                            <a:latin typeface="Cambria Math" panose="02040503050406030204" pitchFamily="18" charset="0"/>
                          </a:rPr>
                          <m:t>𝛁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𝜽</m:t>
                        </m:r>
                      </m:sub>
                    </m:sSub>
                    <m:d>
                      <m:d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>
                            <a:latin typeface="Cambria Math" panose="02040503050406030204" pitchFamily="18" charset="0"/>
                          </a:rPr>
                          <m:t>𝛁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𝜽</m:t>
                        </m:r>
                      </m:sub>
                    </m:sSub>
                    <m:sSup>
                      <m:sSup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⏉</m:t>
                        </m:r>
                      </m:sup>
                    </m:sSup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ko-K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en-US" altLang="ko-KR" b="1" i="1" dirty="0">
                    <a:latin typeface="Arial Nova" panose="020B0504020202020204" pitchFamily="34" charset="0"/>
                  </a:rPr>
                  <a:t> </a:t>
                </a:r>
                <a:r>
                  <a:rPr lang="en-US" altLang="ko-KR" b="1" dirty="0">
                    <a:latin typeface="Arial Nova" panose="020B0504020202020204" pitchFamily="34" charset="0"/>
                  </a:rPr>
                  <a:t>is</a:t>
                </a:r>
                <a:r>
                  <a:rPr lang="en-US" altLang="ko-KR" b="1" i="1" dirty="0">
                    <a:latin typeface="Arial Nova" panose="020B05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𝑳𝒊𝒑</m:t>
                    </m:r>
                    <m:d>
                      <m:d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</m:d>
                    <m:r>
                      <a:rPr lang="en-US" altLang="ko-KR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𝑳𝒊𝒑𝒔𝒄𝒉𝒊𝒕𝒛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in </a:t>
                </a: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𝜽</m:t>
                    </m:r>
                  </m:oMath>
                </a14:m>
                <a:r>
                  <a:rPr lang="en-US" altLang="ko-KR" b="1" i="1" dirty="0">
                    <a:latin typeface="Arial Nova" panose="020B0504020202020204" pitchFamily="34" charset="0"/>
                  </a:rPr>
                  <a:t>, </a:t>
                </a:r>
                <a:r>
                  <a:rPr lang="en-US" altLang="ko-KR" b="1" dirty="0">
                    <a:latin typeface="Arial Nova" panose="020B0504020202020204" pitchFamily="34" charset="0"/>
                  </a:rPr>
                  <a:t>with 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𝑳𝒊𝒑</m:t>
                    </m:r>
                    <m:d>
                      <m:d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</m:d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𝑳𝒊𝒑</m:t>
                    </m:r>
                    <m:d>
                      <m:d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</m:d>
                  </m:oMath>
                </a14:m>
                <a:r>
                  <a:rPr lang="en-US" altLang="ko-KR" b="1" dirty="0"/>
                  <a:t>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𝑳𝒊𝒑</m:t>
                    </m:r>
                    <m:d>
                      <m:d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>
                            <a:latin typeface="Cambria Math" panose="02040503050406030204" pitchFamily="18" charset="0"/>
                          </a:rPr>
                          <m:t>𝛁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</m:d>
                  </m:oMath>
                </a14:m>
                <a:endParaRPr lang="en-US" altLang="ko-KR" b="1" dirty="0"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9284D0C-6445-6D51-5C4C-4B4C7E32BF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880" y="2865327"/>
                <a:ext cx="11424720" cy="940579"/>
              </a:xfrm>
              <a:prstGeom prst="rect">
                <a:avLst/>
              </a:prstGeom>
              <a:blipFill>
                <a:blip r:embed="rId3"/>
                <a:stretch>
                  <a:fillRect l="-427" t="-2597" b="-584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4541543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04DD8-B075-9396-EA10-42E202F93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AAF6C474-89D2-E74F-5901-2F3BFD57585F}"/>
              </a:ext>
            </a:extLst>
          </p:cNvPr>
          <p:cNvSpPr/>
          <p:nvPr/>
        </p:nvSpPr>
        <p:spPr bwMode="auto">
          <a:xfrm>
            <a:off x="347880" y="1096852"/>
            <a:ext cx="11424720" cy="137922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845EA6F-DDCC-10E2-8A6F-1799237C3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00" y="144463"/>
            <a:ext cx="11424720" cy="752792"/>
          </a:xfrm>
        </p:spPr>
        <p:txBody>
          <a:bodyPr/>
          <a:lstStyle/>
          <a:p>
            <a:r>
              <a:rPr lang="en-US" altLang="ko-KR" dirty="0"/>
              <a:t>Theorem 2. UB on Distance between Parameters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6B5014-4067-2A99-812A-35BC735E7159}"/>
              </a:ext>
            </a:extLst>
          </p:cNvPr>
          <p:cNvSpPr txBox="1"/>
          <p:nvPr/>
        </p:nvSpPr>
        <p:spPr>
          <a:xfrm>
            <a:off x="0" y="6590426"/>
            <a:ext cx="114247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Afzal, Zahra Rahimi, et al. "Linearization Explains Fine-Tuning in Large Language Models." </a:t>
            </a:r>
            <a:r>
              <a:rPr lang="en-US" altLang="ko-KR" sz="1000" i="1" dirty="0">
                <a:solidFill>
                  <a:schemeClr val="bg1">
                    <a:lumMod val="65000"/>
                  </a:schemeClr>
                </a:solidFill>
              </a:rPr>
              <a:t>The 39th Annual Conference on </a:t>
            </a:r>
            <a:r>
              <a:rPr lang="en-US" altLang="ko-KR" sz="1000" i="1" dirty="0" err="1">
                <a:solidFill>
                  <a:schemeClr val="bg1">
                    <a:lumMod val="65000"/>
                  </a:schemeClr>
                </a:solidFill>
              </a:rPr>
              <a:t>NeurIPS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1000" dirty="0">
              <a:solidFill>
                <a:schemeClr val="bg1">
                  <a:lumMod val="6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6AAC98F-667B-3783-175C-B84DB56988ED}"/>
                  </a:ext>
                </a:extLst>
              </p:cNvPr>
              <p:cNvSpPr txBox="1"/>
              <p:nvPr/>
            </p:nvSpPr>
            <p:spPr>
              <a:xfrm>
                <a:off x="347880" y="1125427"/>
                <a:ext cx="11424720" cy="5268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Tx/>
                  <a:buChar char="-"/>
                </a:pPr>
                <a:r>
                  <a:rPr lang="en-US" altLang="ko-KR" b="1" dirty="0">
                    <a:latin typeface="Arial Nova" panose="020B0504020202020204" pitchFamily="34" charset="0"/>
                  </a:rPr>
                  <a:t>Consider the selectively regularized fine-tuning solution, under the squared loss. Denote the instantaneous value of the regularization parameter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𝝀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, which can be either 0 or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.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sub>
                    </m:sSub>
                    <m:d>
                      <m:d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is 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𝑳𝒊𝒑</m:t>
                    </m:r>
                    <m:d>
                      <m:d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</m:d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𝑳𝒊𝒑𝒔𝒄𝒉𝒊𝒕𝒛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in 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𝒍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𝒃𝒂𝒍𝒍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of radius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𝝉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around pretrained parameters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,</a:t>
                </a: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ko-KR" altLang="en-US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𝜽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ko-KR" altLang="en-US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𝟎</m:t>
                            </m:r>
                          </m:sub>
                        </m:sSub>
                      </m:e>
                    </m:d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≤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𝟐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𝑳𝒊𝒑</m:t>
                    </m:r>
                    <m:d>
                      <m:dPr>
                        <m:ctrlPr>
                          <a:rPr lang="en-US" altLang="ko-K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𝒇</m:t>
                        </m:r>
                      </m:e>
                    </m:d>
                    <m:d>
                      <m:dPr>
                        <m:begChr m:val="‖"/>
                        <m:endChr m:val="‖"/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𝜽</m:t>
                                </m:r>
                              </m:e>
                              <m:sub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p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nary>
                      <m:nary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  <m:sup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sup>
                      <m:e>
                        <m:sSup>
                          <m:sSupPr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p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altLang="ko-KR" b="1" i="1" smtClean="0">
                                        <a:latin typeface="Cambria Math" panose="02040503050406030204" pitchFamily="18" charset="0"/>
                                      </a:rPr>
                                      <m:t>Λ</m:t>
                                    </m:r>
                                  </m:e>
                                  <m:sub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sub>
                                </m:sSub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altLang="ko-KR" b="1" i="1">
                                        <a:latin typeface="Cambria Math" panose="02040503050406030204" pitchFamily="18" charset="0"/>
                                      </a:rPr>
                                      <m:t>Λ</m:t>
                                    </m:r>
                                  </m:e>
                                  <m:sub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sub>
                                </m:sSub>
                              </m:e>
                            </m:d>
                          </m:sup>
                        </m:sSup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𝒅𝒔</m:t>
                        </m:r>
                      </m:e>
                    </m:nary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ko-KR" b="1" i="1"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  <m:sup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𝒕</m:t>
                        </m:r>
                      </m:sup>
                      <m:e>
                        <m:sSub>
                          <m:sSubPr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𝝀</m:t>
                            </m:r>
                          </m:e>
                          <m:sub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𝒔</m:t>
                            </m:r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𝒅𝒔</m:t>
                        </m:r>
                      </m:e>
                    </m:nary>
                  </m:oMath>
                </a14:m>
                <a:endParaRPr lang="en-US" altLang="ko-KR" b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endParaRPr lang="en-US" altLang="ko-KR" b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1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acc>
                      <m:accPr>
                        <m:chr m:val="̃"/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acc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𝑅</m:t>
                        </m:r>
                      </m:e>
                    </m:acc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b="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ko-KR" b="0" i="1"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en-US" altLang="ko-KR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ko-KR" b="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⏉</m:t>
                        </m:r>
                      </m:sup>
                    </m:sSup>
                    <m:r>
                      <m:rPr>
                        <m:sty m:val="p"/>
                      </m:rPr>
                      <a:rPr lang="en-US" altLang="ko-KR" b="0" i="1">
                        <a:latin typeface="Cambria Math" panose="02040503050406030204" pitchFamily="18" charset="0"/>
                      </a:rPr>
                      <m:t>∇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1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endParaRPr lang="en-US" altLang="ko-KR" i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r>
                  <a:rPr lang="en-US" altLang="ko-KR" dirty="0">
                    <a:latin typeface="Arial Nova" panose="020B0504020202020204" pitchFamily="34" charset="0"/>
                  </a:rPr>
                  <a:t>Lemma 3 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acc>
                      <m:accPr>
                        <m:chr m:val="̃"/>
                        <m:ctrlPr>
                          <a:rPr lang="en-US" altLang="ko-K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accPr>
                      <m:e>
                        <m:r>
                          <a:rPr lang="en-US" altLang="ko-KR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𝑅</m:t>
                        </m:r>
                      </m:e>
                    </m:acc>
                    <m:sSup>
                      <m:sSupPr>
                        <m:ctrlPr>
                          <a:rPr lang="en-US" altLang="ko-K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⏉</m:t>
                        </m:r>
                      </m:sup>
                    </m:sSup>
                    <m:r>
                      <a:rPr lang="en-US" altLang="ko-KR" b="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−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𝜆</m:t>
                        </m:r>
                      </m:e>
                      <m:sub>
                        <m:r>
                          <a:rPr lang="en-US" altLang="ko-KR" b="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b="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b="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b="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=−2</m:t>
                    </m:r>
                    <m:r>
                      <m:rPr>
                        <m:sty m:val="p"/>
                      </m:rPr>
                      <a:rPr lang="en-US" altLang="ko-KR" b="0" i="1">
                        <a:latin typeface="Cambria Math" panose="02040503050406030204" pitchFamily="18" charset="0"/>
                      </a:rPr>
                      <m:t>∇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1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ko-KR" b="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⏉</m:t>
                        </m:r>
                      </m:sup>
                    </m:sSup>
                    <m:d>
                      <m:d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b="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−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𝜆</m:t>
                        </m:r>
                      </m:e>
                      <m:sub>
                        <m:r>
                          <a:rPr lang="en-US" altLang="ko-KR" b="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b="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b="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b="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en-US" altLang="ko-KR" i="1" dirty="0">
                  <a:latin typeface="Cambria Math" panose="02040503050406030204" pitchFamily="18" charset="0"/>
                  <a:sym typeface="Wingdings" panose="05000000000000000000" pitchFamily="2" charset="2"/>
                </a:endParaRPr>
              </a:p>
              <a:p>
                <a:pPr marL="285750" indent="-285750">
                  <a:buFontTx/>
                  <a:buChar char="-"/>
                </a:pPr>
                <a:endParaRPr lang="en-US" altLang="ko-KR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sSub>
                      <m:sSubPr>
                        <m:ctrlPr>
                          <a:rPr lang="en-US" altLang="ko-KR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ko-KR" b="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−2</m:t>
                    </m:r>
                    <m:r>
                      <m:rPr>
                        <m:sty m:val="p"/>
                      </m:rPr>
                      <a:rPr lang="en-US" altLang="ko-KR" b="0" i="1">
                        <a:latin typeface="Cambria Math" panose="02040503050406030204" pitchFamily="18" charset="0"/>
                      </a:rPr>
                      <m:t>∇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1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ko-KR" b="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⏉</m:t>
                        </m:r>
                      </m:sup>
                    </m:sSup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b="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−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𝜆</m:t>
                        </m:r>
                      </m:e>
                      <m:sub>
                        <m:r>
                          <a:rPr lang="en-US" altLang="ko-KR" b="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ko-KR" b="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b="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b="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ko-KR" b="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b="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en-US" altLang="ko-KR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sSub>
                      <m:sSubPr>
                        <m:ctrlPr>
                          <a:rPr lang="en-US" altLang="ko-KR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ko-KR" b="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b="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=−2</m:t>
                    </m:r>
                    <m:r>
                      <m:rPr>
                        <m:sty m:val="p"/>
                      </m:rPr>
                      <a:rPr lang="en-US" altLang="ko-KR" b="0" i="1">
                        <a:latin typeface="Cambria Math" panose="02040503050406030204" pitchFamily="18" charset="0"/>
                      </a:rPr>
                      <m:t>∇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1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ko-KR" b="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⏉</m:t>
                        </m:r>
                      </m:sup>
                    </m:sSup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b="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−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𝜆</m:t>
                        </m:r>
                      </m:e>
                      <m:sub>
                        <m:r>
                          <a:rPr lang="en-US" altLang="ko-KR" b="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sub>
                    </m:sSub>
                    <m:sSub>
                      <m:sSubPr>
                        <m:ctrlPr>
                          <a:rPr lang="en-US" altLang="ko-KR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𝑢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ko-KR" dirty="0">
                    <a:latin typeface="Arial Nova" panose="020B0504020202020204" pitchFamily="34" charset="0"/>
                  </a:rPr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𝑢</m:t>
                        </m:r>
                      </m:e>
                      <m:sub>
                        <m:r>
                          <a:rPr lang="en-US" altLang="ko-KR" b="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b="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b="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b="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en-US" altLang="ko-KR" i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endParaRPr lang="en-US" altLang="ko-KR" i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r>
                  <a:rPr lang="en-US" altLang="ko-KR" dirty="0">
                    <a:latin typeface="Arial Nova" panose="020B0504020202020204" pitchFamily="34" charset="0"/>
                  </a:rPr>
                  <a:t>Given </a:t>
                </a:r>
                <a14:m>
                  <m:oMath xmlns:m="http://schemas.openxmlformats.org/officeDocument/2006/math">
                    <m:r>
                      <a:rPr lang="en-US" altLang="ko-KR" b="0" i="1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ko-KR" b="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altLang="ko-KR" b="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altLang="ko-KR" b="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sSub>
                      <m:sSubPr>
                        <m:ctrlPr>
                          <a:rPr lang="en-US" altLang="ko-KR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ko-KR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accPr>
                          <m:e>
                            <m:r>
                              <a:rPr lang="en-US" altLang="ko-KR" b="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𝑢</m:t>
                            </m:r>
                          </m:e>
                        </m:acc>
                      </m:e>
                      <m:sub>
                        <m:r>
                          <a:rPr lang="en-US" altLang="ko-KR" b="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b="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ko-KR" b="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b="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altLang="ko-KR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ko-KR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altLang="ko-KR" b="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altLang="ko-KR" b="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i="1" dirty="0">
                    <a:latin typeface="Arial Nova" panose="020B0504020202020204" pitchFamily="34" charset="0"/>
                  </a:rPr>
                  <a:t> </a:t>
                </a:r>
                <a:r>
                  <a:rPr lang="en-US" altLang="ko-KR" dirty="0">
                    <a:solidFill>
                      <a:srgbClr val="C00000"/>
                    </a:solidFill>
                    <a:latin typeface="Arial Nova" panose="020B0504020202020204" pitchFamily="34" charset="0"/>
                    <a:sym typeface="Wingdings" panose="05000000000000000000" pitchFamily="2" charset="2"/>
                  </a:rPr>
                  <a:t> Show the bounds of </a:t>
                </a:r>
                <a14:m>
                  <m:oMath xmlns:m="http://schemas.openxmlformats.org/officeDocument/2006/math">
                    <m:r>
                      <a:rPr lang="en-US" altLang="ko-KR" b="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altLang="ko-KR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altLang="ko-KR" i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ko-KR" b="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ko-KR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SupPr>
                          <m:e>
                            <m:r>
                              <a:rPr lang="en-US" altLang="ko-KR" b="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ko-KR" b="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𝑡</m:t>
                            </m:r>
                          </m:sub>
                          <m:sup>
                            <m:r>
                              <a:rPr lang="en-US" altLang="ko-KR" b="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⏉</m:t>
                            </m:r>
                          </m:sup>
                        </m:sSubSup>
                      </m:num>
                      <m:den>
                        <m:sSub>
                          <m:sSubPr>
                            <m:ctrlPr>
                              <a:rPr lang="en-US" altLang="ko-KR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altLang="ko-KR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altLang="ko-KR" b="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d>
                          </m:e>
                          <m:sub>
                            <m:r>
                              <a:rPr lang="en-US" altLang="ko-KR" b="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2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altLang="ko-KR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b="0" i="1">
                        <a:latin typeface="Cambria Math" panose="02040503050406030204" pitchFamily="18" charset="0"/>
                      </a:rPr>
                      <m:t>=−2</m:t>
                    </m:r>
                    <m:sSubSup>
                      <m:sSubSupPr>
                        <m:ctrlPr>
                          <a:rPr lang="en-US" altLang="ko-KR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altLang="ko-KR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accPr>
                          <m:e>
                            <m:r>
                              <a:rPr lang="en-US" altLang="ko-KR" b="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𝑢</m:t>
                            </m:r>
                          </m:e>
                        </m:acc>
                      </m:e>
                      <m:sub>
                        <m:r>
                          <a:rPr lang="en-US" altLang="ko-KR" b="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ko-KR" b="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⏉</m:t>
                        </m:r>
                      </m:sup>
                    </m:sSubSup>
                    <m:r>
                      <m:rPr>
                        <m:sty m:val="p"/>
                      </m:rPr>
                      <a:rPr lang="en-US" altLang="ko-KR" b="0" i="1">
                        <a:latin typeface="Cambria Math" panose="02040503050406030204" pitchFamily="18" charset="0"/>
                      </a:rPr>
                      <m:t>∇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1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ko-KR" b="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⏉</m:t>
                        </m:r>
                      </m:sup>
                    </m:sSup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b="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𝜆</m:t>
                        </m:r>
                      </m:e>
                      <m:sub>
                        <m:r>
                          <a:rPr lang="en-US" altLang="ko-KR" b="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sub>
                    </m:sSub>
                    <m:r>
                      <a:rPr lang="en-US" altLang="ko-KR" b="0" i="1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    (∵</m:t>
                    </m:r>
                  </m:oMath>
                </a14:m>
                <a:r>
                  <a:rPr lang="en-US" altLang="ko-KR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altLang="ko-KR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b="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altLang="ko-KR" b="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𝑡</m:t>
                                </m:r>
                              </m:sub>
                              <m:sup>
                                <m:r>
                                  <a:rPr lang="en-US" altLang="ko-KR" b="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⏉</m:t>
                                </m:r>
                              </m:sup>
                            </m:sSubSup>
                          </m:num>
                          <m:den>
                            <m:sSub>
                              <m:sSubPr>
                                <m:ctrlPr>
                                  <a:rPr lang="en-US" altLang="ko-KR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begChr m:val="‖"/>
                                    <m:endChr m:val="‖"/>
                                    <m:ctrlPr>
                                      <a:rPr lang="en-US" altLang="ko-KR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i="1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  <a:sym typeface="Wingdings" panose="05000000000000000000" pitchFamily="2" charset="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0" i="1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  <a:sym typeface="Wingdings" panose="05000000000000000000" pitchFamily="2" charset="2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US" altLang="ko-KR" b="0" i="1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  <a:sym typeface="Wingdings" panose="05000000000000000000" pitchFamily="2" charset="2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b>
                                <m:r>
                                  <a:rPr lang="en-US" altLang="ko-KR" b="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e>
                    </m:d>
                    <m:sSub>
                      <m:sSubPr>
                        <m:ctrlPr>
                          <a:rPr lang="en-US" altLang="ko-KR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b="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𝑢</m:t>
                        </m:r>
                      </m:e>
                      <m:sub>
                        <m:r>
                          <a:rPr lang="en-US" altLang="ko-KR" b="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sub>
                    </m:sSub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d>
                      <m:dPr>
                        <m:ctrlPr>
                          <a:rPr lang="en-US" altLang="ko-K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altLang="ko-K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SupPr>
                              <m:e>
                                <m:d>
                                  <m:dPr>
                                    <m:begChr m:val="‖"/>
                                    <m:endChr m:val="‖"/>
                                    <m:ctrlPr>
                                      <a:rPr lang="en-US" altLang="ko-KR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sym typeface="Wingdings" panose="05000000000000000000" pitchFamily="2" charset="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sym typeface="Wingdings" panose="05000000000000000000" pitchFamily="2" charset="2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US" altLang="ko-KR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sym typeface="Wingdings" panose="05000000000000000000" pitchFamily="2" charset="2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b>
                                <m:r>
                                  <a:rPr lang="en-US" altLang="ko-KR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sSub>
                              <m:sSubPr>
                                <m:ctrlPr>
                                  <a:rPr lang="en-US" altLang="ko-KR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begChr m:val="‖"/>
                                    <m:endChr m:val="‖"/>
                                    <m:ctrlPr>
                                      <a:rPr lang="en-US" altLang="ko-KR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sym typeface="Wingdings" panose="05000000000000000000" pitchFamily="2" charset="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sym typeface="Wingdings" panose="05000000000000000000" pitchFamily="2" charset="2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US" altLang="ko-KR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sym typeface="Wingdings" panose="05000000000000000000" pitchFamily="2" charset="2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b>
                                <m:r>
                                  <a:rPr lang="en-US" altLang="ko-KR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altLang="ko-KR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altLang="ko-KR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ko-KR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altLang="ko-K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i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endParaRPr lang="en-US" altLang="ko-KR" b="1" i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endParaRPr lang="en-US" altLang="ko-KR" b="1" i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endParaRPr lang="en-US" altLang="ko-KR" b="1" i="1" dirty="0"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6AAC98F-667B-3783-175C-B84DB56988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880" y="1125427"/>
                <a:ext cx="11424720" cy="5268109"/>
              </a:xfrm>
              <a:prstGeom prst="rect">
                <a:avLst/>
              </a:prstGeom>
              <a:blipFill>
                <a:blip r:embed="rId3"/>
                <a:stretch>
                  <a:fillRect l="-427" t="-57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직사각형 3">
            <a:extLst>
              <a:ext uri="{FF2B5EF4-FFF2-40B4-BE49-F238E27FC236}">
                <a16:creationId xmlns:a16="http://schemas.microsoft.com/office/drawing/2014/main" id="{66989566-3287-5629-9DAB-1F66D2ECDD76}"/>
              </a:ext>
            </a:extLst>
          </p:cNvPr>
          <p:cNvSpPr/>
          <p:nvPr/>
        </p:nvSpPr>
        <p:spPr bwMode="auto">
          <a:xfrm>
            <a:off x="663461" y="2585132"/>
            <a:ext cx="904989" cy="412491"/>
          </a:xfrm>
          <a:prstGeom prst="rect">
            <a:avLst/>
          </a:prstGeom>
          <a:solidFill>
            <a:schemeClr val="accent5">
              <a:lumMod val="40000"/>
              <a:lumOff val="60000"/>
              <a:alpha val="4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2B94C56-5737-0FD7-5F73-4394575DC89D}"/>
              </a:ext>
            </a:extLst>
          </p:cNvPr>
          <p:cNvSpPr/>
          <p:nvPr/>
        </p:nvSpPr>
        <p:spPr bwMode="auto">
          <a:xfrm>
            <a:off x="2755900" y="2975173"/>
            <a:ext cx="1016000" cy="412491"/>
          </a:xfrm>
          <a:prstGeom prst="rect">
            <a:avLst/>
          </a:prstGeom>
          <a:solidFill>
            <a:schemeClr val="accent5">
              <a:lumMod val="40000"/>
              <a:lumOff val="60000"/>
              <a:alpha val="4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ECAA406-A952-E59D-256B-E8B5F894DCA9}"/>
              </a:ext>
            </a:extLst>
          </p:cNvPr>
          <p:cNvSpPr/>
          <p:nvPr/>
        </p:nvSpPr>
        <p:spPr bwMode="auto">
          <a:xfrm>
            <a:off x="5645150" y="2975172"/>
            <a:ext cx="2235200" cy="412491"/>
          </a:xfrm>
          <a:prstGeom prst="rect">
            <a:avLst/>
          </a:prstGeom>
          <a:solidFill>
            <a:schemeClr val="accent5">
              <a:lumMod val="40000"/>
              <a:lumOff val="60000"/>
              <a:alpha val="4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2D36509-92FC-6A0C-2A96-E6ABAB56A372}"/>
              </a:ext>
            </a:extLst>
          </p:cNvPr>
          <p:cNvSpPr/>
          <p:nvPr/>
        </p:nvSpPr>
        <p:spPr bwMode="auto">
          <a:xfrm>
            <a:off x="663461" y="4076843"/>
            <a:ext cx="536689" cy="412491"/>
          </a:xfrm>
          <a:prstGeom prst="rect">
            <a:avLst/>
          </a:prstGeom>
          <a:solidFill>
            <a:schemeClr val="accent3">
              <a:alpha val="4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 Narrow" pitchFamily="34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4004193-FDF5-A91C-1866-8DE6A4CEC732}"/>
              </a:ext>
            </a:extLst>
          </p:cNvPr>
          <p:cNvSpPr/>
          <p:nvPr/>
        </p:nvSpPr>
        <p:spPr bwMode="auto">
          <a:xfrm>
            <a:off x="1927111" y="5080143"/>
            <a:ext cx="536689" cy="412491"/>
          </a:xfrm>
          <a:prstGeom prst="rect">
            <a:avLst/>
          </a:prstGeom>
          <a:solidFill>
            <a:schemeClr val="accent3">
              <a:alpha val="4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 Narrow" pitchFamily="34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FEDFFAB-4ACC-B29F-6220-8996FCC55587}"/>
              </a:ext>
            </a:extLst>
          </p:cNvPr>
          <p:cNvSpPr/>
          <p:nvPr/>
        </p:nvSpPr>
        <p:spPr bwMode="auto">
          <a:xfrm>
            <a:off x="2727211" y="5080143"/>
            <a:ext cx="295389" cy="412491"/>
          </a:xfrm>
          <a:prstGeom prst="rect">
            <a:avLst/>
          </a:prstGeom>
          <a:solidFill>
            <a:schemeClr val="accent3">
              <a:alpha val="4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 Narrow" pitchFamily="34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6E2979F-04E4-9D60-AA5D-EC8486559D1E}"/>
              </a:ext>
            </a:extLst>
          </p:cNvPr>
          <p:cNvSpPr/>
          <p:nvPr/>
        </p:nvSpPr>
        <p:spPr bwMode="auto">
          <a:xfrm>
            <a:off x="3330461" y="5080143"/>
            <a:ext cx="3083039" cy="412491"/>
          </a:xfrm>
          <a:prstGeom prst="rect">
            <a:avLst/>
          </a:prstGeom>
          <a:solidFill>
            <a:schemeClr val="accent3">
              <a:alpha val="4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 Narrow" pitchFamily="34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3D8A29F-F645-A7A1-5D20-B46FFBB71215}"/>
              </a:ext>
            </a:extLst>
          </p:cNvPr>
          <p:cNvSpPr/>
          <p:nvPr/>
        </p:nvSpPr>
        <p:spPr bwMode="auto">
          <a:xfrm>
            <a:off x="1469911" y="4076727"/>
            <a:ext cx="3140189" cy="412491"/>
          </a:xfrm>
          <a:prstGeom prst="rect">
            <a:avLst/>
          </a:prstGeom>
          <a:solidFill>
            <a:schemeClr val="accent3">
              <a:alpha val="4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0555238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879C3-CEC2-8B2C-C33D-BD828F18B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76FE0017-530D-8F4D-C5FA-A708A2DB03A7}"/>
              </a:ext>
            </a:extLst>
          </p:cNvPr>
          <p:cNvSpPr/>
          <p:nvPr/>
        </p:nvSpPr>
        <p:spPr bwMode="auto">
          <a:xfrm>
            <a:off x="347880" y="1096852"/>
            <a:ext cx="11424720" cy="137922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66017CE-AB0B-AB52-375A-0E8F15C97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00" y="144463"/>
            <a:ext cx="11424720" cy="752792"/>
          </a:xfrm>
        </p:spPr>
        <p:txBody>
          <a:bodyPr/>
          <a:lstStyle/>
          <a:p>
            <a:r>
              <a:rPr lang="en-US" altLang="ko-KR" dirty="0"/>
              <a:t>Theorem 2. UB on Distance between Parameters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39FE73-6C9B-916F-1905-37921520D735}"/>
              </a:ext>
            </a:extLst>
          </p:cNvPr>
          <p:cNvSpPr txBox="1"/>
          <p:nvPr/>
        </p:nvSpPr>
        <p:spPr>
          <a:xfrm>
            <a:off x="0" y="6590426"/>
            <a:ext cx="114247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Afzal, Zahra Rahimi, et al. "Linearization Explains Fine-Tuning in Large Language Models." </a:t>
            </a:r>
            <a:r>
              <a:rPr lang="en-US" altLang="ko-KR" sz="1000" i="1" dirty="0">
                <a:solidFill>
                  <a:schemeClr val="bg1">
                    <a:lumMod val="65000"/>
                  </a:schemeClr>
                </a:solidFill>
              </a:rPr>
              <a:t>The 39th Annual Conference on </a:t>
            </a:r>
            <a:r>
              <a:rPr lang="en-US" altLang="ko-KR" sz="1000" i="1" dirty="0" err="1">
                <a:solidFill>
                  <a:schemeClr val="bg1">
                    <a:lumMod val="65000"/>
                  </a:schemeClr>
                </a:solidFill>
              </a:rPr>
              <a:t>NeurIPS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1000" dirty="0">
              <a:solidFill>
                <a:schemeClr val="bg1">
                  <a:lumMod val="6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3B14F83-8741-FF85-6725-6D6A7093338C}"/>
                  </a:ext>
                </a:extLst>
              </p:cNvPr>
              <p:cNvSpPr txBox="1"/>
              <p:nvPr/>
            </p:nvSpPr>
            <p:spPr>
              <a:xfrm>
                <a:off x="347880" y="1125427"/>
                <a:ext cx="11424720" cy="39755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Tx/>
                  <a:buChar char="-"/>
                </a:pPr>
                <a:r>
                  <a:rPr lang="en-US" altLang="ko-KR" b="1" dirty="0">
                    <a:latin typeface="Arial Nova" panose="020B0504020202020204" pitchFamily="34" charset="0"/>
                  </a:rPr>
                  <a:t>Consider the selectively regularized fine-tuning solution, under the squared loss. Denote the instantaneous value of the regularization parameter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𝝀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, which can be either 0 or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.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sub>
                    </m:sSub>
                    <m:d>
                      <m:d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is 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𝑳𝒊𝒑</m:t>
                    </m:r>
                    <m:d>
                      <m:d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</m:d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𝑳𝒊𝒑𝒔𝒄𝒉𝒊𝒕𝒛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in 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𝒍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𝒃𝒂𝒍𝒍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of radius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𝝉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around pretrained parameters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,</a:t>
                </a: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ko-KR" altLang="en-US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𝜽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ko-KR" altLang="en-US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𝟎</m:t>
                            </m:r>
                          </m:sub>
                        </m:sSub>
                      </m:e>
                    </m:d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≤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𝟐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𝑳𝒊𝒑</m:t>
                    </m:r>
                    <m:d>
                      <m:dPr>
                        <m:ctrlPr>
                          <a:rPr lang="en-US" altLang="ko-K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𝒇</m:t>
                        </m:r>
                      </m:e>
                    </m:d>
                    <m:d>
                      <m:dPr>
                        <m:begChr m:val="‖"/>
                        <m:endChr m:val="‖"/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𝜽</m:t>
                                </m:r>
                              </m:e>
                              <m:sub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p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nary>
                      <m:nary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  <m:sup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sup>
                      <m:e>
                        <m:sSup>
                          <m:sSupPr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p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altLang="ko-KR" b="1" i="1" smtClean="0">
                                        <a:latin typeface="Cambria Math" panose="02040503050406030204" pitchFamily="18" charset="0"/>
                                      </a:rPr>
                                      <m:t>Λ</m:t>
                                    </m:r>
                                  </m:e>
                                  <m:sub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sub>
                                </m:sSub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altLang="ko-KR" b="1" i="1">
                                        <a:latin typeface="Cambria Math" panose="02040503050406030204" pitchFamily="18" charset="0"/>
                                      </a:rPr>
                                      <m:t>Λ</m:t>
                                    </m:r>
                                  </m:e>
                                  <m:sub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sub>
                                </m:sSub>
                              </m:e>
                            </m:d>
                          </m:sup>
                        </m:sSup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𝒅𝒔</m:t>
                        </m:r>
                      </m:e>
                    </m:nary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ko-KR" b="1" i="1"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  <m:sup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𝒕</m:t>
                        </m:r>
                      </m:sup>
                      <m:e>
                        <m:sSub>
                          <m:sSubPr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𝝀</m:t>
                            </m:r>
                          </m:e>
                          <m:sub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𝒔</m:t>
                            </m:r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𝒅𝒔</m:t>
                        </m:r>
                      </m:e>
                    </m:nary>
                  </m:oMath>
                </a14:m>
                <a:endParaRPr lang="en-US" altLang="ko-KR" b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endParaRPr lang="en-US" altLang="ko-KR" b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ko-KR" b="0" i="1">
                        <a:latin typeface="Cambria Math" panose="02040503050406030204" pitchFamily="18" charset="0"/>
                      </a:rPr>
                      <m:t>=−2</m:t>
                    </m:r>
                    <m:sSubSup>
                      <m:sSubSupPr>
                        <m:ctrlP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accPr>
                          <m:e>
                            <m:r>
                              <a:rPr lang="en-US" altLang="ko-KR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𝑢</m:t>
                            </m:r>
                          </m:e>
                        </m:acc>
                      </m:e>
                      <m:sub>
                        <m:r>
                          <a:rPr lang="en-US" altLang="ko-KR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ko-KR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⏉</m:t>
                        </m:r>
                      </m:sup>
                    </m:sSubSup>
                    <m:r>
                      <m:rPr>
                        <m:sty m:val="p"/>
                      </m:rPr>
                      <a:rPr lang="en-US" altLang="ko-KR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∇</m:t>
                    </m:r>
                    <m:sSub>
                      <m:sSubPr>
                        <m:ctrlPr>
                          <a:rPr lang="en-US" altLang="ko-K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sSub>
                          <m:sSubPr>
                            <m:ctrlPr>
                              <a:rPr lang="en-US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  <m:sSup>
                      <m:sSupPr>
                        <m:ctrlPr>
                          <a:rPr lang="en-US" altLang="ko-K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ko-KR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ko-KR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ko-KR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⏉</m:t>
                        </m:r>
                      </m:sup>
                    </m:sSup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b="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𝜆</m:t>
                        </m:r>
                      </m:e>
                      <m:sub>
                        <m:r>
                          <a:rPr lang="en-US" altLang="ko-KR" b="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sub>
                    </m:sSub>
                    <m:r>
                      <a:rPr lang="en-US" altLang="ko-KR" b="0" i="1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altLang="ko-KR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Tx/>
                  <a:buChar char="-"/>
                </a:pPr>
                <a:endParaRPr lang="en-US" altLang="ko-KR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altLang="ko-KR" b="0" i="1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acc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𝑢</m:t>
                            </m:r>
                          </m:e>
                        </m:acc>
                      </m:e>
                      <m:sub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ko-KR" b="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⏉</m:t>
                        </m:r>
                      </m:sup>
                    </m:sSubSup>
                    <m:r>
                      <m:rPr>
                        <m:sty m:val="p"/>
                      </m:rPr>
                      <a:rPr lang="en-US" altLang="ko-KR" b="0" i="1">
                        <a:latin typeface="Cambria Math" panose="02040503050406030204" pitchFamily="18" charset="0"/>
                      </a:rPr>
                      <m:t>∇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1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ko-KR" b="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⏉</m:t>
                        </m:r>
                      </m:sup>
                    </m:sSup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d>
                      <m:dPr>
                        <m:begChr m:val="‖"/>
                        <m:endChr m:val="‖"/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e>
                    </m:d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𝐿𝑖𝑝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altLang="ko-KR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endParaRPr lang="en-US" altLang="ko-KR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endParaRPr lang="en-US" altLang="ko-KR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∴</m:t>
                    </m:r>
                    <m:r>
                      <a:rPr lang="en-US" altLang="ko-KR" b="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2</m:t>
                    </m:r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acc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𝑢</m:t>
                            </m:r>
                          </m:e>
                        </m:acc>
                      </m:e>
                      <m:sub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ko-KR" b="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⏉</m:t>
                        </m:r>
                      </m:sup>
                    </m:sSubSup>
                    <m:r>
                      <m:rPr>
                        <m:sty m:val="p"/>
                      </m:rPr>
                      <a:rPr lang="en-US" altLang="ko-KR" b="0" i="1">
                        <a:latin typeface="Cambria Math" panose="02040503050406030204" pitchFamily="18" charset="0"/>
                      </a:rPr>
                      <m:t>∇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1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ko-KR" b="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⏉</m:t>
                        </m:r>
                      </m:sup>
                    </m:sSup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altLang="ko-KR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𝐿𝑖𝑝</m:t>
                    </m:r>
                    <m:r>
                      <a:rPr lang="en-US" altLang="ko-KR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ko-KR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altLang="ko-KR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altLang="ko-KR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endParaRPr lang="en-US" altLang="ko-KR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r>
                  <a:rPr lang="en-US" altLang="ko-KR" dirty="0">
                    <a:latin typeface="Arial Nova" panose="020B0504020202020204" pitchFamily="34" charset="0"/>
                  </a:rPr>
                  <a:t>Hence,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≤−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𝜆</m:t>
                        </m:r>
                      </m:e>
                      <m:sub>
                        <m:r>
                          <a:rPr lang="en-US" altLang="ko-KR" b="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sub>
                    </m:sSub>
                    <m:r>
                      <a:rPr lang="en-US" altLang="ko-KR" b="0" i="1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+2 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𝐿𝑖𝑝</m:t>
                    </m:r>
                    <m:d>
                      <m:d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→</m:t>
                    </m:r>
                    <m:acc>
                      <m:accPr>
                        <m:chr m:val="̇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𝜆</m:t>
                        </m:r>
                      </m:e>
                      <m:sub>
                        <m:r>
                          <a:rPr lang="en-US" altLang="ko-KR" b="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sub>
                    </m:sSub>
                    <m:r>
                      <a:rPr lang="en-US" altLang="ko-KR" b="0" i="1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ko-KR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ko-KR" b="0" i="1">
                        <a:latin typeface="Cambria Math" panose="02040503050406030204" pitchFamily="18" charset="0"/>
                      </a:rPr>
                      <m:t>2 </m:t>
                    </m:r>
                    <m:r>
                      <a:rPr lang="en-US" altLang="ko-KR" b="0" i="1">
                        <a:latin typeface="Cambria Math" panose="02040503050406030204" pitchFamily="18" charset="0"/>
                      </a:rPr>
                      <m:t>𝐿𝑖𝑝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altLang="ko-KR" dirty="0"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3B14F83-8741-FF85-6725-6D6A709333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880" y="1125427"/>
                <a:ext cx="11424720" cy="3975512"/>
              </a:xfrm>
              <a:prstGeom prst="rect">
                <a:avLst/>
              </a:prstGeom>
              <a:blipFill>
                <a:blip r:embed="rId3"/>
                <a:stretch>
                  <a:fillRect l="-427" t="-767" b="-168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직사각형 3">
            <a:extLst>
              <a:ext uri="{FF2B5EF4-FFF2-40B4-BE49-F238E27FC236}">
                <a16:creationId xmlns:a16="http://schemas.microsoft.com/office/drawing/2014/main" id="{BCD1FD0C-C7DC-0132-2BF3-1687C1B21036}"/>
              </a:ext>
            </a:extLst>
          </p:cNvPr>
          <p:cNvSpPr/>
          <p:nvPr/>
        </p:nvSpPr>
        <p:spPr bwMode="auto">
          <a:xfrm>
            <a:off x="1809751" y="2662198"/>
            <a:ext cx="1276350" cy="412491"/>
          </a:xfrm>
          <a:prstGeom prst="rect">
            <a:avLst/>
          </a:prstGeom>
          <a:solidFill>
            <a:schemeClr val="accent6">
              <a:alpha val="4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 Narrow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F66CFAC-1151-1206-F588-7D9341B201DC}"/>
              </a:ext>
            </a:extLst>
          </p:cNvPr>
          <p:cNvSpPr/>
          <p:nvPr/>
        </p:nvSpPr>
        <p:spPr bwMode="auto">
          <a:xfrm>
            <a:off x="3086101" y="2657908"/>
            <a:ext cx="1155699" cy="412491"/>
          </a:xfrm>
          <a:prstGeom prst="rect">
            <a:avLst/>
          </a:prstGeom>
          <a:solidFill>
            <a:schemeClr val="accent4">
              <a:alpha val="4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 Narrow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8F6C678-68FF-A136-24B7-A9491E9279FC}"/>
              </a:ext>
            </a:extLst>
          </p:cNvPr>
          <p:cNvSpPr/>
          <p:nvPr/>
        </p:nvSpPr>
        <p:spPr bwMode="auto">
          <a:xfrm>
            <a:off x="3603625" y="3252235"/>
            <a:ext cx="942975" cy="412491"/>
          </a:xfrm>
          <a:prstGeom prst="rect">
            <a:avLst/>
          </a:prstGeom>
          <a:solidFill>
            <a:schemeClr val="accent6">
              <a:alpha val="4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 Narrow" pitchFamily="34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43C060D-A663-5EBF-8131-83BDC03922E4}"/>
              </a:ext>
            </a:extLst>
          </p:cNvPr>
          <p:cNvSpPr/>
          <p:nvPr/>
        </p:nvSpPr>
        <p:spPr bwMode="auto">
          <a:xfrm>
            <a:off x="4556661" y="3252234"/>
            <a:ext cx="1285339" cy="412491"/>
          </a:xfrm>
          <a:prstGeom prst="rect">
            <a:avLst/>
          </a:prstGeom>
          <a:solidFill>
            <a:schemeClr val="accent4">
              <a:alpha val="4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 Narrow" pitchFamily="34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9506023-0B80-744B-F89A-CCD30DCA10A4}"/>
              </a:ext>
            </a:extLst>
          </p:cNvPr>
          <p:cNvSpPr/>
          <p:nvPr/>
        </p:nvSpPr>
        <p:spPr bwMode="auto">
          <a:xfrm>
            <a:off x="6169025" y="3252234"/>
            <a:ext cx="688975" cy="412491"/>
          </a:xfrm>
          <a:prstGeom prst="rect">
            <a:avLst/>
          </a:prstGeom>
          <a:solidFill>
            <a:schemeClr val="accent6">
              <a:alpha val="4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 Narrow" pitchFamily="34" charset="0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EED9F706-7449-F7C1-9C35-C73E4524F43D}"/>
              </a:ext>
            </a:extLst>
          </p:cNvPr>
          <p:cNvSpPr/>
          <p:nvPr/>
        </p:nvSpPr>
        <p:spPr bwMode="auto">
          <a:xfrm>
            <a:off x="3276600" y="3265487"/>
            <a:ext cx="327025" cy="327025"/>
          </a:xfrm>
          <a:prstGeom prst="ellipse">
            <a:avLst/>
          </a:prstGeom>
          <a:solidFill>
            <a:srgbClr val="C00000">
              <a:alpha val="5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414A37D4-7BD6-7C08-602C-0B64B57CE56C}"/>
              </a:ext>
            </a:extLst>
          </p:cNvPr>
          <p:cNvSpPr/>
          <p:nvPr/>
        </p:nvSpPr>
        <p:spPr bwMode="auto">
          <a:xfrm>
            <a:off x="5859463" y="3265487"/>
            <a:ext cx="327025" cy="327025"/>
          </a:xfrm>
          <a:prstGeom prst="ellipse">
            <a:avLst/>
          </a:prstGeom>
          <a:solidFill>
            <a:schemeClr val="accent1">
              <a:alpha val="5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7F4F5BD-EBC2-5728-1291-0C8C8120385D}"/>
                  </a:ext>
                </a:extLst>
              </p:cNvPr>
              <p:cNvSpPr txBox="1"/>
              <p:nvPr/>
            </p:nvSpPr>
            <p:spPr>
              <a:xfrm>
                <a:off x="4667250" y="3625589"/>
                <a:ext cx="7594600" cy="4139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b="1" i="1" dirty="0" smtClean="0">
                        <a:latin typeface="Cambria Math" panose="02040503050406030204" pitchFamily="18" charset="0"/>
                      </a:rPr>
                      <m:t>(∵</m:t>
                    </m:r>
                    <m:d>
                      <m:dPr>
                        <m:begChr m:val="‖"/>
                        <m:endChr m:val="‖"/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𝜽</m:t>
                                </m:r>
                              </m:e>
                              <m:sub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e>
                    </m:d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𝑳𝒊𝒑</m:t>
                    </m:r>
                    <m:d>
                      <m:dPr>
                        <m:ctrlP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𝒇</m:t>
                        </m:r>
                      </m:e>
                    </m:d>
                    <m:r>
                      <a:rPr lang="en-US" altLang="ko-KR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>
                    <a:sym typeface="Wingdings" panose="05000000000000000000" pitchFamily="2" charset="2"/>
                  </a:rPr>
                  <a:t> </a:t>
                </a:r>
                <a:r>
                  <a:rPr lang="en-US" altLang="ko-KR" b="1" dirty="0">
                    <a:latin typeface="Arial Nova" panose="020B0504020202020204" pitchFamily="34" charset="0"/>
                  </a:rPr>
                  <a:t>Lemma 1</a:t>
                </a:r>
                <a:endParaRPr lang="ko-KR" altLang="en-US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7F4F5BD-EBC2-5728-1291-0C8C812038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7250" y="3625589"/>
                <a:ext cx="7594600" cy="413959"/>
              </a:xfrm>
              <a:prstGeom prst="rect">
                <a:avLst/>
              </a:prstGeom>
              <a:blipFill>
                <a:blip r:embed="rId4"/>
                <a:stretch>
                  <a:fillRect l="-241" t="-4412" b="-1617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직사각형 17">
            <a:extLst>
              <a:ext uri="{FF2B5EF4-FFF2-40B4-BE49-F238E27FC236}">
                <a16:creationId xmlns:a16="http://schemas.microsoft.com/office/drawing/2014/main" id="{8A42470A-8985-02BC-AA93-47FE91C8614F}"/>
              </a:ext>
            </a:extLst>
          </p:cNvPr>
          <p:cNvSpPr/>
          <p:nvPr/>
        </p:nvSpPr>
        <p:spPr bwMode="auto">
          <a:xfrm>
            <a:off x="4630737" y="3664725"/>
            <a:ext cx="2521744" cy="412491"/>
          </a:xfrm>
          <a:prstGeom prst="rect">
            <a:avLst/>
          </a:prstGeom>
          <a:solidFill>
            <a:schemeClr val="accent1">
              <a:alpha val="4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 Narrow" pitchFamily="34" charset="0"/>
            </a:endParaRPr>
          </a:p>
        </p:txBody>
      </p:sp>
      <p:sp>
        <p:nvSpPr>
          <p:cNvPr id="19" name="오른쪽 중괄호 18">
            <a:extLst>
              <a:ext uri="{FF2B5EF4-FFF2-40B4-BE49-F238E27FC236}">
                <a16:creationId xmlns:a16="http://schemas.microsoft.com/office/drawing/2014/main" id="{A0A08A0E-2BE3-170B-9813-98BF7DC88F6B}"/>
              </a:ext>
            </a:extLst>
          </p:cNvPr>
          <p:cNvSpPr/>
          <p:nvPr/>
        </p:nvSpPr>
        <p:spPr bwMode="auto">
          <a:xfrm rot="5400000">
            <a:off x="2866830" y="1891053"/>
            <a:ext cx="304396" cy="2445544"/>
          </a:xfrm>
          <a:prstGeom prst="rightBrace">
            <a:avLst>
              <a:gd name="adj1" fmla="val 37538"/>
              <a:gd name="adj2" fmla="val 81159"/>
            </a:avLst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1158081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103F7-37D9-5AAD-F8E9-AFF22B18E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2D7D3B43-54DC-2F20-B0EF-DB016032B6A9}"/>
              </a:ext>
            </a:extLst>
          </p:cNvPr>
          <p:cNvSpPr/>
          <p:nvPr/>
        </p:nvSpPr>
        <p:spPr bwMode="auto">
          <a:xfrm>
            <a:off x="347880" y="1096852"/>
            <a:ext cx="11424720" cy="137922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F1E1A9D-B766-97C9-B011-F7766B411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00" y="144463"/>
            <a:ext cx="11424720" cy="752792"/>
          </a:xfrm>
        </p:spPr>
        <p:txBody>
          <a:bodyPr/>
          <a:lstStyle/>
          <a:p>
            <a:r>
              <a:rPr lang="en-US" altLang="ko-KR" dirty="0"/>
              <a:t>Theorem 2. UB on Distance between Parameters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4AA788-8B2A-003D-E7DA-9ED3FC6AE9D1}"/>
              </a:ext>
            </a:extLst>
          </p:cNvPr>
          <p:cNvSpPr txBox="1"/>
          <p:nvPr/>
        </p:nvSpPr>
        <p:spPr>
          <a:xfrm>
            <a:off x="0" y="6590426"/>
            <a:ext cx="114247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Afzal, Zahra Rahimi, et al. "Linearization Explains Fine-Tuning in Large Language Models." </a:t>
            </a:r>
            <a:r>
              <a:rPr lang="en-US" altLang="ko-KR" sz="1000" i="1" dirty="0">
                <a:solidFill>
                  <a:schemeClr val="bg1">
                    <a:lumMod val="65000"/>
                  </a:schemeClr>
                </a:solidFill>
              </a:rPr>
              <a:t>The 39th Annual Conference on </a:t>
            </a:r>
            <a:r>
              <a:rPr lang="en-US" altLang="ko-KR" sz="1000" i="1" dirty="0" err="1">
                <a:solidFill>
                  <a:schemeClr val="bg1">
                    <a:lumMod val="65000"/>
                  </a:schemeClr>
                </a:solidFill>
              </a:rPr>
              <a:t>NeurIPS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1000" dirty="0">
              <a:solidFill>
                <a:schemeClr val="bg1">
                  <a:lumMod val="6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0612B27-6EF4-7B6C-B112-025BAFB6A2F1}"/>
                  </a:ext>
                </a:extLst>
              </p:cNvPr>
              <p:cNvSpPr txBox="1"/>
              <p:nvPr/>
            </p:nvSpPr>
            <p:spPr>
              <a:xfrm>
                <a:off x="347880" y="1125427"/>
                <a:ext cx="11424720" cy="46823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Tx/>
                  <a:buChar char="-"/>
                </a:pPr>
                <a:r>
                  <a:rPr lang="en-US" altLang="ko-KR" b="1" dirty="0">
                    <a:latin typeface="Arial Nova" panose="020B0504020202020204" pitchFamily="34" charset="0"/>
                  </a:rPr>
                  <a:t>Consider the selectively regularized fine-tuning solution, under the squared loss. Denote the instantaneous value of the regularization parameter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𝝀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, which can be either 0 or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.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sub>
                    </m:sSub>
                    <m:d>
                      <m:d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is 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𝑳𝒊𝒑</m:t>
                    </m:r>
                    <m:d>
                      <m:d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</m:d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𝑳𝒊𝒑𝒔𝒄𝒉𝒊𝒕𝒛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in 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𝒍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𝒃𝒂𝒍𝒍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of radius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𝝉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around pretrained parameters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,</a:t>
                </a: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ko-KR" altLang="en-US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𝜽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ko-KR" altLang="en-US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𝟎</m:t>
                            </m:r>
                          </m:sub>
                        </m:sSub>
                      </m:e>
                    </m:d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≤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𝟐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𝑳𝒊𝒑</m:t>
                    </m:r>
                    <m:d>
                      <m:dPr>
                        <m:ctrlPr>
                          <a:rPr lang="en-US" altLang="ko-K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𝒇</m:t>
                        </m:r>
                      </m:e>
                    </m:d>
                    <m:d>
                      <m:dPr>
                        <m:begChr m:val="‖"/>
                        <m:endChr m:val="‖"/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𝜽</m:t>
                                </m:r>
                              </m:e>
                              <m:sub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p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nary>
                      <m:nary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  <m:sup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sup>
                      <m:e>
                        <m:sSup>
                          <m:sSupPr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p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altLang="ko-KR" b="1" i="1" smtClean="0">
                                        <a:latin typeface="Cambria Math" panose="02040503050406030204" pitchFamily="18" charset="0"/>
                                      </a:rPr>
                                      <m:t>Λ</m:t>
                                    </m:r>
                                  </m:e>
                                  <m:sub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sub>
                                </m:sSub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altLang="ko-KR" b="1" i="1">
                                        <a:latin typeface="Cambria Math" panose="02040503050406030204" pitchFamily="18" charset="0"/>
                                      </a:rPr>
                                      <m:t>Λ</m:t>
                                    </m:r>
                                  </m:e>
                                  <m:sub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sub>
                                </m:sSub>
                              </m:e>
                            </m:d>
                          </m:sup>
                        </m:sSup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𝒅𝒔</m:t>
                        </m:r>
                      </m:e>
                    </m:nary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ko-KR" b="1" i="1"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  <m:sup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𝒕</m:t>
                        </m:r>
                      </m:sup>
                      <m:e>
                        <m:sSub>
                          <m:sSubPr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𝝀</m:t>
                            </m:r>
                          </m:e>
                          <m:sub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𝒔</m:t>
                            </m:r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𝒅𝒔</m:t>
                        </m:r>
                      </m:e>
                    </m:nary>
                  </m:oMath>
                </a14:m>
                <a:endParaRPr lang="en-US" altLang="ko-KR" b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endParaRPr lang="en-US" altLang="ko-KR" b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endParaRPr lang="en-US" altLang="ko-KR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𝜆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2 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𝐿𝑖𝑝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altLang="ko-KR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endParaRPr lang="en-US" altLang="ko-KR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r>
                  <a:rPr lang="en-US" altLang="ko-KR" dirty="0">
                    <a:latin typeface="Arial Nova" panose="020B0504020202020204" pitchFamily="34" charset="0"/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altLang="ko-KR" b="0" i="1" smtClean="0">
                            <a:latin typeface="Cambria Math" panose="02040503050406030204" pitchFamily="18" charset="0"/>
                          </a:rPr>
                          <m:t>𝛬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nary>
                  </m:oMath>
                </a14:m>
                <a:r>
                  <a:rPr lang="en-US" altLang="ko-KR" dirty="0">
                    <a:latin typeface="Arial Nova" panose="020B0504020202020204" pitchFamily="34" charset="0"/>
                  </a:rPr>
                  <a:t> </a:t>
                </a:r>
                <a:r>
                  <a:rPr lang="en-US" altLang="ko-KR" dirty="0">
                    <a:latin typeface="Arial Nova" panose="020B0504020202020204" pitchFamily="34" charset="0"/>
                    <a:sym typeface="Wingdings" panose="05000000000000000000" pitchFamily="2" charset="2"/>
                  </a:rPr>
                  <a:t> Multiply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altLang="ko-KR" b="0" i="1" smtClean="0">
                                <a:latin typeface="Cambria Math" panose="02040503050406030204" pitchFamily="18" charset="0"/>
                              </a:rPr>
                              <m:t>𝛬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altLang="ko-KR" dirty="0">
                    <a:latin typeface="Arial Nova" panose="020B0504020202020204" pitchFamily="34" charset="0"/>
                    <a:sym typeface="Wingdings" panose="05000000000000000000" pitchFamily="2" charset="2"/>
                  </a:rPr>
                  <a:t> :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𝑑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𝑑𝑡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altLang="ko-KR" b="0" i="1" smtClean="0">
                                <a:latin typeface="Cambria Math" panose="02040503050406030204" pitchFamily="18" charset="0"/>
                              </a:rPr>
                              <m:t>𝛬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𝑤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𝑡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))≤2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𝐿𝑖𝑝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altLang="ko-KR" b="0" i="1" smtClean="0">
                                <a:latin typeface="Cambria Math" panose="02040503050406030204" pitchFamily="18" charset="0"/>
                              </a:rPr>
                              <m:t>𝛬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p>
                    </m:sSup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altLang="ko-KR" dirty="0">
                  <a:latin typeface="Arial Nova" panose="020B0504020202020204" pitchFamily="34" charset="0"/>
                </a:endParaRPr>
              </a:p>
              <a:p>
                <a:pPr marL="742950" lvl="1" indent="-285750">
                  <a:buFontTx/>
                  <a:buChar char="-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𝑑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𝑑𝑡</m:t>
                        </m:r>
                      </m:den>
                    </m:f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l-GR" altLang="ko-KR" b="0" i="1" smtClean="0">
                                    <a:latin typeface="Cambria Math" panose="02040503050406030204" pitchFamily="18" charset="0"/>
                                  </a:rPr>
                                  <m:t>𝛬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sup>
                        </m:sSup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𝑤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𝑤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e>
                    </m:d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𝑑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𝑑𝑡</m:t>
                        </m:r>
                      </m:den>
                    </m:f>
                    <m:d>
                      <m:dPr>
                        <m:ctrlPr>
                          <a:rPr lang="en-US" altLang="ko-KR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l-GR" altLang="ko-KR" b="0" i="1" smtClean="0">
                                    <a:latin typeface="Cambria Math" panose="02040503050406030204" pitchFamily="18" charset="0"/>
                                  </a:rPr>
                                  <m:t>𝛬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sup>
                        </m:sSup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altLang="ko-KR" b="0" i="1" smtClean="0">
                                <a:latin typeface="Cambria Math" panose="02040503050406030204" pitchFamily="18" charset="0"/>
                              </a:rPr>
                              <m:t>𝛬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p>
                    </m:sSup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𝑑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𝑑𝑡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𝑤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altLang="ko-KR" b="0" i="1" smtClean="0">
                                <a:latin typeface="Cambria Math" panose="02040503050406030204" pitchFamily="18" charset="0"/>
                              </a:rPr>
                              <m:t>𝛬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p>
                    </m:sSup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𝜆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altLang="ko-KR" b="0" i="1" smtClean="0">
                                <a:latin typeface="Cambria Math" panose="02040503050406030204" pitchFamily="18" charset="0"/>
                              </a:rPr>
                              <m:t>𝛬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p>
                    </m:sSup>
                    <m:acc>
                      <m:accPr>
                        <m:chr m:val="̇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altLang="ko-KR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Tx/>
                  <a:buChar char="-"/>
                </a:pPr>
                <a:endParaRPr lang="en-US" altLang="ko-KR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nary>
                      <m:nary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fPr>
                          <m:num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𝑑</m:t>
                            </m:r>
                          </m:num>
                          <m:den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𝑑𝑎</m:t>
                            </m:r>
                          </m:den>
                        </m:f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(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l-GR" altLang="ko-KR" b="0" i="1" smtClean="0">
                                    <a:latin typeface="Cambria Math" panose="02040503050406030204" pitchFamily="18" charset="0"/>
                                  </a:rPr>
                                  <m:t>𝛬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sub>
                            </m:sSub>
                          </m:sup>
                        </m:sSup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𝑤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(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𝑎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))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𝑑𝑎</m:t>
                        </m:r>
                      </m:e>
                    </m:nary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altLang="ko-KR" b="0" i="1" smtClean="0">
                                <a:latin typeface="Cambria Math" panose="02040503050406030204" pitchFamily="18" charset="0"/>
                              </a:rPr>
                              <m:t>𝛬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𝑤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𝑤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(0)</m:t>
                    </m:r>
                  </m:oMath>
                </a14:m>
                <a:r>
                  <a:rPr lang="en-US" altLang="ko-KR" dirty="0">
                    <a:ea typeface="Cambria Math" panose="02040503050406030204" pitchFamily="18" charset="0"/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≤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2 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𝐿𝑖𝑝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nary>
                      <m:nary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l-GR" altLang="ko-KR" b="0" i="1" smtClean="0">
                                    <a:latin typeface="Cambria Math" panose="02040503050406030204" pitchFamily="18" charset="0"/>
                                  </a:rPr>
                                  <m:t>𝛬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</m:sup>
                        </m:sSup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d>
                                  <m:d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e>
                            </m:d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𝑑𝑠</m:t>
                        </m:r>
                      </m:e>
                    </m:nary>
                  </m:oMath>
                </a14:m>
                <a:endParaRPr lang="en-US" altLang="ko-KR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𝑤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≤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l-GR" altLang="ko-KR" b="0" i="1" smtClean="0">
                                <a:latin typeface="Cambria Math" panose="02040503050406030204" pitchFamily="18" charset="0"/>
                              </a:rPr>
                              <m:t>𝛬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+2 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𝐿𝑖𝑝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nary>
                      <m:nary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US" altLang="ko-KR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l-GR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𝛬</m:t>
                                        </m:r>
                                      </m:e>
                                      <m:sub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l-GR" altLang="ko-KR" b="0" i="1" smtClean="0">
                                        <a:latin typeface="Cambria Math" panose="02040503050406030204" pitchFamily="18" charset="0"/>
                                      </a:rPr>
                                      <m:t>𝛬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</m:e>
                            </m:d>
                          </m:sup>
                        </m:sSup>
                        <m:sSub>
                          <m:sSubPr>
                            <m:ctrlPr>
                              <a:rPr lang="en-US" altLang="ko-KR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altLang="ko-KR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d>
                                  <m:dPr>
                                    <m:ctrlPr>
                                      <a:rPr lang="en-US" altLang="ko-KR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  <m:r>
                                  <a:rPr lang="en-US" altLang="ko-KR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altLang="ko-KR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altLang="ko-KR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e>
                            </m:d>
                          </m:e>
                          <m:sub>
                            <m:r>
                              <a:rPr lang="en-US" altLang="ko-KR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𝑑𝑠</m:t>
                        </m:r>
                      </m:e>
                    </m:nary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≤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l-GR" altLang="ko-KR" b="0" i="1" smtClean="0">
                                <a:latin typeface="Cambria Math" panose="02040503050406030204" pitchFamily="18" charset="0"/>
                              </a:rPr>
                              <m:t>𝛬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+2 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𝐿𝑖𝑝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sSub>
                      <m:sSubPr>
                        <m:ctrlPr>
                          <a:rPr lang="en-US" altLang="ko-KR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ko-KR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d>
                              <m:dPr>
                                <m:ctrlPr>
                                  <a:rPr lang="en-US" altLang="ko-KR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  <m:r>
                              <a:rPr lang="en-US" altLang="ko-KR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ko-KR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ko-KR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US" altLang="ko-KR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nary>
                      <m:nary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l-GR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𝛬</m:t>
                                        </m:r>
                                      </m:e>
                                      <m:sub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l-GR" altLang="ko-KR" b="0" i="1" smtClean="0">
                                        <a:latin typeface="Cambria Math" panose="02040503050406030204" pitchFamily="18" charset="0"/>
                                      </a:rPr>
                                      <m:t>𝛬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</m:e>
                            </m:d>
                          </m:sup>
                        </m:s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𝑑𝑠</m:t>
                        </m:r>
                      </m:e>
                    </m:nary>
                  </m:oMath>
                </a14:m>
                <a:endParaRPr lang="en-US" altLang="ko-KR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(∵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𝑇h𝑒𝑜𝑟𝑒𝑚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 1 :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sub>
                            </m:sSub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≤0 →</m:t>
                    </m:r>
                    <m:sSub>
                      <m:sSubPr>
                        <m:ctrlPr>
                          <a:rPr lang="en-US" altLang="ko-KR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ko-KR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d>
                              <m:dPr>
                                <m:ctrlPr>
                                  <a:rPr lang="en-US" altLang="ko-KR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  <m:r>
                              <a:rPr lang="en-US" altLang="ko-KR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ko-KR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ko-KR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US" altLang="ko-KR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ko-KR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ko-KR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d>
                              <m:dPr>
                                <m:ctrlPr>
                                  <a:rPr lang="en-US" altLang="ko-KR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  <m:r>
                              <a:rPr lang="en-US" altLang="ko-KR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ko-KR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ko-KR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US" altLang="ko-KR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𝑛𝑜𝑛</m:t>
                    </m:r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𝑖𝑛𝑐𝑟𝑒𝑎𝑠𝑖𝑛𝑔</m:t>
                    </m:r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𝑒𝑟𝑟𝑜𝑟</m:t>
                    </m:r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i="1" dirty="0"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0612B27-6EF4-7B6C-B112-025BAFB6A2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880" y="1125427"/>
                <a:ext cx="11424720" cy="4682372"/>
              </a:xfrm>
              <a:prstGeom prst="rect">
                <a:avLst/>
              </a:prstGeom>
              <a:blipFill>
                <a:blip r:embed="rId3"/>
                <a:stretch>
                  <a:fillRect l="-1067" t="-651" b="-729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직사각형 12">
            <a:extLst>
              <a:ext uri="{FF2B5EF4-FFF2-40B4-BE49-F238E27FC236}">
                <a16:creationId xmlns:a16="http://schemas.microsoft.com/office/drawing/2014/main" id="{26EDBC0C-38BC-D3F2-2CB4-AE02D845E2CF}"/>
              </a:ext>
            </a:extLst>
          </p:cNvPr>
          <p:cNvSpPr/>
          <p:nvPr/>
        </p:nvSpPr>
        <p:spPr bwMode="auto">
          <a:xfrm>
            <a:off x="4408272" y="3466612"/>
            <a:ext cx="1276212" cy="412491"/>
          </a:xfrm>
          <a:prstGeom prst="rect">
            <a:avLst/>
          </a:prstGeom>
          <a:solidFill>
            <a:srgbClr val="FFFF00">
              <a:alpha val="4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 Narrow" pitchFamily="34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CBB721C-83ED-0DCB-D123-94082485FD93}"/>
              </a:ext>
            </a:extLst>
          </p:cNvPr>
          <p:cNvSpPr/>
          <p:nvPr/>
        </p:nvSpPr>
        <p:spPr bwMode="auto">
          <a:xfrm>
            <a:off x="3867288" y="3466613"/>
            <a:ext cx="444362" cy="412491"/>
          </a:xfrm>
          <a:prstGeom prst="rect">
            <a:avLst/>
          </a:prstGeom>
          <a:solidFill>
            <a:srgbClr val="92D050">
              <a:alpha val="4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 Narrow" pitchFamily="34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5683FC7-CD47-5A92-ADC4-49DC721E8E5B}"/>
              </a:ext>
            </a:extLst>
          </p:cNvPr>
          <p:cNvSpPr/>
          <p:nvPr/>
        </p:nvSpPr>
        <p:spPr bwMode="auto">
          <a:xfrm>
            <a:off x="6813688" y="3466613"/>
            <a:ext cx="323712" cy="412491"/>
          </a:xfrm>
          <a:prstGeom prst="rect">
            <a:avLst/>
          </a:prstGeom>
          <a:solidFill>
            <a:srgbClr val="92D050">
              <a:alpha val="4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 Narrow" pitchFamily="34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5C98CA7-D824-9425-8ED6-9AAE392E2BAD}"/>
              </a:ext>
            </a:extLst>
          </p:cNvPr>
          <p:cNvSpPr/>
          <p:nvPr/>
        </p:nvSpPr>
        <p:spPr bwMode="auto">
          <a:xfrm>
            <a:off x="5550504" y="3879104"/>
            <a:ext cx="323712" cy="412491"/>
          </a:xfrm>
          <a:prstGeom prst="rect">
            <a:avLst/>
          </a:prstGeom>
          <a:solidFill>
            <a:srgbClr val="92D050">
              <a:alpha val="4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 Narrow" pitchFamily="34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A59AB74-C84F-0BD9-0EEF-E3C85577087F}"/>
              </a:ext>
            </a:extLst>
          </p:cNvPr>
          <p:cNvSpPr/>
          <p:nvPr/>
        </p:nvSpPr>
        <p:spPr bwMode="auto">
          <a:xfrm>
            <a:off x="6792326" y="3879104"/>
            <a:ext cx="323712" cy="412491"/>
          </a:xfrm>
          <a:prstGeom prst="rect">
            <a:avLst/>
          </a:prstGeom>
          <a:solidFill>
            <a:srgbClr val="92D050">
              <a:alpha val="4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 Narrow" pitchFamily="34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E3ED573-2192-2AA6-F3B0-1CCD5790B810}"/>
              </a:ext>
            </a:extLst>
          </p:cNvPr>
          <p:cNvSpPr/>
          <p:nvPr/>
        </p:nvSpPr>
        <p:spPr bwMode="auto">
          <a:xfrm>
            <a:off x="1155838" y="3859308"/>
            <a:ext cx="1276212" cy="412491"/>
          </a:xfrm>
          <a:prstGeom prst="rect">
            <a:avLst/>
          </a:prstGeom>
          <a:solidFill>
            <a:srgbClr val="FFFF00">
              <a:alpha val="4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 Narrow" pitchFamily="34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2B66CF3-3767-7BCC-E99F-116760FFF486}"/>
              </a:ext>
            </a:extLst>
          </p:cNvPr>
          <p:cNvSpPr/>
          <p:nvPr/>
        </p:nvSpPr>
        <p:spPr bwMode="auto">
          <a:xfrm>
            <a:off x="705454" y="4552204"/>
            <a:ext cx="240696" cy="412491"/>
          </a:xfrm>
          <a:prstGeom prst="rect">
            <a:avLst/>
          </a:prstGeom>
          <a:solidFill>
            <a:schemeClr val="tx2">
              <a:lumMod val="40000"/>
              <a:lumOff val="60000"/>
              <a:alpha val="4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 Narrow" pitchFamily="34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968D7EF-7390-D851-934E-824D4D243ADD}"/>
              </a:ext>
            </a:extLst>
          </p:cNvPr>
          <p:cNvSpPr/>
          <p:nvPr/>
        </p:nvSpPr>
        <p:spPr bwMode="auto">
          <a:xfrm>
            <a:off x="5592012" y="4560013"/>
            <a:ext cx="2176754" cy="412491"/>
          </a:xfrm>
          <a:prstGeom prst="rect">
            <a:avLst/>
          </a:prstGeom>
          <a:solidFill>
            <a:schemeClr val="tx2">
              <a:lumMod val="40000"/>
              <a:lumOff val="60000"/>
              <a:alpha val="4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 Narrow" pitchFamily="34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E49B92D-580A-7027-904D-7C4051B7DE44}"/>
              </a:ext>
            </a:extLst>
          </p:cNvPr>
          <p:cNvSpPr/>
          <p:nvPr/>
        </p:nvSpPr>
        <p:spPr bwMode="auto">
          <a:xfrm>
            <a:off x="2830548" y="4560012"/>
            <a:ext cx="1620940" cy="412491"/>
          </a:xfrm>
          <a:prstGeom prst="rect">
            <a:avLst/>
          </a:prstGeom>
          <a:solidFill>
            <a:schemeClr val="tx2">
              <a:lumMod val="40000"/>
              <a:lumOff val="60000"/>
              <a:alpha val="4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 Narrow" pitchFamily="34" charset="0"/>
            </a:endParaRPr>
          </a:p>
        </p:txBody>
      </p: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1B26DCC8-CDA0-9D61-7FC7-54AC359330C6}"/>
              </a:ext>
            </a:extLst>
          </p:cNvPr>
          <p:cNvCxnSpPr>
            <a:cxnSpLocks/>
          </p:cNvCxnSpPr>
          <p:nvPr/>
        </p:nvCxnSpPr>
        <p:spPr bwMode="auto">
          <a:xfrm>
            <a:off x="7768766" y="4107445"/>
            <a:ext cx="94263" cy="629362"/>
          </a:xfrm>
          <a:prstGeom prst="bentConnector3">
            <a:avLst>
              <a:gd name="adj1" fmla="val 342513"/>
            </a:avLst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34" name="그림 33">
            <a:extLst>
              <a:ext uri="{FF2B5EF4-FFF2-40B4-BE49-F238E27FC236}">
                <a16:creationId xmlns:a16="http://schemas.microsoft.com/office/drawing/2014/main" id="{5E3F19FA-54FF-1AA2-8C9D-E0F13C054A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6035" y="4107445"/>
            <a:ext cx="362001" cy="581106"/>
          </a:xfrm>
          <a:prstGeom prst="rect">
            <a:avLst/>
          </a:prstGeom>
        </p:spPr>
      </p:pic>
      <p:sp>
        <p:nvSpPr>
          <p:cNvPr id="36" name="타원 35">
            <a:extLst>
              <a:ext uri="{FF2B5EF4-FFF2-40B4-BE49-F238E27FC236}">
                <a16:creationId xmlns:a16="http://schemas.microsoft.com/office/drawing/2014/main" id="{4BE384C0-D5A6-503F-5015-49139CE54921}"/>
              </a:ext>
            </a:extLst>
          </p:cNvPr>
          <p:cNvSpPr/>
          <p:nvPr/>
        </p:nvSpPr>
        <p:spPr bwMode="auto">
          <a:xfrm>
            <a:off x="6273800" y="4972503"/>
            <a:ext cx="327025" cy="327025"/>
          </a:xfrm>
          <a:prstGeom prst="ellipse">
            <a:avLst/>
          </a:prstGeom>
          <a:solidFill>
            <a:srgbClr val="C00000">
              <a:alpha val="5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8964995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18AA9-F1C6-7474-E05B-FDABC48A9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350090BF-2B43-B091-71C5-3540684C97D3}"/>
              </a:ext>
            </a:extLst>
          </p:cNvPr>
          <p:cNvSpPr/>
          <p:nvPr/>
        </p:nvSpPr>
        <p:spPr bwMode="auto">
          <a:xfrm>
            <a:off x="347880" y="1096852"/>
            <a:ext cx="11424720" cy="137922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603EDF8-3A7C-52B7-C175-BC29936D7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00" y="144463"/>
            <a:ext cx="11424720" cy="752792"/>
          </a:xfrm>
        </p:spPr>
        <p:txBody>
          <a:bodyPr/>
          <a:lstStyle/>
          <a:p>
            <a:r>
              <a:rPr lang="en-US" altLang="ko-KR" dirty="0"/>
              <a:t>Theorem 2. UB on Distance between Parameters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F0E1B9-6E7B-B052-3801-7C63C9F1117F}"/>
              </a:ext>
            </a:extLst>
          </p:cNvPr>
          <p:cNvSpPr txBox="1"/>
          <p:nvPr/>
        </p:nvSpPr>
        <p:spPr>
          <a:xfrm>
            <a:off x="0" y="6590426"/>
            <a:ext cx="114247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solidFill>
                  <a:schemeClr val="bg1">
                    <a:lumMod val="65000"/>
                  </a:schemeClr>
                </a:solidFill>
              </a:rPr>
              <a:t>Afzal, Zahra Rahimi, et al. "Linearization Explains Fine-Tuning in Large Language Models." </a:t>
            </a:r>
            <a:r>
              <a:rPr lang="en-US" altLang="ko-KR" sz="1000" i="1">
                <a:solidFill>
                  <a:schemeClr val="bg1">
                    <a:lumMod val="65000"/>
                  </a:schemeClr>
                </a:solidFill>
              </a:rPr>
              <a:t>The 39th Annual Conference on NeurIPS</a:t>
            </a:r>
            <a:r>
              <a:rPr lang="en-US" altLang="ko-KR" sz="100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1000" dirty="0">
              <a:solidFill>
                <a:schemeClr val="bg1">
                  <a:lumMod val="6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F95E298-B1C5-C812-8234-D45C38576427}"/>
                  </a:ext>
                </a:extLst>
              </p:cNvPr>
              <p:cNvSpPr txBox="1"/>
              <p:nvPr/>
            </p:nvSpPr>
            <p:spPr>
              <a:xfrm>
                <a:off x="347880" y="1125427"/>
                <a:ext cx="11424720" cy="52706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Tx/>
                  <a:buChar char="-"/>
                </a:pPr>
                <a:r>
                  <a:rPr lang="en-US" altLang="ko-KR" b="1" dirty="0">
                    <a:latin typeface="Arial Nova" panose="020B0504020202020204" pitchFamily="34" charset="0"/>
                  </a:rPr>
                  <a:t>Consider the selectively regularized fine-tuning solution, under the squared loss. Denote the instantaneous value of the regularization parameter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𝝀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, which can be either 0 or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.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sub>
                    </m:sSub>
                    <m:d>
                      <m:d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is 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𝑳𝒊𝒑</m:t>
                    </m:r>
                    <m:d>
                      <m:d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</m:d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𝑳𝒊𝒑𝒔𝒄𝒉𝒊𝒕𝒛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in 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𝒍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𝒃𝒂𝒍𝒍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of radius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𝝉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around pretrained parameters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,</a:t>
                </a: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ko-KR" altLang="en-US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𝒕</m:t>
                            </m:r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ko-KR" altLang="en-US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𝟎</m:t>
                            </m:r>
                          </m:sub>
                        </m:sSub>
                      </m:e>
                    </m:d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≤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𝟐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𝑳𝒊𝒑</m:t>
                    </m:r>
                    <m:d>
                      <m:dPr>
                        <m:ctrlPr>
                          <a:rPr lang="en-US" altLang="ko-K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𝒇</m:t>
                        </m:r>
                      </m:e>
                    </m:d>
                    <m:d>
                      <m:dPr>
                        <m:begChr m:val="‖"/>
                        <m:endChr m:val="‖"/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𝜽</m:t>
                                </m:r>
                              </m:e>
                              <m:sub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p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nary>
                      <m:nary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  <m:sup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sup>
                      <m:e>
                        <m:sSup>
                          <m:sSupPr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p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altLang="ko-KR" b="1" i="1" smtClean="0">
                                        <a:latin typeface="Cambria Math" panose="02040503050406030204" pitchFamily="18" charset="0"/>
                                      </a:rPr>
                                      <m:t>Λ</m:t>
                                    </m:r>
                                  </m:e>
                                  <m:sub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sub>
                                </m:sSub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altLang="ko-KR" b="1" i="1">
                                        <a:latin typeface="Cambria Math" panose="02040503050406030204" pitchFamily="18" charset="0"/>
                                      </a:rPr>
                                      <m:t>Λ</m:t>
                                    </m:r>
                                  </m:e>
                                  <m:sub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sub>
                                </m:sSub>
                              </m:e>
                            </m:d>
                          </m:sup>
                        </m:sSup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𝒅𝒔</m:t>
                        </m:r>
                      </m:e>
                    </m:nary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ko-KR" b="1" i="1"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  <m:sup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𝒕</m:t>
                        </m:r>
                      </m:sup>
                      <m:e>
                        <m:sSub>
                          <m:sSubPr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𝝀</m:t>
                            </m:r>
                          </m:e>
                          <m:sub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𝒔</m:t>
                            </m:r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𝒅𝒔</m:t>
                        </m:r>
                      </m:e>
                    </m:nary>
                  </m:oMath>
                </a14:m>
                <a:endParaRPr lang="en-US" altLang="ko-KR" b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endParaRPr lang="en-US" altLang="ko-KR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𝑤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≤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l-GR" altLang="ko-KR" b="0" i="1" smtClean="0">
                                <a:latin typeface="Cambria Math" panose="02040503050406030204" pitchFamily="18" charset="0"/>
                              </a:rPr>
                              <m:t>𝛬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+2 </m:t>
                    </m:r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𝐿𝑖𝑝</m:t>
                    </m:r>
                    <m:d>
                      <m:dPr>
                        <m:ctrlPr>
                          <a:rPr lang="en-US" altLang="ko-K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sSub>
                      <m:sSubPr>
                        <m:ctrlP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d>
                              <m:dPr>
                                <m:ctrlPr>
                                  <a:rPr lang="en-US" altLang="ko-KR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ko-KR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nary>
                      <m:naryPr>
                        <m:ctrlPr>
                          <a:rPr lang="en-US" altLang="ko-K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sSup>
                          <m:sSupPr>
                            <m:ctrlPr>
                              <a:rPr lang="en-US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US" altLang="ko-KR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en-US" altLang="ko-KR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l-GR" altLang="ko-KR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𝛬</m:t>
                                        </m:r>
                                      </m:e>
                                      <m:sub>
                                        <m:r>
                                          <a:rPr lang="en-US" altLang="ko-KR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en-US" altLang="ko-KR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l-GR" altLang="ko-KR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𝛬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</m:e>
                            </m:d>
                          </m:sup>
                        </m:sSup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𝑑𝑠</m:t>
                        </m:r>
                      </m:e>
                    </m:nary>
                  </m:oMath>
                </a14:m>
                <a:endParaRPr lang="en-US" altLang="ko-KR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endParaRPr lang="en-US" altLang="ko-KR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r>
                  <a:rPr lang="en-US" altLang="ko-KR" dirty="0">
                    <a:latin typeface="Arial Nova" panose="020B0504020202020204" pitchFamily="34" charset="0"/>
                  </a:rPr>
                  <a:t>Case 1: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 →</m:t>
                    </m:r>
                    <m:r>
                      <a:rPr lang="en-US" altLang="ko-KR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altLang="ko-KR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endParaRPr lang="en-US" altLang="ko-KR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≤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l-GR" altLang="ko-KR" b="0" i="1" smtClean="0">
                                <a:latin typeface="Cambria Math" panose="02040503050406030204" pitchFamily="18" charset="0"/>
                              </a:rPr>
                              <m:t>𝛬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p>
                    </m:sSup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2 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𝐿𝑖𝑝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nary>
                      <m:nary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sSup>
                          <m:sSupPr>
                            <m:ctrlPr>
                              <a:rPr lang="en-US" altLang="ko-KR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ko-KR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−</m:t>
                            </m:r>
                            <m:r>
                              <a:rPr lang="en-US" altLang="ko-KR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en-US" altLang="ko-KR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(</m:t>
                            </m:r>
                            <m:r>
                              <a:rPr lang="en-US" altLang="ko-KR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𝑡</m:t>
                            </m:r>
                            <m:r>
                              <a:rPr lang="en-US" altLang="ko-KR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−</m:t>
                            </m:r>
                            <m:r>
                              <a:rPr lang="en-US" altLang="ko-KR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𝑠</m:t>
                            </m:r>
                            <m:r>
                              <a:rPr lang="en-US" altLang="ko-KR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)</m:t>
                            </m:r>
                          </m:sup>
                        </m:s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𝑑𝑠</m:t>
                        </m:r>
                      </m:e>
                    </m:nary>
                  </m:oMath>
                </a14:m>
                <a:r>
                  <a:rPr lang="en-US" altLang="ko-KR" dirty="0">
                    <a:ea typeface="Cambria Math" panose="02040503050406030204" pitchFamily="18" charset="0"/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≤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2 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𝐿𝑖𝑝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f>
                      <m:fPr>
                        <m:ctrlPr>
                          <a:rPr lang="en-US" altLang="ko-KR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en-US" altLang="ko-KR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ko-KR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R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en-US" altLang="ko-KR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num>
                      <m:den>
                        <m:r>
                          <a:rPr lang="en-US" altLang="ko-KR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den>
                    </m:f>
                  </m:oMath>
                </a14:m>
                <a:endParaRPr lang="en-US" altLang="ko-KR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ko-KR" altLang="en-US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ko-KR" altLang="en-US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≤</m:t>
                    </m:r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2 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𝐿𝑖𝑝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sub>
                            </m:sSub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f>
                      <m:fPr>
                        <m:ctrlPr>
                          <a:rPr lang="en-US" altLang="ko-KR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en-US" altLang="ko-KR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ko-KR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R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en-US" altLang="ko-KR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num>
                      <m:den>
                        <m:r>
                          <a:rPr lang="en-US" altLang="ko-KR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den>
                    </m:f>
                  </m:oMath>
                </a14:m>
                <a:endParaRPr lang="en-US" altLang="ko-KR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𝑠𝑢𝑝</m:t>
                        </m:r>
                      </m:e>
                    </m:func>
                  </m:oMath>
                </a14:m>
                <a:r>
                  <a:rPr lang="en-US" altLang="ko-KR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ko-KR" altLang="en-US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ko-KR" altLang="en-US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≤</m:t>
                    </m:r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2 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𝐿𝑖𝑝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sub>
                            </m:sSub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(1/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endParaRPr lang="en-US" altLang="ko-KR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r>
                  <a:rPr lang="en-US" altLang="ko-KR" dirty="0">
                    <a:latin typeface="Arial Nova" panose="020B0504020202020204" pitchFamily="34" charset="0"/>
                  </a:rPr>
                  <a:t>Case 2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ko-KR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≤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2 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𝐿𝑖𝑝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nary>
                      <m:nary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sSup>
                          <m:sSup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𝑑𝑠</m:t>
                        </m:r>
                      </m:e>
                    </m:nary>
                  </m:oMath>
                </a14:m>
                <a:endParaRPr lang="en-US" altLang="ko-KR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ko-KR" altLang="en-US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ko-KR" altLang="en-US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≤</m:t>
                    </m:r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2 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𝐿𝑖𝑝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𝑓</m:t>
                        </m:r>
                      </m:e>
                    </m:d>
                    <m:d>
                      <m:dPr>
                        <m:begChr m:val="‖"/>
                        <m:endChr m:val="‖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altLang="ko-KR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endParaRPr lang="en-US" altLang="ko-KR" b="1" dirty="0"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F95E298-B1C5-C812-8234-D45C385764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880" y="1125427"/>
                <a:ext cx="11424720" cy="5270674"/>
              </a:xfrm>
              <a:prstGeom prst="rect">
                <a:avLst/>
              </a:prstGeom>
              <a:blipFill>
                <a:blip r:embed="rId3"/>
                <a:stretch>
                  <a:fillRect l="-427" t="-579" b="-32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직사각형 3">
            <a:extLst>
              <a:ext uri="{FF2B5EF4-FFF2-40B4-BE49-F238E27FC236}">
                <a16:creationId xmlns:a16="http://schemas.microsoft.com/office/drawing/2014/main" id="{BC30C37B-FB6C-B694-670E-6ECD455EE4AF}"/>
              </a:ext>
            </a:extLst>
          </p:cNvPr>
          <p:cNvSpPr/>
          <p:nvPr/>
        </p:nvSpPr>
        <p:spPr bwMode="auto">
          <a:xfrm>
            <a:off x="1547062" y="3677363"/>
            <a:ext cx="1151688" cy="412491"/>
          </a:xfrm>
          <a:prstGeom prst="rect">
            <a:avLst/>
          </a:prstGeom>
          <a:solidFill>
            <a:srgbClr val="C00000">
              <a:alpha val="4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 Narrow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A7C04FF-7536-D508-D164-2B4EF3C1C4A4}"/>
                  </a:ext>
                </a:extLst>
              </p:cNvPr>
              <p:cNvSpPr txBox="1"/>
              <p:nvPr/>
            </p:nvSpPr>
            <p:spPr>
              <a:xfrm>
                <a:off x="6172200" y="4986663"/>
                <a:ext cx="5671920" cy="12947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Tx/>
                  <a:buChar char="-"/>
                </a:pPr>
                <a:r>
                  <a:rPr lang="en-US" altLang="ko-KR" dirty="0">
                    <a:latin typeface="Arial Nova" panose="020B0504020202020204" pitchFamily="34" charset="0"/>
                  </a:rPr>
                  <a:t>The fine-tuning solution deviates from the origin under regularization :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ko-KR" altLang="en-US" b="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𝜃</m:t>
                        </m:r>
                        <m:r>
                          <a:rPr lang="en-US" altLang="ko-KR" b="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ko-KR" altLang="en-US" b="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b="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en-US" altLang="ko-KR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r>
                  <a:rPr lang="en-US" altLang="ko-KR" dirty="0">
                    <a:latin typeface="Arial Nova" panose="020B0504020202020204" pitchFamily="34" charset="0"/>
                  </a:rPr>
                  <a:t>But this deviation can be bounded, by the UB </a:t>
                </a:r>
                <a14:m>
                  <m:oMath xmlns:m="http://schemas.openxmlformats.org/officeDocument/2006/math">
                    <m:r>
                      <a:rPr lang="en-US" altLang="ko-KR" b="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2 </m:t>
                    </m:r>
                    <m:r>
                      <a:rPr lang="en-US" altLang="ko-KR" b="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𝐿𝑖𝑝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𝑓</m:t>
                        </m:r>
                      </m:e>
                    </m:d>
                    <m:d>
                      <m:dPr>
                        <m:begChr m:val="‖"/>
                        <m:endChr m:val="‖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nary>
                      <m:nary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b="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l-GR" altLang="ko-KR" b="0" i="1">
                                        <a:latin typeface="Cambria Math" panose="02040503050406030204" pitchFamily="18" charset="0"/>
                                      </a:rPr>
                                      <m:t>𝛬</m:t>
                                    </m:r>
                                  </m:e>
                                  <m:sub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l-GR" altLang="ko-KR" b="0" i="1">
                                        <a:latin typeface="Cambria Math" panose="02040503050406030204" pitchFamily="18" charset="0"/>
                                      </a:rPr>
                                      <m:t>𝛬</m:t>
                                    </m:r>
                                  </m:e>
                                  <m:sub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</m:e>
                            </m:d>
                          </m:sup>
                        </m:sSup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𝑑𝑠</m:t>
                        </m:r>
                      </m:e>
                    </m:nary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A7C04FF-7536-D508-D164-2B4EF3C1C4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200" y="4986663"/>
                <a:ext cx="5671920" cy="1294778"/>
              </a:xfrm>
              <a:prstGeom prst="rect">
                <a:avLst/>
              </a:prstGeom>
              <a:blipFill>
                <a:blip r:embed="rId4"/>
                <a:stretch>
                  <a:fillRect l="-968" t="-1887" b="-6132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B22EB79-5E1E-4D29-D1D9-42D5CC24D46D}"/>
              </a:ext>
            </a:extLst>
          </p:cNvPr>
          <p:cNvSpPr/>
          <p:nvPr/>
        </p:nvSpPr>
        <p:spPr bwMode="auto">
          <a:xfrm>
            <a:off x="6096000" y="4929298"/>
            <a:ext cx="5783880" cy="1379220"/>
          </a:xfrm>
          <a:prstGeom prst="roundRect">
            <a:avLst>
              <a:gd name="adj" fmla="val 7919"/>
            </a:avLst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pic>
        <p:nvPicPr>
          <p:cNvPr id="1026" name="Picture 2" descr="Check ">
            <a:extLst>
              <a:ext uri="{FF2B5EF4-FFF2-40B4-BE49-F238E27FC236}">
                <a16:creationId xmlns:a16="http://schemas.microsoft.com/office/drawing/2014/main" id="{881F3189-6539-686C-FD01-C96A158E90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2900" y="4552320"/>
            <a:ext cx="480036" cy="480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4089459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F1AF1-C81E-E5DB-D5C4-8D8608B13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5FF4F00B-EECC-07FE-D834-566647D5D803}"/>
              </a:ext>
            </a:extLst>
          </p:cNvPr>
          <p:cNvSpPr/>
          <p:nvPr/>
        </p:nvSpPr>
        <p:spPr bwMode="auto">
          <a:xfrm>
            <a:off x="347880" y="1096852"/>
            <a:ext cx="11424720" cy="1179083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E351AA5-34AB-15F7-9CD4-F5D052C69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00" y="144463"/>
            <a:ext cx="11424720" cy="752792"/>
          </a:xfrm>
        </p:spPr>
        <p:txBody>
          <a:bodyPr/>
          <a:lstStyle/>
          <a:p>
            <a:r>
              <a:rPr lang="en-US" altLang="ko-KR" dirty="0"/>
              <a:t>Theorem 3. UB on Distance between Parameters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548C54-0DF5-483B-5A5C-6C7F671FBE7E}"/>
              </a:ext>
            </a:extLst>
          </p:cNvPr>
          <p:cNvSpPr txBox="1"/>
          <p:nvPr/>
        </p:nvSpPr>
        <p:spPr>
          <a:xfrm>
            <a:off x="0" y="6590426"/>
            <a:ext cx="114247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Afzal, Zahra Rahimi, et al. "Linearization Explains Fine-Tuning in Large Language Models." </a:t>
            </a:r>
            <a:r>
              <a:rPr lang="en-US" altLang="ko-KR" sz="1000" i="1" dirty="0">
                <a:solidFill>
                  <a:schemeClr val="bg1">
                    <a:lumMod val="65000"/>
                  </a:schemeClr>
                </a:solidFill>
              </a:rPr>
              <a:t>The 39th Annual Conference on </a:t>
            </a:r>
            <a:r>
              <a:rPr lang="en-US" altLang="ko-KR" sz="1000" i="1" dirty="0" err="1">
                <a:solidFill>
                  <a:schemeClr val="bg1">
                    <a:lumMod val="65000"/>
                  </a:schemeClr>
                </a:solidFill>
              </a:rPr>
              <a:t>NeurIPS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1000" dirty="0">
              <a:solidFill>
                <a:schemeClr val="bg1">
                  <a:lumMod val="6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4804E01-4E68-3382-9D58-FB742B92999F}"/>
                  </a:ext>
                </a:extLst>
              </p:cNvPr>
              <p:cNvSpPr txBox="1"/>
              <p:nvPr/>
            </p:nvSpPr>
            <p:spPr>
              <a:xfrm>
                <a:off x="347880" y="1125427"/>
                <a:ext cx="11424720" cy="52348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Tx/>
                  <a:buChar char="-"/>
                </a:pPr>
                <a:r>
                  <a:rPr lang="en-US" altLang="ko-KR" b="1" dirty="0">
                    <a:latin typeface="Arial Nova" panose="020B0504020202020204" pitchFamily="34" charset="0"/>
                  </a:rPr>
                  <a:t>Under the squared loss,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ko-KR" b="1">
                        <a:latin typeface="Cambria Math" panose="02040503050406030204" pitchFamily="18" charset="0"/>
                      </a:rPr>
                      <m:t>𝛁</m:t>
                    </m:r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are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𝑳𝒊𝒑</m:t>
                    </m:r>
                    <m:d>
                      <m:d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</m:d>
                    <m:r>
                      <a:rPr lang="en-US" altLang="ko-KR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𝑳𝒊𝒑𝒔𝒄𝒉𝒊𝒕𝒛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𝑳𝒊𝒑</m:t>
                    </m:r>
                    <m:d>
                      <m:d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b="1" i="1" smtClean="0">
                            <a:latin typeface="Cambria Math" panose="02040503050406030204" pitchFamily="18" charset="0"/>
                          </a:rPr>
                          <m:t>∇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</m:d>
                    <m:r>
                      <a:rPr lang="en-US" altLang="ko-KR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𝑳𝒊𝒑𝒔𝒄𝒉𝒊𝒕𝒛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 in 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𝒍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𝒃𝒂𝒍𝒍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of radius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𝝉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around pretrained parameters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,</a:t>
                </a: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𝜽</m:t>
                                </m:r>
                              </m:e>
                              <m:sub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</m:e>
                            </m:acc>
                          </m:e>
                          <m:sub>
                            <m:sSub>
                              <m:sSubPr>
                                <m:ctrlP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b>
                            </m:sSub>
                          </m:sub>
                        </m:s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𝒃</m:t>
                    </m:r>
                    <m:d>
                      <m:dPr>
                        <m:ctrlPr>
                          <a:rPr lang="en-US" altLang="ko-K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𝒕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ko-KR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𝒆</m:t>
                                </m:r>
                              </m:e>
                              <m:sup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𝝀</m:t>
                                </m:r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𝒕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𝝀</m:t>
                            </m:r>
                          </m:den>
                        </m:f>
                      </m:e>
                    </m:d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𝑳𝒊𝒑</m:t>
                    </m:r>
                    <m:sSup>
                      <m:sSup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</m:d>
                      </m:e>
                      <m:sup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d>
                      <m:dPr>
                        <m:begChr m:val="‖"/>
                        <m:endChr m:val="‖"/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𝜽</m:t>
                                </m:r>
                              </m:e>
                              <m:sub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p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num>
                      <m:den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𝝀</m:t>
                        </m:r>
                      </m:den>
                    </m:f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𝑳𝒊𝒑</m:t>
                    </m:r>
                    <m:d>
                      <m:d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𝜵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</m:d>
                    <m:d>
                      <m:dPr>
                        <m:begChr m:val="‖"/>
                        <m:endChr m:val="‖"/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𝜽</m:t>
                                </m:r>
                              </m:e>
                              <m:sub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p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b="1" i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endParaRPr lang="en-US" altLang="ko-KR" b="1" i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ko-KR" i="1" dirty="0">
                    <a:latin typeface="Arial Nova" panose="020B0504020202020204" pitchFamily="34" charset="0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d>
                      <m:d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</m:e>
                      <m:sub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→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d>
                      <m:dPr>
                        <m:ctrlPr>
                          <a:rPr lang="en-US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altLang="ko-KR" i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Sup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  <m:sub>
                        <m:r>
                          <a:rPr lang="en-US" altLang="ko-KR" b="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  <m:sup>
                        <m:r>
                          <a:rPr lang="en-US" altLang="ko-KR" b="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p>
                    </m:sSubSup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𝑦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altLang="ko-KR" b="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US" altLang="ko-KR" b="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  <m:sup>
                        <m:r>
                          <a:rPr lang="en-US" altLang="ko-KR" b="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p>
                    </m:sSubSup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⟨"/>
                        <m:endChr m:val="⟩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′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,</m:t>
                        </m:r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⟨"/>
                        <m:endChr m:val="⟩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 ,</m:t>
                        </m:r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′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′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</m:oMath>
                </a14:m>
                <a:endParaRPr lang="en-US" altLang="ko-KR" i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altLang="ko-KR" b="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 ′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 ,</m:t>
                        </m:r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ctrlPr>
                              <a:rPr lang="en-US" altLang="ko-KR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d>
                              <m:dPr>
                                <m:ctrlPr>
                                  <a:rPr lang="en-US" altLang="ko-KR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altLang="ko-KR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ko-KR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ko-KR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∇</m:t>
                        </m:r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atin typeface="Cambria Math" panose="02040503050406030204" pitchFamily="18" charset="0"/>
                              </a:rPr>
                              <m:t>f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  <m:d>
                          <m:d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ko-KR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2(</m:t>
                        </m:r>
                        <m:acc>
                          <m:accPr>
                            <m:chr m:val="̅"/>
                            <m:ctrlPr>
                              <a:rPr lang="en-US" altLang="ko-KR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d>
                          <m:dPr>
                            <m:ctrlPr>
                              <a:rPr lang="en-US" altLang="ko-KR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ko-KR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ko-KR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ko-KR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altLang="ko-KR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altLang="ko-KR" b="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</m:oMath>
                </a14:m>
                <a:endParaRPr lang="en-US" altLang="ko-KR" i="1" dirty="0">
                  <a:latin typeface="Arial Nova" panose="020B0504020202020204" pitchFamily="34" charset="0"/>
                </a:endParaRPr>
              </a:p>
              <a:p>
                <a:pPr marL="742950" lvl="1" indent="-285750">
                  <a:buFontTx/>
                  <a:buChar char="-"/>
                </a:pPr>
                <a:r>
                  <a:rPr lang="en-US" altLang="ko-KR" dirty="0">
                    <a:latin typeface="Arial Nova" panose="020B0504020202020204" pitchFamily="34" charset="0"/>
                  </a:rPr>
                  <a:t>Theorem 1</a:t>
                </a:r>
                <a:r>
                  <a:rPr lang="en-US" altLang="ko-KR" i="1" dirty="0">
                    <a:latin typeface="Arial Nova" panose="020B0504020202020204" pitchFamily="34" charset="0"/>
                  </a:rPr>
                  <a:t> </a:t>
                </a:r>
                <a:r>
                  <a:rPr lang="en-US" altLang="ko-KR" dirty="0">
                    <a:latin typeface="Arial Nova" panose="020B0504020202020204" pitchFamily="34" charset="0"/>
                  </a:rPr>
                  <a:t>:</a:t>
                </a:r>
                <a:r>
                  <a:rPr lang="en-US" altLang="ko-KR" i="1" dirty="0">
                    <a:latin typeface="Arial Nova" panose="020B050402020202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altLang="ko-KR" b="0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ko-KR" b="0" i="1">
                        <a:latin typeface="Cambria Math" panose="02040503050406030204" pitchFamily="18" charset="0"/>
                      </a:rPr>
                      <m:t>= −(2</m:t>
                    </m:r>
                    <m:sSub>
                      <m:sSubPr>
                        <m:ctrlP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ko-KR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b="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>
                        <a:latin typeface="Cambria Math" panose="02040503050406030204" pitchFamily="18" charset="0"/>
                      </a:rPr>
                      <m:t>𝜆𝛻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ko-KR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>
                  <a:latin typeface="Arial Nova" panose="020B0504020202020204" pitchFamily="34" charset="0"/>
                </a:endParaRPr>
              </a:p>
              <a:p>
                <a:pPr lvl="1"/>
                <a:r>
                  <a:rPr lang="en-US" altLang="ko-KR" dirty="0">
                    <a:latin typeface="Arial Nova" panose="020B0504020202020204" pitchFamily="34" charset="0"/>
                  </a:rPr>
                  <a:t>                    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acc>
                      <m:accPr>
                        <m:chr m:val="̅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b="0" i="1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0" i="1">
                        <a:latin typeface="Cambria Math" panose="02040503050406030204" pitchFamily="18" charset="0"/>
                      </a:rPr>
                      <m:t>𝜆𝛻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</m:e>
                      <m:sub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ko-KR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i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endParaRPr lang="en-US" altLang="ko-KR" i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r>
                  <a:rPr lang="en-US" altLang="ko-KR" dirty="0">
                    <a:latin typeface="Arial Nova" panose="020B0504020202020204" pitchFamily="34" charset="0"/>
                  </a:rPr>
                  <a:t>Simplification :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ko-KR" b="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b="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en-US" altLang="ko-KR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altLang="ko-KR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ko-KR" b="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ko-KR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ko-KR" b="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en-US" altLang="ko-KR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ko-KR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d>
                          <m:dPr>
                            <m:ctrlPr>
                              <a:rPr lang="en-US" altLang="ko-KR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ko-KR" b="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ko-KR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ko-KR" b="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endParaRPr lang="en-US" altLang="ko-KR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b="0" i="1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b="0" i="1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b="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b="0" i="1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endParaRPr lang="en-US" altLang="ko-KR" i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altLang="ko-KR" b="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altLang="ko-KR" b="0" i="1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0" i="1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i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endParaRPr lang="en-US" altLang="ko-KR" b="1" i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endParaRPr lang="en-US" altLang="ko-KR" b="1" i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endParaRPr lang="en-US" altLang="ko-KR" b="1" i="1" dirty="0"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4804E01-4E68-3382-9D58-FB742B9299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880" y="1125427"/>
                <a:ext cx="11424720" cy="5234895"/>
              </a:xfrm>
              <a:prstGeom prst="rect">
                <a:avLst/>
              </a:prstGeom>
              <a:blipFill>
                <a:blip r:embed="rId3"/>
                <a:stretch>
                  <a:fillRect l="-427" t="-69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직사각형 5">
            <a:extLst>
              <a:ext uri="{FF2B5EF4-FFF2-40B4-BE49-F238E27FC236}">
                <a16:creationId xmlns:a16="http://schemas.microsoft.com/office/drawing/2014/main" id="{07FC2A90-2BDA-EA31-C263-94ED46B3053D}"/>
              </a:ext>
            </a:extLst>
          </p:cNvPr>
          <p:cNvSpPr/>
          <p:nvPr/>
        </p:nvSpPr>
        <p:spPr bwMode="auto">
          <a:xfrm>
            <a:off x="1026362" y="3222754"/>
            <a:ext cx="535738" cy="412491"/>
          </a:xfrm>
          <a:prstGeom prst="rect">
            <a:avLst/>
          </a:prstGeom>
          <a:solidFill>
            <a:schemeClr val="accent1">
              <a:lumMod val="60000"/>
              <a:lumOff val="40000"/>
              <a:alpha val="4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 Narrow" pitchFamily="34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1A76DD4-7EAE-3698-7E54-F6DBD917CA6C}"/>
              </a:ext>
            </a:extLst>
          </p:cNvPr>
          <p:cNvSpPr/>
          <p:nvPr/>
        </p:nvSpPr>
        <p:spPr bwMode="auto">
          <a:xfrm>
            <a:off x="4025266" y="3206522"/>
            <a:ext cx="3805988" cy="412491"/>
          </a:xfrm>
          <a:prstGeom prst="rect">
            <a:avLst/>
          </a:prstGeom>
          <a:solidFill>
            <a:schemeClr val="accent1">
              <a:lumMod val="60000"/>
              <a:lumOff val="40000"/>
              <a:alpha val="4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 Narrow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765B7E8-FCD0-CD36-2DF2-0511EB4435D7}"/>
              </a:ext>
            </a:extLst>
          </p:cNvPr>
          <p:cNvSpPr/>
          <p:nvPr/>
        </p:nvSpPr>
        <p:spPr bwMode="auto">
          <a:xfrm>
            <a:off x="1769312" y="3222753"/>
            <a:ext cx="542088" cy="412491"/>
          </a:xfrm>
          <a:prstGeom prst="rect">
            <a:avLst/>
          </a:prstGeom>
          <a:solidFill>
            <a:schemeClr val="accent3">
              <a:alpha val="4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 Narrow" pitchFamily="34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AA0F4ED-804F-8952-A0FF-528752FAC96C}"/>
              </a:ext>
            </a:extLst>
          </p:cNvPr>
          <p:cNvSpPr/>
          <p:nvPr/>
        </p:nvSpPr>
        <p:spPr bwMode="auto">
          <a:xfrm>
            <a:off x="8125662" y="3206521"/>
            <a:ext cx="1532688" cy="412491"/>
          </a:xfrm>
          <a:prstGeom prst="rect">
            <a:avLst/>
          </a:prstGeom>
          <a:solidFill>
            <a:schemeClr val="accent3">
              <a:alpha val="4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 Narrow" pitchFamily="34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1AA819E-9D17-4C05-7E92-7B957F53929E}"/>
              </a:ext>
            </a:extLst>
          </p:cNvPr>
          <p:cNvSpPr/>
          <p:nvPr/>
        </p:nvSpPr>
        <p:spPr bwMode="auto">
          <a:xfrm>
            <a:off x="2810712" y="4873268"/>
            <a:ext cx="1583488" cy="332448"/>
          </a:xfrm>
          <a:prstGeom prst="rect">
            <a:avLst/>
          </a:prstGeom>
          <a:solidFill>
            <a:srgbClr val="C00000">
              <a:alpha val="4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 Narrow" pitchFamily="34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5A29CD8-1671-13E1-D783-EE2DEDB2763B}"/>
              </a:ext>
            </a:extLst>
          </p:cNvPr>
          <p:cNvSpPr/>
          <p:nvPr/>
        </p:nvSpPr>
        <p:spPr bwMode="auto">
          <a:xfrm>
            <a:off x="4476752" y="4878334"/>
            <a:ext cx="1670048" cy="332448"/>
          </a:xfrm>
          <a:prstGeom prst="rect">
            <a:avLst/>
          </a:prstGeom>
          <a:solidFill>
            <a:srgbClr val="C00000">
              <a:alpha val="4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1347812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48146-C3C4-06D7-0D23-5629FC1F0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93FEF1C7-9ABD-9E78-361C-13121FCB5F21}"/>
              </a:ext>
            </a:extLst>
          </p:cNvPr>
          <p:cNvSpPr/>
          <p:nvPr/>
        </p:nvSpPr>
        <p:spPr bwMode="auto">
          <a:xfrm>
            <a:off x="347880" y="1096852"/>
            <a:ext cx="11424720" cy="1179083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B3B19E6-596F-8EF6-5A46-26BDF5821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00" y="144463"/>
            <a:ext cx="11424720" cy="752792"/>
          </a:xfrm>
        </p:spPr>
        <p:txBody>
          <a:bodyPr/>
          <a:lstStyle/>
          <a:p>
            <a:r>
              <a:rPr lang="en-US" altLang="ko-KR" dirty="0"/>
              <a:t>Theorem 3. UB on Distance between Parameters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D6BC25-C8CC-8F5D-C2D8-338EEE1F79F3}"/>
              </a:ext>
            </a:extLst>
          </p:cNvPr>
          <p:cNvSpPr txBox="1"/>
          <p:nvPr/>
        </p:nvSpPr>
        <p:spPr>
          <a:xfrm>
            <a:off x="0" y="6590426"/>
            <a:ext cx="114247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Afzal, Zahra Rahimi, et al. "Linearization Explains Fine-Tuning in Large Language Models." </a:t>
            </a:r>
            <a:r>
              <a:rPr lang="en-US" altLang="ko-KR" sz="1000" i="1" dirty="0">
                <a:solidFill>
                  <a:schemeClr val="bg1">
                    <a:lumMod val="65000"/>
                  </a:schemeClr>
                </a:solidFill>
              </a:rPr>
              <a:t>The 39th Annual Conference on </a:t>
            </a:r>
            <a:r>
              <a:rPr lang="en-US" altLang="ko-KR" sz="1000" i="1" dirty="0" err="1">
                <a:solidFill>
                  <a:schemeClr val="bg1">
                    <a:lumMod val="65000"/>
                  </a:schemeClr>
                </a:solidFill>
              </a:rPr>
              <a:t>NeurIPS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1000" dirty="0">
              <a:solidFill>
                <a:schemeClr val="bg1">
                  <a:lumMod val="6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00DD4B7-5727-BC98-D8BD-B47E852C3287}"/>
                  </a:ext>
                </a:extLst>
              </p:cNvPr>
              <p:cNvSpPr txBox="1"/>
              <p:nvPr/>
            </p:nvSpPr>
            <p:spPr>
              <a:xfrm>
                <a:off x="347880" y="1125427"/>
                <a:ext cx="11424720" cy="47361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Tx/>
                  <a:buChar char="-"/>
                </a:pPr>
                <a:r>
                  <a:rPr lang="en-US" altLang="ko-KR" b="1" dirty="0">
                    <a:latin typeface="Arial Nova" panose="020B0504020202020204" pitchFamily="34" charset="0"/>
                  </a:rPr>
                  <a:t>Under the squared loss,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ko-KR" b="1">
                        <a:latin typeface="Cambria Math" panose="02040503050406030204" pitchFamily="18" charset="0"/>
                      </a:rPr>
                      <m:t>𝛁</m:t>
                    </m:r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are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𝑳𝒊𝒑</m:t>
                    </m:r>
                    <m:d>
                      <m:d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</m:d>
                    <m:r>
                      <a:rPr lang="en-US" altLang="ko-KR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𝑳𝒊𝒑𝒔𝒄𝒉𝒊𝒕𝒛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𝑳𝒊𝒑</m:t>
                    </m:r>
                    <m:d>
                      <m:d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b="1" i="1" smtClean="0">
                            <a:latin typeface="Cambria Math" panose="02040503050406030204" pitchFamily="18" charset="0"/>
                          </a:rPr>
                          <m:t>∇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</m:d>
                    <m:r>
                      <a:rPr lang="en-US" altLang="ko-KR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𝑳𝒊𝒑𝒔𝒄𝒉𝒊𝒕𝒛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 in 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𝒍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𝒃𝒂𝒍𝒍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of radius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𝝉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around pretrained parameters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,</a:t>
                </a: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𝜽</m:t>
                                </m:r>
                              </m:e>
                              <m:sub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</m:e>
                            </m:acc>
                          </m:e>
                          <m:sub>
                            <m:sSub>
                              <m:sSubPr>
                                <m:ctrlP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b>
                            </m:sSub>
                          </m:sub>
                        </m:s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𝒃</m:t>
                    </m:r>
                    <m:d>
                      <m:dPr>
                        <m:ctrlPr>
                          <a:rPr lang="en-US" altLang="ko-K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𝒕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ko-KR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𝒆</m:t>
                                </m:r>
                              </m:e>
                              <m:sup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𝝀</m:t>
                                </m:r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𝒕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𝝀</m:t>
                            </m:r>
                          </m:den>
                        </m:f>
                      </m:e>
                    </m:d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𝑳𝒊𝒑</m:t>
                    </m:r>
                    <m:sSup>
                      <m:sSup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</m:d>
                      </m:e>
                      <m:sup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d>
                      <m:dPr>
                        <m:begChr m:val="‖"/>
                        <m:endChr m:val="‖"/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𝜽</m:t>
                                </m:r>
                              </m:e>
                              <m:sub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p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num>
                      <m:den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𝝀</m:t>
                        </m:r>
                      </m:den>
                    </m:f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𝑳𝒊𝒑</m:t>
                    </m:r>
                    <m:d>
                      <m:d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𝜵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</m:d>
                    <m:d>
                      <m:dPr>
                        <m:begChr m:val="‖"/>
                        <m:endChr m:val="‖"/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𝜽</m:t>
                                </m:r>
                              </m:e>
                              <m:sub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p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b="1" i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endParaRPr lang="en-US" altLang="ko-KR" b="1" i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Sup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  <m:sub>
                        <m:r>
                          <a:rPr lang="en-US" altLang="ko-KR" b="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  <m:sup>
                        <m:r>
                          <a:rPr lang="en-US" altLang="ko-KR" b="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p>
                    </m:sSub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ctrlPr>
                              <a:rPr lang="en-US" altLang="ko-KR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d>
                              <m:dPr>
                                <m:ctrlPr>
                                  <a:rPr lang="en-US" altLang="ko-KR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altLang="ko-KR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ko-KR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ko-KR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m:rPr>
                            <m:sty m:val="p"/>
                          </m:rPr>
                          <a:rPr lang="en-US" altLang="ko-KR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  <m:sSub>
                          <m:sSubPr>
                            <m:ctrlPr>
                              <a:rPr lang="en-US" altLang="ko-K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f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ctrlPr>
                              <a:rPr lang="en-US" altLang="ko-K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ko-K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  <m:d>
                          <m:dPr>
                            <m:ctrlPr>
                              <a:rPr lang="en-US" altLang="ko-K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ko-K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ko-KR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2(</m:t>
                        </m:r>
                        <m:acc>
                          <m:accPr>
                            <m:chr m:val="̅"/>
                            <m:ctrlPr>
                              <a:rPr lang="en-US" altLang="ko-KR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d>
                          <m:dPr>
                            <m:ctrlPr>
                              <a:rPr lang="en-US" altLang="ko-KR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ko-KR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ko-KR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ko-KR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altLang="ko-KR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altLang="ko-KR" b="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ko-KR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US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d>
                          <m:dPr>
                            <m:ctrlPr>
                              <a:rPr lang="en-US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</m:oMath>
                </a14:m>
                <a:endParaRPr lang="en-US" altLang="ko-KR" i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ko-KR" b="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b="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en-US" altLang="ko-KR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altLang="ko-KR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ko-KR" b="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ko-KR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ko-KR" b="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en-US" altLang="ko-KR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ko-KR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d>
                          <m:dPr>
                            <m:ctrlPr>
                              <a:rPr lang="en-US" altLang="ko-KR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ko-KR" b="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ko-KR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ko-KR" b="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b="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altLang="ko-KR" b="0" i="1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0" i="1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i="1" dirty="0">
                  <a:latin typeface="Arial Nova" panose="020B0504020202020204" pitchFamily="34" charset="0"/>
                </a:endParaRPr>
              </a:p>
              <a:p>
                <a:endParaRPr lang="en-US" altLang="ko-KR" i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r>
                  <a:rPr lang="en-US" altLang="ko-KR" dirty="0">
                    <a:latin typeface="Arial Nova" panose="020B0504020202020204" pitchFamily="34" charset="0"/>
                  </a:rPr>
                  <a:t>Substitution 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Sup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  <m:sub>
                        <m:r>
                          <a:rPr lang="en-US" altLang="ko-KR" b="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  <m:sup>
                        <m:r>
                          <a:rPr lang="en-US" altLang="ko-KR" b="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p>
                    </m:sSubSup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m:rPr>
                            <m:sty m:val="p"/>
                          </m:rPr>
                          <a:rPr lang="en-US" altLang="ko-KR" b="0" i="1">
                            <a:latin typeface="Cambria Math" panose="02040503050406030204" pitchFamily="18" charset="0"/>
                          </a:rPr>
                          <m:t>∇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f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⟨"/>
                        <m:endChr m:val="⟩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(2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−2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),</m:t>
                        </m:r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</m:oMath>
                </a14:m>
                <a:endParaRPr lang="en-US" altLang="ko-KR" i="1" dirty="0">
                  <a:latin typeface="Arial Nova" panose="020B0504020202020204" pitchFamily="34" charset="0"/>
                </a:endParaRPr>
              </a:p>
              <a:p>
                <a:pPr marL="742950" lvl="1" indent="-285750">
                  <a:buFontTx/>
                  <a:buChar char="-"/>
                </a:pP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(2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−2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),</m:t>
                        </m:r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=−2</m:t>
                    </m:r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⏉</m:t>
                        </m:r>
                      </m:sup>
                    </m:sSup>
                    <m:sSub>
                      <m:sSubPr>
                        <m:ctrlPr>
                          <a:rPr lang="en-US" altLang="ko-KR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ko-KR" b="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ko-KR" b="0" i="1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≤0</m:t>
                    </m:r>
                  </m:oMath>
                </a14:m>
                <a:endParaRPr lang="en-US" altLang="ko-KR" i="1" dirty="0">
                  <a:latin typeface="Arial Nova" panose="020B0504020202020204" pitchFamily="34" charset="0"/>
                  <a:ea typeface="Cambria Math" panose="02040503050406030204" pitchFamily="18" charset="0"/>
                </a:endParaRPr>
              </a:p>
              <a:p>
                <a:pPr marL="742950" lvl="1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(∵</m:t>
                    </m:r>
                    <m:r>
                      <m:rPr>
                        <m:sty m:val="p"/>
                      </m:rPr>
                      <a:rPr lang="en-US" altLang="ko-KR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∇</m:t>
                    </m:r>
                    <m:sSub>
                      <m:sSubPr>
                        <m:ctrlPr>
                          <a:rPr lang="en-US" altLang="ko-KR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sSub>
                          <m:sSubPr>
                            <m:ctrlPr>
                              <a:rPr lang="en-US" altLang="ko-KR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</m:sSub>
                    <m:sSup>
                      <m:sSupPr>
                        <m:ctrlPr>
                          <a:rPr lang="en-US" altLang="ko-KR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ko-KR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ko-KR" b="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ko-KR" b="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⏉</m:t>
                        </m:r>
                      </m:sup>
                    </m:sSup>
                  </m:oMath>
                </a14:m>
                <a:r>
                  <a:rPr lang="en-US" altLang="ko-KR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∇</m:t>
                    </m:r>
                    <m:sSub>
                      <m:sSubPr>
                        <m:ctrlPr>
                          <a:rPr lang="en-US" altLang="ko-KR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sSub>
                          <m:sSubPr>
                            <m:ctrlPr>
                              <a:rPr lang="en-US" altLang="ko-KR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b="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</m:sSub>
                    <m:sSup>
                      <m:sSupPr>
                        <m:ctrlPr>
                          <a:rPr lang="en-US" altLang="ko-KR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ko-KR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ko-KR" b="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ko-KR" b="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⏉</m:t>
                        </m:r>
                      </m:sup>
                    </m:sSup>
                  </m:oMath>
                </a14:m>
                <a:r>
                  <a:rPr lang="en-US" altLang="ko-KR" dirty="0">
                    <a:latin typeface="Arial Nova" panose="020B0504020202020204" pitchFamily="34" charset="0"/>
                  </a:rPr>
                  <a:t> is positive semidefinite)</a:t>
                </a:r>
              </a:p>
              <a:p>
                <a:pPr marL="285750" indent="-285750">
                  <a:buFontTx/>
                  <a:buChar char="-"/>
                </a:pPr>
                <a:endParaRPr lang="en-US" altLang="ko-KR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∴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Sup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  <m:sub>
                        <m:r>
                          <a:rPr lang="en-US" altLang="ko-KR" b="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  <m:sup>
                        <m:r>
                          <a:rPr lang="en-US" altLang="ko-KR" b="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p>
                    </m:sSubSup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≤</m:t>
                    </m:r>
                    <m:d>
                      <m:dPr>
                        <m:begChr m:val="⟨"/>
                        <m:endChr m:val="⟩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m:rPr>
                            <m:sty m:val="p"/>
                          </m:rPr>
                          <a:rPr lang="en-US" altLang="ko-KR" b="0" i="1">
                            <a:latin typeface="Cambria Math" panose="02040503050406030204" pitchFamily="18" charset="0"/>
                          </a:rPr>
                          <m:t>∇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f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</m:oMath>
                </a14:m>
                <a:endParaRPr lang="en-US" altLang="ko-KR" i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endParaRPr lang="en-US" altLang="ko-KR" b="1" i="1" dirty="0"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00DD4B7-5727-BC98-D8BD-B47E852C32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880" y="1125427"/>
                <a:ext cx="11424720" cy="4736105"/>
              </a:xfrm>
              <a:prstGeom prst="rect">
                <a:avLst/>
              </a:prstGeom>
              <a:blipFill>
                <a:blip r:embed="rId3"/>
                <a:stretch>
                  <a:fillRect l="-427" t="-77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직사각형 4">
            <a:extLst>
              <a:ext uri="{FF2B5EF4-FFF2-40B4-BE49-F238E27FC236}">
                <a16:creationId xmlns:a16="http://schemas.microsoft.com/office/drawing/2014/main" id="{3D55CAC8-6561-1796-7E64-C2F7A51130EB}"/>
              </a:ext>
            </a:extLst>
          </p:cNvPr>
          <p:cNvSpPr/>
          <p:nvPr/>
        </p:nvSpPr>
        <p:spPr bwMode="auto">
          <a:xfrm>
            <a:off x="4387216" y="2869337"/>
            <a:ext cx="2229484" cy="412491"/>
          </a:xfrm>
          <a:prstGeom prst="rect">
            <a:avLst/>
          </a:prstGeom>
          <a:solidFill>
            <a:schemeClr val="accent1">
              <a:lumMod val="60000"/>
              <a:lumOff val="40000"/>
              <a:alpha val="4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 Narrow" pitchFamily="34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30909DD-7D31-D884-5C31-0C8121D263F1}"/>
              </a:ext>
            </a:extLst>
          </p:cNvPr>
          <p:cNvSpPr/>
          <p:nvPr/>
        </p:nvSpPr>
        <p:spPr bwMode="auto">
          <a:xfrm>
            <a:off x="6801262" y="2869337"/>
            <a:ext cx="3299609" cy="412491"/>
          </a:xfrm>
          <a:prstGeom prst="rect">
            <a:avLst/>
          </a:prstGeom>
          <a:solidFill>
            <a:schemeClr val="accent3">
              <a:alpha val="4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 Narrow" pitchFamily="34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096C0FC-DBED-20B3-1F40-BD21DD24D59C}"/>
              </a:ext>
            </a:extLst>
          </p:cNvPr>
          <p:cNvSpPr/>
          <p:nvPr/>
        </p:nvSpPr>
        <p:spPr bwMode="auto">
          <a:xfrm>
            <a:off x="3272474" y="3472047"/>
            <a:ext cx="2229484" cy="412491"/>
          </a:xfrm>
          <a:prstGeom prst="rect">
            <a:avLst/>
          </a:prstGeom>
          <a:solidFill>
            <a:schemeClr val="accent1">
              <a:lumMod val="60000"/>
              <a:lumOff val="40000"/>
              <a:alpha val="4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 Narrow" pitchFamily="34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8D01DA1-EF41-8D16-719A-A9BC039F0457}"/>
              </a:ext>
            </a:extLst>
          </p:cNvPr>
          <p:cNvSpPr/>
          <p:nvPr/>
        </p:nvSpPr>
        <p:spPr bwMode="auto">
          <a:xfrm>
            <a:off x="9101941" y="3493479"/>
            <a:ext cx="1997860" cy="412491"/>
          </a:xfrm>
          <a:prstGeom prst="rect">
            <a:avLst/>
          </a:prstGeom>
          <a:solidFill>
            <a:schemeClr val="accent3">
              <a:alpha val="4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 Narrow" pitchFamily="34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5BD8004-2446-9E89-D7FA-DB80EA382D9F}"/>
              </a:ext>
            </a:extLst>
          </p:cNvPr>
          <p:cNvSpPr/>
          <p:nvPr/>
        </p:nvSpPr>
        <p:spPr bwMode="auto">
          <a:xfrm>
            <a:off x="669141" y="3803474"/>
            <a:ext cx="1413659" cy="412491"/>
          </a:xfrm>
          <a:prstGeom prst="rect">
            <a:avLst/>
          </a:prstGeom>
          <a:solidFill>
            <a:schemeClr val="accent3">
              <a:alpha val="4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 Narrow" pitchFamily="34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C9C4079-5E09-2B09-F05D-1F517B7DD5C7}"/>
              </a:ext>
            </a:extLst>
          </p:cNvPr>
          <p:cNvSpPr/>
          <p:nvPr/>
        </p:nvSpPr>
        <p:spPr bwMode="auto">
          <a:xfrm>
            <a:off x="3596490" y="2456845"/>
            <a:ext cx="2156610" cy="412491"/>
          </a:xfrm>
          <a:prstGeom prst="rect">
            <a:avLst/>
          </a:prstGeom>
          <a:solidFill>
            <a:schemeClr val="accent4">
              <a:alpha val="4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 Narrow" pitchFamily="34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73E9B5C-FC5B-B675-E373-91638D358CD8}"/>
              </a:ext>
            </a:extLst>
          </p:cNvPr>
          <p:cNvSpPr/>
          <p:nvPr/>
        </p:nvSpPr>
        <p:spPr bwMode="auto">
          <a:xfrm>
            <a:off x="5501958" y="3472047"/>
            <a:ext cx="2156610" cy="412491"/>
          </a:xfrm>
          <a:prstGeom prst="rect">
            <a:avLst/>
          </a:prstGeom>
          <a:solidFill>
            <a:schemeClr val="accent4">
              <a:alpha val="4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 Narrow" pitchFamily="34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B9D7235-F88E-A19B-6DF6-D5573459CEC7}"/>
              </a:ext>
            </a:extLst>
          </p:cNvPr>
          <p:cNvSpPr/>
          <p:nvPr/>
        </p:nvSpPr>
        <p:spPr bwMode="auto">
          <a:xfrm>
            <a:off x="1139041" y="4169575"/>
            <a:ext cx="3337709" cy="412491"/>
          </a:xfrm>
          <a:prstGeom prst="rect">
            <a:avLst/>
          </a:prstGeom>
          <a:solidFill>
            <a:schemeClr val="accent3">
              <a:alpha val="4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 Narrow" pitchFamily="34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48CE512-2795-6512-216B-10129DAF8EF2}"/>
              </a:ext>
            </a:extLst>
          </p:cNvPr>
          <p:cNvSpPr/>
          <p:nvPr/>
        </p:nvSpPr>
        <p:spPr bwMode="auto">
          <a:xfrm>
            <a:off x="2082800" y="5104714"/>
            <a:ext cx="2229484" cy="412491"/>
          </a:xfrm>
          <a:prstGeom prst="rect">
            <a:avLst/>
          </a:prstGeom>
          <a:solidFill>
            <a:schemeClr val="accent1">
              <a:lumMod val="60000"/>
              <a:lumOff val="40000"/>
              <a:alpha val="4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 Narrow" pitchFamily="34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B8E701D-B95C-682E-16A1-E9B1D015FF95}"/>
              </a:ext>
            </a:extLst>
          </p:cNvPr>
          <p:cNvSpPr/>
          <p:nvPr/>
        </p:nvSpPr>
        <p:spPr bwMode="auto">
          <a:xfrm>
            <a:off x="4312284" y="5104714"/>
            <a:ext cx="2156610" cy="412491"/>
          </a:xfrm>
          <a:prstGeom prst="rect">
            <a:avLst/>
          </a:prstGeom>
          <a:solidFill>
            <a:schemeClr val="accent4">
              <a:alpha val="4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 Narrow" pitchFamily="34" charset="0"/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F28070DA-D1DC-8B64-6E04-81437D685317}"/>
              </a:ext>
            </a:extLst>
          </p:cNvPr>
          <p:cNvCxnSpPr>
            <a:cxnSpLocks/>
          </p:cNvCxnSpPr>
          <p:nvPr/>
        </p:nvCxnSpPr>
        <p:spPr bwMode="auto">
          <a:xfrm>
            <a:off x="2492513" y="4215965"/>
            <a:ext cx="263070" cy="296737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02D16AD8-7FE7-80D3-DFE3-5FCAFF77B33B}"/>
              </a:ext>
            </a:extLst>
          </p:cNvPr>
          <p:cNvCxnSpPr>
            <a:cxnSpLocks/>
          </p:cNvCxnSpPr>
          <p:nvPr/>
        </p:nvCxnSpPr>
        <p:spPr bwMode="auto">
          <a:xfrm>
            <a:off x="3977520" y="4213817"/>
            <a:ext cx="263070" cy="296737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8035352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6297D-815B-2D0E-DB12-413C8BA42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C775D7CE-E0D7-504E-A583-959FCA0B9F9B}"/>
              </a:ext>
            </a:extLst>
          </p:cNvPr>
          <p:cNvSpPr/>
          <p:nvPr/>
        </p:nvSpPr>
        <p:spPr bwMode="auto">
          <a:xfrm>
            <a:off x="347880" y="1096852"/>
            <a:ext cx="11424720" cy="1179083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0D11331-43D5-EA51-5A7A-B97F4C697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00" y="144463"/>
            <a:ext cx="11424720" cy="752792"/>
          </a:xfrm>
        </p:spPr>
        <p:txBody>
          <a:bodyPr/>
          <a:lstStyle/>
          <a:p>
            <a:r>
              <a:rPr lang="en-US" altLang="ko-KR" dirty="0"/>
              <a:t>Theorem 3. UB on Distance between Parameters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874EC9-B85F-6500-185D-D0D24E6E1C60}"/>
              </a:ext>
            </a:extLst>
          </p:cNvPr>
          <p:cNvSpPr txBox="1"/>
          <p:nvPr/>
        </p:nvSpPr>
        <p:spPr>
          <a:xfrm>
            <a:off x="0" y="6590426"/>
            <a:ext cx="114247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Afzal, Zahra Rahimi, et al. "Linearization Explains Fine-Tuning in Large Language Models." </a:t>
            </a:r>
            <a:r>
              <a:rPr lang="en-US" altLang="ko-KR" sz="1000" i="1" dirty="0">
                <a:solidFill>
                  <a:schemeClr val="bg1">
                    <a:lumMod val="65000"/>
                  </a:schemeClr>
                </a:solidFill>
              </a:rPr>
              <a:t>The 39th Annual Conference on </a:t>
            </a:r>
            <a:r>
              <a:rPr lang="en-US" altLang="ko-KR" sz="1000" i="1" dirty="0" err="1">
                <a:solidFill>
                  <a:schemeClr val="bg1">
                    <a:lumMod val="65000"/>
                  </a:schemeClr>
                </a:solidFill>
              </a:rPr>
              <a:t>NeurIPS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1000" dirty="0">
              <a:solidFill>
                <a:schemeClr val="bg1">
                  <a:lumMod val="6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DDE0D06-0552-DA9B-0E20-3D72BF153371}"/>
                  </a:ext>
                </a:extLst>
              </p:cNvPr>
              <p:cNvSpPr txBox="1"/>
              <p:nvPr/>
            </p:nvSpPr>
            <p:spPr>
              <a:xfrm>
                <a:off x="347880" y="1125427"/>
                <a:ext cx="11424720" cy="44320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Tx/>
                  <a:buChar char="-"/>
                </a:pPr>
                <a:r>
                  <a:rPr lang="en-US" altLang="ko-KR" b="1" dirty="0">
                    <a:latin typeface="Arial Nova" panose="020B0504020202020204" pitchFamily="34" charset="0"/>
                  </a:rPr>
                  <a:t>Under the squared loss,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ko-KR" b="1">
                        <a:latin typeface="Cambria Math" panose="02040503050406030204" pitchFamily="18" charset="0"/>
                      </a:rPr>
                      <m:t>𝛁</m:t>
                    </m:r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are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𝑳𝒊𝒑</m:t>
                    </m:r>
                    <m:d>
                      <m:d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</m:d>
                    <m:r>
                      <a:rPr lang="en-US" altLang="ko-KR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𝑳𝒊𝒑𝒔𝒄𝒉𝒊𝒕𝒛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𝑳𝒊𝒑</m:t>
                    </m:r>
                    <m:d>
                      <m:d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b="1" i="1" smtClean="0">
                            <a:latin typeface="Cambria Math" panose="02040503050406030204" pitchFamily="18" charset="0"/>
                          </a:rPr>
                          <m:t>∇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</m:d>
                    <m:r>
                      <a:rPr lang="en-US" altLang="ko-KR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𝑳𝒊𝒑𝒔𝒄𝒉𝒊𝒕𝒛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 in 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𝒍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𝒃𝒂𝒍𝒍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of radius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𝝉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around pretrained parameters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,</a:t>
                </a: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𝜽</m:t>
                                </m:r>
                              </m:e>
                              <m:sub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</m:e>
                            </m:acc>
                          </m:e>
                          <m:sub>
                            <m:sSub>
                              <m:sSubPr>
                                <m:ctrlP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b>
                            </m:sSub>
                          </m:sub>
                        </m:s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𝒃</m:t>
                    </m:r>
                    <m:d>
                      <m:dPr>
                        <m:ctrlPr>
                          <a:rPr lang="en-US" altLang="ko-K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𝒕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ko-KR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𝒆</m:t>
                                </m:r>
                              </m:e>
                              <m:sup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𝝀</m:t>
                                </m:r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𝒕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𝝀</m:t>
                            </m:r>
                          </m:den>
                        </m:f>
                      </m:e>
                    </m:d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𝑳𝒊𝒑</m:t>
                    </m:r>
                    <m:sSup>
                      <m:sSup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</m:d>
                      </m:e>
                      <m:sup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d>
                      <m:dPr>
                        <m:begChr m:val="‖"/>
                        <m:endChr m:val="‖"/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𝜽</m:t>
                                </m:r>
                              </m:e>
                              <m:sub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p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num>
                      <m:den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𝝀</m:t>
                        </m:r>
                      </m:den>
                    </m:f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𝑳𝒊𝒑</m:t>
                    </m:r>
                    <m:d>
                      <m:d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𝜵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</m:d>
                    <m:d>
                      <m:dPr>
                        <m:begChr m:val="‖"/>
                        <m:endChr m:val="‖"/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𝜽</m:t>
                                </m:r>
                              </m:e>
                              <m:sub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p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b="1" i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endParaRPr lang="en-US" altLang="ko-KR" b="1" i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d>
                      <m:dPr>
                        <m:ctrlPr>
                          <a:rPr lang="en-US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b="0" i="1">
                        <a:latin typeface="Cambria Math" panose="02040503050406030204" pitchFamily="18" charset="0"/>
                      </a:rPr>
                      <m:t>‖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altLang="ko-KR" b="0" i="1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b="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0" i="1">
                        <a:latin typeface="Cambria Math" panose="02040503050406030204" pitchFamily="18" charset="0"/>
                      </a:rPr>
                      <m:t>𝜆</m:t>
                    </m:r>
                    <m:r>
                      <m:rPr>
                        <m:sty m:val="p"/>
                      </m:rPr>
                      <a:rPr lang="en-US" altLang="ko-KR" b="0" i="1">
                        <a:latin typeface="Cambria Math" panose="02040503050406030204" pitchFamily="18" charset="0"/>
                      </a:rPr>
                      <m:t>∇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1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ko-KR" b="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b="0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ko-KR" b="0" i="1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‖</m:t>
                    </m:r>
                  </m:oMath>
                </a14:m>
                <a:endParaRPr lang="en-US" altLang="ko-KR" i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d>
                      <m:dPr>
                        <m:begChr m:val="‖"/>
                        <m:endChr m:val="‖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e>
                    </m:d>
                    <m:r>
                      <a:rPr lang="en-US" altLang="ko-KR" b="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0" i="1">
                        <a:latin typeface="Cambria Math" panose="02040503050406030204" pitchFamily="18" charset="0"/>
                      </a:rPr>
                      <m:t>𝜆</m:t>
                    </m:r>
                    <m:d>
                      <m:dPr>
                        <m:begChr m:val="‖"/>
                        <m:endChr m:val="‖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b="0" i="1">
                            <a:latin typeface="Cambria Math" panose="02040503050406030204" pitchFamily="18" charset="0"/>
                          </a:rPr>
                          <m:t>∇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f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∵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𝑇𝑟𝑖𝑎𝑛𝑔𝑢𝑙𝑎𝑟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𝑖𝑛𝑒𝑞𝑢𝑎𝑙𝑖𝑡𝑦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i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altLang="ko-KR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ko-KR" b="0" i="1">
                        <a:latin typeface="Cambria Math" panose="02040503050406030204" pitchFamily="18" charset="0"/>
                      </a:rPr>
                      <m:t>‖</m:t>
                    </m:r>
                    <m:d>
                      <m:dPr>
                        <m:ctrlPr>
                          <a:rPr lang="en-US" altLang="ko-KR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ko-KR" b="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ko-KR" b="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ko-KR" b="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altLang="ko-KR" b="0" i="1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b="0" i="1">
                        <a:latin typeface="Cambria Math" panose="02040503050406030204" pitchFamily="18" charset="0"/>
                      </a:rPr>
                      <m:t>‖−</m:t>
                    </m:r>
                    <m:r>
                      <a:rPr lang="en-US" altLang="ko-KR" b="0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ko-KR" b="0" i="1">
                        <a:latin typeface="Cambria Math" panose="02040503050406030204" pitchFamily="18" charset="0"/>
                      </a:rPr>
                      <m:t>‖</m:t>
                    </m:r>
                    <m:r>
                      <m:rPr>
                        <m:sty m:val="p"/>
                      </m:rPr>
                      <a:rPr lang="en-US" altLang="ko-KR" b="0" i="1">
                        <a:latin typeface="Cambria Math" panose="02040503050406030204" pitchFamily="18" charset="0"/>
                      </a:rPr>
                      <m:t>∇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1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ko-KR" b="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b="0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ko-KR" b="0" i="1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ko-KR" b="0" i="1">
                        <a:latin typeface="Cambria Math" panose="02040503050406030204" pitchFamily="18" charset="0"/>
                      </a:rPr>
                      <m:t>‖</m:t>
                    </m:r>
                  </m:oMath>
                </a14:m>
                <a:endParaRPr lang="en-US" altLang="ko-KR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ko-KR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𝐿𝑖𝑝</m:t>
                    </m:r>
                    <m:d>
                      <m:dPr>
                        <m:ctrlPr>
                          <a:rPr lang="en-US" altLang="ko-KR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d>
                      <m:dPr>
                        <m:begChr m:val="‖"/>
                        <m:endChr m:val="‖"/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d>
                    <m:d>
                      <m:dPr>
                        <m:begChr m:val="‖"/>
                        <m:endChr m:val="‖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𝐿𝑖𝑝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‖</m:t>
                        </m:r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b="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b="0" i="1">
                        <a:latin typeface="Cambria Math" panose="02040503050406030204" pitchFamily="18" charset="0"/>
                      </a:rPr>
                      <m:t>‖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(∵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m:rPr>
                        <m:nor/>
                      </m:rPr>
                      <a:rPr lang="en-US" altLang="ko-KR" i="1" dirty="0">
                        <a:latin typeface="Arial Nova" panose="020B050402020202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ko-KR" dirty="0">
                        <a:latin typeface="Arial Nova" panose="020B0504020202020204" pitchFamily="34" charset="0"/>
                      </a:rPr>
                      <m:t>is</m:t>
                    </m:r>
                    <m:r>
                      <m:rPr>
                        <m:nor/>
                      </m:rPr>
                      <a:rPr lang="en-US" altLang="ko-KR" i="1" dirty="0">
                        <a:latin typeface="Arial Nova" panose="020B0504020202020204" pitchFamily="34" charset="0"/>
                      </a:rPr>
                      <m:t> </m:t>
                    </m:r>
                    <m:r>
                      <a:rPr lang="en-US" altLang="ko-KR" b="0" i="1">
                        <a:latin typeface="Cambria Math" panose="02040503050406030204" pitchFamily="18" charset="0"/>
                      </a:rPr>
                      <m:t>𝐿𝑖𝑝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altLang="ko-KR" b="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0" i="1">
                        <a:latin typeface="Cambria Math" panose="02040503050406030204" pitchFamily="18" charset="0"/>
                      </a:rPr>
                      <m:t>𝐿𝑖𝑝𝑠𝑐h𝑖𝑡𝑧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i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altLang="ko-KR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ko-KR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altLang="ko-KR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𝐿𝑖𝑝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d>
                      <m:dPr>
                        <m:begChr m:val="‖"/>
                        <m:endChr m:val="‖"/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d>
                    <m:d>
                      <m:dPr>
                        <m:begChr m:val="‖"/>
                        <m:endChr m:val="‖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ko-KR" b="0" i="1">
                        <a:latin typeface="Cambria Math" panose="02040503050406030204" pitchFamily="18" charset="0"/>
                      </a:rPr>
                      <m:t>𝐿𝑖𝑝</m:t>
                    </m:r>
                    <m:r>
                      <a:rPr lang="en-US" altLang="ko-KR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ko-KR" b="0" i="1"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‖</m:t>
                        </m:r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b="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b="0" i="1">
                        <a:latin typeface="Cambria Math" panose="02040503050406030204" pitchFamily="18" charset="0"/>
                      </a:rPr>
                      <m:t>‖</m:t>
                    </m:r>
                  </m:oMath>
                </a14:m>
                <a:endParaRPr lang="en-US" altLang="ko-KR" i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altLang="ko-KR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r>
                      <a:rPr lang="en-US" altLang="ko-KR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𝐿𝑖𝑝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𝐿𝑖𝑝</m:t>
                    </m:r>
                    <m:d>
                      <m:dPr>
                        <m:ctrlPr>
                          <a:rPr lang="en-US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</m:d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d>
                                  <m:d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</m:e>
                        </m:d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𝐿𝑖</m:t>
                    </m:r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d>
                      <m:dPr>
                        <m:begChr m:val="‖"/>
                        <m:endChr m:val="‖"/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d>
                      <m:d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   (∵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𝑇h𝑒𝑜𝑟𝑒𝑚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2)</m:t>
                    </m:r>
                  </m:oMath>
                </a14:m>
                <a:endParaRPr lang="en-US" altLang="ko-KR" i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≤−</m:t>
                    </m:r>
                    <m:r>
                      <a:rPr lang="en-US" altLang="ko-KR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altLang="ko-KR" b="0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𝐿𝑖𝑝</m:t>
                    </m:r>
                    <m:d>
                      <m:dPr>
                        <m:ctrlPr>
                          <a:rPr lang="en-US" altLang="ko-KR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</m:d>
                    <m:d>
                      <m:dPr>
                        <m:begChr m:val="‖"/>
                        <m:endChr m:val="‖"/>
                        <m:ctrlPr>
                          <a:rPr lang="en-US" altLang="ko-KR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ko-KR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d>
                              <m:dPr>
                                <m:ctrlPr>
                                  <a:rPr lang="en-US" altLang="ko-KR" i="1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  <m:r>
                              <a:rPr lang="en-US" altLang="ko-KR" b="0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ko-KR" i="1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ko-KR" b="0" i="1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e>
                    </m:d>
                    <m:d>
                      <m:dPr>
                        <m:ctrlPr>
                          <a:rPr lang="en-US" altLang="ko-KR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ko-KR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den>
                        </m:f>
                        <m:r>
                          <a:rPr lang="en-US" altLang="ko-KR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𝐿𝑖𝑝</m:t>
                        </m:r>
                        <m:d>
                          <m:dPr>
                            <m:ctrlPr>
                              <a:rPr lang="en-US" altLang="ko-KR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d>
                          <m:dPr>
                            <m:begChr m:val="‖"/>
                            <m:endChr m:val="‖"/>
                            <m:ctrlPr>
                              <a:rPr lang="en-US" altLang="ko-KR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d>
                              <m:dPr>
                                <m:ctrlPr>
                                  <a:rPr lang="en-US" altLang="ko-KR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  <m:r>
                              <a:rPr lang="en-US" altLang="ko-KR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ko-KR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ko-KR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  <m:r>
                          <a:rPr lang="en-US" altLang="ko-KR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𝐿𝑖𝑝</m:t>
                        </m:r>
                        <m:d>
                          <m:dPr>
                            <m:ctrlPr>
                              <a:rPr lang="en-US" altLang="ko-KR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</m:e>
                    </m:d>
                    <m:d>
                      <m:dPr>
                        <m:ctrlPr>
                          <a:rPr lang="en-US" altLang="ko-K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ko-KR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R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en-US" altLang="ko-KR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d>
                  </m:oMath>
                </a14:m>
                <a:endParaRPr lang="en-US" altLang="ko-KR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ko-KR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𝐿𝑖𝑝</m:t>
                    </m:r>
                    <m:r>
                      <a:rPr lang="en-US" altLang="ko-KR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ko-KR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‖"/>
                        <m:endChr m:val="‖"/>
                        <m:ctrlPr>
                          <a:rPr lang="en-US" altLang="ko-KR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ko-KR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d>
                              <m:dPr>
                                <m:ctrlPr>
                                  <a:rPr lang="en-US" altLang="ko-KR" i="1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  <m:r>
                              <a:rPr lang="en-US" altLang="ko-KR" b="0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ko-KR" i="1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ko-KR" b="0" i="1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e>
                    </m:d>
                    <m:d>
                      <m:dPr>
                        <m:ctrlPr>
                          <a:rPr lang="en-US" altLang="ko-KR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0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ko-KR" b="0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den>
                        </m:f>
                        <m:r>
                          <a:rPr lang="en-US" altLang="ko-KR" b="0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𝐿𝑖𝑝</m:t>
                        </m:r>
                        <m:d>
                          <m:dPr>
                            <m:ctrlPr>
                              <a:rPr lang="en-US" altLang="ko-KR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d>
                          <m:dPr>
                            <m:begChr m:val="‖"/>
                            <m:endChr m:val="‖"/>
                            <m:ctrlPr>
                              <a:rPr lang="en-US" altLang="ko-KR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d>
                              <m:dPr>
                                <m:ctrlPr>
                                  <a:rPr lang="en-US" altLang="ko-KR" i="1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  <m:r>
                              <a:rPr lang="en-US" altLang="ko-KR" b="0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ko-KR" i="1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ko-KR" b="0" i="1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  <m:r>
                          <a:rPr lang="en-US" altLang="ko-KR" b="0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b="0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𝐿𝑖𝑝</m:t>
                        </m:r>
                        <m:d>
                          <m:dPr>
                            <m:ctrlPr>
                              <a:rPr lang="en-US" altLang="ko-KR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</m:e>
                    </m:d>
                  </m:oMath>
                </a14:m>
                <a:endParaRPr lang="en-US" altLang="ko-KR" i="1" dirty="0">
                  <a:solidFill>
                    <a:schemeClr val="accent4"/>
                  </a:solidFill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DDE0D06-0552-DA9B-0E20-3D72BF1533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880" y="1125427"/>
                <a:ext cx="11424720" cy="4432047"/>
              </a:xfrm>
              <a:prstGeom prst="rect">
                <a:avLst/>
              </a:prstGeom>
              <a:blipFill>
                <a:blip r:embed="rId3"/>
                <a:stretch>
                  <a:fillRect l="-427" t="-82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직사각형 4">
            <a:extLst>
              <a:ext uri="{FF2B5EF4-FFF2-40B4-BE49-F238E27FC236}">
                <a16:creationId xmlns:a16="http://schemas.microsoft.com/office/drawing/2014/main" id="{B5BFDFAE-17A7-5947-82ED-DCB17C453415}"/>
              </a:ext>
            </a:extLst>
          </p:cNvPr>
          <p:cNvSpPr/>
          <p:nvPr/>
        </p:nvSpPr>
        <p:spPr bwMode="auto">
          <a:xfrm>
            <a:off x="1765300" y="2532964"/>
            <a:ext cx="2229484" cy="412491"/>
          </a:xfrm>
          <a:prstGeom prst="rect">
            <a:avLst/>
          </a:prstGeom>
          <a:solidFill>
            <a:schemeClr val="accent1">
              <a:lumMod val="60000"/>
              <a:lumOff val="40000"/>
              <a:alpha val="4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 Narrow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06E83E2-2F86-8EB4-A315-89AF6120D8C7}"/>
              </a:ext>
            </a:extLst>
          </p:cNvPr>
          <p:cNvSpPr/>
          <p:nvPr/>
        </p:nvSpPr>
        <p:spPr bwMode="auto">
          <a:xfrm>
            <a:off x="4316380" y="2523672"/>
            <a:ext cx="1779620" cy="412491"/>
          </a:xfrm>
          <a:prstGeom prst="rect">
            <a:avLst/>
          </a:prstGeom>
          <a:solidFill>
            <a:schemeClr val="accent4">
              <a:alpha val="4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 Narrow" pitchFamily="34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4871336-47AD-8E32-55E2-04961992CC2D}"/>
              </a:ext>
            </a:extLst>
          </p:cNvPr>
          <p:cNvSpPr/>
          <p:nvPr/>
        </p:nvSpPr>
        <p:spPr bwMode="auto">
          <a:xfrm>
            <a:off x="1066800" y="2848255"/>
            <a:ext cx="2229484" cy="412491"/>
          </a:xfrm>
          <a:prstGeom prst="rect">
            <a:avLst/>
          </a:prstGeom>
          <a:solidFill>
            <a:schemeClr val="accent1">
              <a:lumMod val="60000"/>
              <a:lumOff val="40000"/>
              <a:alpha val="4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 Narrow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3D8C528-8F2C-CA64-9624-D377F35C7469}"/>
              </a:ext>
            </a:extLst>
          </p:cNvPr>
          <p:cNvSpPr/>
          <p:nvPr/>
        </p:nvSpPr>
        <p:spPr bwMode="auto">
          <a:xfrm>
            <a:off x="3834590" y="2881267"/>
            <a:ext cx="1779620" cy="412491"/>
          </a:xfrm>
          <a:prstGeom prst="rect">
            <a:avLst/>
          </a:prstGeom>
          <a:solidFill>
            <a:schemeClr val="accent4">
              <a:alpha val="4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 Narrow" pitchFamily="34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307C8C6-FF73-CF15-5584-413D93F05348}"/>
              </a:ext>
            </a:extLst>
          </p:cNvPr>
          <p:cNvSpPr/>
          <p:nvPr/>
        </p:nvSpPr>
        <p:spPr bwMode="auto">
          <a:xfrm>
            <a:off x="1765300" y="3756775"/>
            <a:ext cx="1206500" cy="412491"/>
          </a:xfrm>
          <a:prstGeom prst="rect">
            <a:avLst/>
          </a:prstGeom>
          <a:solidFill>
            <a:schemeClr val="accent3">
              <a:alpha val="4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 Narrow" pitchFamily="34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A342907-2350-4498-A7C3-6A25C7D6DF8E}"/>
              </a:ext>
            </a:extLst>
          </p:cNvPr>
          <p:cNvSpPr/>
          <p:nvPr/>
        </p:nvSpPr>
        <p:spPr bwMode="auto">
          <a:xfrm>
            <a:off x="5302007" y="3738449"/>
            <a:ext cx="977900" cy="412491"/>
          </a:xfrm>
          <a:prstGeom prst="rect">
            <a:avLst/>
          </a:prstGeom>
          <a:solidFill>
            <a:schemeClr val="accent3">
              <a:alpha val="4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 Narrow" pitchFamily="34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28C6EF6-3BA2-E78B-C12E-71DAF91343DB}"/>
              </a:ext>
            </a:extLst>
          </p:cNvPr>
          <p:cNvSpPr/>
          <p:nvPr/>
        </p:nvSpPr>
        <p:spPr bwMode="auto">
          <a:xfrm>
            <a:off x="4997450" y="4096044"/>
            <a:ext cx="3194050" cy="412491"/>
          </a:xfrm>
          <a:prstGeom prst="rect">
            <a:avLst/>
          </a:prstGeom>
          <a:solidFill>
            <a:schemeClr val="accent3">
              <a:alpha val="4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 Narrow" pitchFamily="34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DE47105-1735-6B58-906D-6D83FC3503B8}"/>
              </a:ext>
            </a:extLst>
          </p:cNvPr>
          <p:cNvSpPr/>
          <p:nvPr/>
        </p:nvSpPr>
        <p:spPr bwMode="auto">
          <a:xfrm>
            <a:off x="1765300" y="4096044"/>
            <a:ext cx="2959100" cy="412491"/>
          </a:xfrm>
          <a:prstGeom prst="rect">
            <a:avLst/>
          </a:prstGeom>
          <a:solidFill>
            <a:schemeClr val="accent3">
              <a:alpha val="4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 Narrow" pitchFamily="34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7DF8044-6103-84E7-E8C3-3217A4931B11}"/>
              </a:ext>
            </a:extLst>
          </p:cNvPr>
          <p:cNvSpPr/>
          <p:nvPr/>
        </p:nvSpPr>
        <p:spPr bwMode="auto">
          <a:xfrm>
            <a:off x="925487" y="4096043"/>
            <a:ext cx="217513" cy="412491"/>
          </a:xfrm>
          <a:prstGeom prst="rect">
            <a:avLst/>
          </a:prstGeom>
          <a:solidFill>
            <a:schemeClr val="accent3">
              <a:alpha val="4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8961206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95527-3742-084A-10C3-C06F431A9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05BADBD7-445E-784F-9D0C-CFDB2330341D}"/>
              </a:ext>
            </a:extLst>
          </p:cNvPr>
          <p:cNvSpPr/>
          <p:nvPr/>
        </p:nvSpPr>
        <p:spPr bwMode="auto">
          <a:xfrm>
            <a:off x="347880" y="1096852"/>
            <a:ext cx="11424720" cy="1179083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9265175-2657-6E7D-28E1-3F62C4975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00" y="144463"/>
            <a:ext cx="11424720" cy="752792"/>
          </a:xfrm>
        </p:spPr>
        <p:txBody>
          <a:bodyPr/>
          <a:lstStyle/>
          <a:p>
            <a:r>
              <a:rPr lang="en-US" altLang="ko-KR" dirty="0"/>
              <a:t>Theorem 3. UB on Distance between Parameters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289B3D-7442-8559-1ED8-71670125AB72}"/>
              </a:ext>
            </a:extLst>
          </p:cNvPr>
          <p:cNvSpPr txBox="1"/>
          <p:nvPr/>
        </p:nvSpPr>
        <p:spPr>
          <a:xfrm>
            <a:off x="0" y="6590426"/>
            <a:ext cx="114247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Afzal, Zahra Rahimi, et al. "Linearization Explains Fine-Tuning in Large Language Models." </a:t>
            </a:r>
            <a:r>
              <a:rPr lang="en-US" altLang="ko-KR" sz="1000" i="1" dirty="0">
                <a:solidFill>
                  <a:schemeClr val="bg1">
                    <a:lumMod val="65000"/>
                  </a:schemeClr>
                </a:solidFill>
              </a:rPr>
              <a:t>The 39th Annual Conference on </a:t>
            </a:r>
            <a:r>
              <a:rPr lang="en-US" altLang="ko-KR" sz="1000" i="1" dirty="0" err="1">
                <a:solidFill>
                  <a:schemeClr val="bg1">
                    <a:lumMod val="65000"/>
                  </a:schemeClr>
                </a:solidFill>
              </a:rPr>
              <a:t>NeurIPS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1000" dirty="0">
              <a:solidFill>
                <a:schemeClr val="bg1">
                  <a:lumMod val="6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AF64297-BE4E-7185-5428-7AF4B5A15C26}"/>
                  </a:ext>
                </a:extLst>
              </p:cNvPr>
              <p:cNvSpPr txBox="1"/>
              <p:nvPr/>
            </p:nvSpPr>
            <p:spPr>
              <a:xfrm>
                <a:off x="347880" y="1125427"/>
                <a:ext cx="11367870" cy="53803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Tx/>
                  <a:buChar char="-"/>
                </a:pPr>
                <a:r>
                  <a:rPr lang="en-US" altLang="ko-KR" b="1" dirty="0">
                    <a:latin typeface="Arial Nova" panose="020B0504020202020204" pitchFamily="34" charset="0"/>
                  </a:rPr>
                  <a:t>Under the squared loss,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ko-KR" b="1">
                        <a:latin typeface="Cambria Math" panose="02040503050406030204" pitchFamily="18" charset="0"/>
                      </a:rPr>
                      <m:t>𝛁</m:t>
                    </m:r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are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𝑳𝒊𝒑</m:t>
                    </m:r>
                    <m:d>
                      <m:d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</m:d>
                    <m:r>
                      <a:rPr lang="en-US" altLang="ko-KR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𝑳𝒊𝒑𝒔𝒄𝒉𝒊𝒕𝒛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𝑳𝒊𝒑</m:t>
                    </m:r>
                    <m:d>
                      <m:d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b="1" i="1" smtClean="0">
                            <a:latin typeface="Cambria Math" panose="02040503050406030204" pitchFamily="18" charset="0"/>
                          </a:rPr>
                          <m:t>∇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</m:d>
                    <m:r>
                      <a:rPr lang="en-US" altLang="ko-KR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𝑳𝒊𝒑𝒔𝒄𝒉𝒊𝒕𝒛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 in 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𝒍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𝒃𝒂𝒍𝒍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of radius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𝝉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around pretrained parameters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,</a:t>
                </a: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𝜽</m:t>
                                </m:r>
                              </m:e>
                              <m:sub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</m:e>
                            </m:acc>
                          </m:e>
                          <m:sub>
                            <m:sSub>
                              <m:sSubPr>
                                <m:ctrlP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b>
                            </m:sSub>
                          </m:sub>
                        </m:s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𝒃</m:t>
                    </m:r>
                    <m:d>
                      <m:dPr>
                        <m:ctrlPr>
                          <a:rPr lang="en-US" altLang="ko-K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𝒕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ko-KR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𝒆</m:t>
                                </m:r>
                              </m:e>
                              <m:sup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𝝀</m:t>
                                </m:r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𝒕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𝝀</m:t>
                            </m:r>
                          </m:den>
                        </m:f>
                      </m:e>
                    </m:d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𝑳𝒊𝒑</m:t>
                    </m:r>
                    <m:sSup>
                      <m:sSup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</m:d>
                      </m:e>
                      <m:sup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d>
                      <m:dPr>
                        <m:begChr m:val="‖"/>
                        <m:endChr m:val="‖"/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𝜽</m:t>
                                </m:r>
                              </m:e>
                              <m:sub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p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num>
                      <m:den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𝝀</m:t>
                        </m:r>
                      </m:den>
                    </m:f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𝑳𝒊𝒑</m:t>
                    </m:r>
                    <m:d>
                      <m:d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𝜵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</m:d>
                    <m:d>
                      <m:dPr>
                        <m:begChr m:val="‖"/>
                        <m:endChr m:val="‖"/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𝜽</m:t>
                                </m:r>
                              </m:e>
                              <m:sub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p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b="1" i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endParaRPr lang="en-US" altLang="ko-KR" b="1" i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d>
                      <m:dPr>
                        <m:ctrlPr>
                          <a:rPr lang="en-US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≤−2</m:t>
                    </m:r>
                    <m:r>
                      <a:rPr lang="en-US" altLang="ko-KR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𝐿𝑖𝑝</m:t>
                    </m:r>
                    <m:d>
                      <m:dPr>
                        <m:ctrlPr>
                          <a:rPr lang="en-US" altLang="ko-K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</m:d>
                    <m:d>
                      <m:dPr>
                        <m:begChr m:val="‖"/>
                        <m:endChr m:val="‖"/>
                        <m:ctrlPr>
                          <a:rPr lang="en-US" altLang="ko-K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d>
                              <m:dPr>
                                <m:ctrlPr>
                                  <a:rPr lang="en-US" altLang="ko-KR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  <m:r>
                              <a:rPr lang="en-US" altLang="ko-KR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ko-KR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ko-KR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e>
                    </m:d>
                    <m:d>
                      <m:dPr>
                        <m:ctrlP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den>
                        </m:f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𝐿𝑖𝑝</m:t>
                        </m:r>
                        <m:d>
                          <m:dPr>
                            <m:ctrlPr>
                              <a:rPr lang="en-US" altLang="ko-K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d>
                          <m:dPr>
                            <m:begChr m:val="‖"/>
                            <m:endChr m:val="‖"/>
                            <m:ctrlPr>
                              <a:rPr lang="en-US" altLang="ko-K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d>
                              <m:dPr>
                                <m:ctrlPr>
                                  <a:rPr lang="en-US" altLang="ko-K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ko-K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𝐿𝑖𝑝</m:t>
                        </m:r>
                        <m:d>
                          <m:dPr>
                            <m:ctrlPr>
                              <a:rPr lang="en-US" altLang="ko-K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</m:e>
                    </m:d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d>
                  </m:oMath>
                </a14:m>
                <a:endParaRPr lang="en-US" altLang="ko-KR" i="1" dirty="0">
                  <a:latin typeface="Arial Nova" panose="020B0504020202020204" pitchFamily="34" charset="0"/>
                </a:endParaRPr>
              </a:p>
              <a:p>
                <a:pPr lvl="1"/>
                <a:r>
                  <a:rPr lang="en-US" altLang="ko-KR" dirty="0">
                    <a:ea typeface="Cambria Math" panose="02040503050406030204" pitchFamily="18" charset="0"/>
                  </a:rPr>
                  <a:t>-  </a:t>
                </a:r>
                <a14:m>
                  <m:oMath xmlns:m="http://schemas.openxmlformats.org/officeDocument/2006/math">
                    <m:r>
                      <a:rPr lang="en-US" altLang="ko-KR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</m:t>
                    </m:r>
                    <m:r>
                      <a:rPr lang="en-US" altLang="ko-KR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𝐿𝑖𝑝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</m:d>
                    <m:d>
                      <m:dPr>
                        <m:begChr m:val="‖"/>
                        <m:endChr m:val="‖"/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e>
                    </m:d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den>
                        </m:f>
                        <m:r>
                          <a:rPr lang="en-US" altLang="ko-KR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𝐿𝑖𝑝</m:t>
                        </m:r>
                        <m:d>
                          <m:dPr>
                            <m:ctrlPr>
                              <a:rPr lang="en-US" altLang="ko-KR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d>
                          <m:dPr>
                            <m:begChr m:val="‖"/>
                            <m:endChr m:val="‖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𝐿𝑖𝑝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</m:e>
                    </m:d>
                    <m:r>
                      <a:rPr lang="en-US" altLang="ko-KR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altLang="ko-KR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</m:t>
                    </m:r>
                    <m:r>
                      <a:rPr lang="en-US" altLang="ko-KR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𝐿𝑖𝑝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</m:d>
                    <m:d>
                      <m:dPr>
                        <m:begChr m:val="‖"/>
                        <m:endChr m:val="‖"/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e>
                    </m:d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den>
                        </m:f>
                        <m:r>
                          <a:rPr lang="en-US" altLang="ko-KR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𝐿𝑖𝑝</m:t>
                        </m:r>
                        <m:d>
                          <m:dPr>
                            <m:ctrlPr>
                              <a:rPr lang="en-US" altLang="ko-KR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ko-KR" b="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∇</m:t>
                            </m:r>
                            <m:r>
                              <a:rPr lang="en-US" altLang="ko-KR" b="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  <m:r>
                          <a:rPr lang="en-US" altLang="ko-KR" b="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𝐿𝑖𝑝</m:t>
                        </m:r>
                        <m:d>
                          <m:dPr>
                            <m:ctrlPr>
                              <a:rPr lang="en-US" altLang="ko-KR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  <m:d>
                          <m:dPr>
                            <m:begChr m:val="‖"/>
                            <m:endChr m:val="‖"/>
                            <m:ctrlPr>
                              <a:rPr lang="en-US" altLang="ko-K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d>
                              <m:dPr>
                                <m:ctrlPr>
                                  <a:rPr lang="en-US" altLang="ko-KR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  <m:r>
                              <a:rPr lang="en-US" altLang="ko-KR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ko-KR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ko-KR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𝐿𝑖𝑝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 (∵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𝐿𝑒𝑚𝑚𝑎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1)</m:t>
                    </m:r>
                  </m:oMath>
                </a14:m>
                <a:endParaRPr lang="en-US" altLang="ko-KR" i="1" dirty="0">
                  <a:latin typeface="Arial Nova" panose="020B0504020202020204" pitchFamily="34" charset="0"/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ko-KR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𝐿𝑖𝑝</m:t>
                      </m:r>
                      <m:sSup>
                        <m:sSupPr>
                          <m:ctrlPr>
                            <a:rPr lang="en-US" altLang="ko-K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</m:e>
                        <m:sup>
                          <m:r>
                            <a:rPr lang="en-US" altLang="ko-KR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begChr m:val="‖"/>
                          <m:endChr m:val="‖"/>
                          <m:ctrlPr>
                            <a:rPr lang="en-US" altLang="ko-K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ctrlPr>
                                <a:rPr lang="en-US" altLang="ko-K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altLang="ko-KR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ko-K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ko-KR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d>
                        <m:dPr>
                          <m:ctrlPr>
                            <a:rPr lang="en-US" altLang="ko-KR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ko-K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en-US" altLang="ko-KR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den>
                          </m:f>
                          <m:r>
                            <a:rPr lang="en-US" altLang="ko-KR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𝐿𝑖𝑝</m:t>
                          </m:r>
                          <m:d>
                            <m:dPr>
                              <m:ctrlPr>
                                <a:rPr lang="en-US" altLang="ko-K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𝛻</m:t>
                              </m:r>
                              <m:r>
                                <a:rPr lang="en-US" altLang="ko-KR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ko-KR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d>
                                <m:dPr>
                                  <m:ctrlPr>
                                    <a:rPr lang="en-US" altLang="ko-KR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  <m:r>
                                <a:rPr lang="en-US" altLang="ko-KR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ko-KR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altLang="ko-KR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ko-KR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ko-KR" b="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b="0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en-US" altLang="ko-KR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altLang="ko-KR" i="1" dirty="0">
                  <a:solidFill>
                    <a:schemeClr val="tx1"/>
                  </a:solidFill>
                  <a:latin typeface="Arial Nova" panose="020B0504020202020204" pitchFamily="34" charset="0"/>
                </a:endParaRPr>
              </a:p>
              <a:p>
                <a:endParaRPr lang="en-US" altLang="ko-KR" i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r>
                  <a:rPr lang="en-US" altLang="ko-KR" i="1" dirty="0">
                    <a:latin typeface="Arial Nova" panose="020B0504020202020204" pitchFamily="34" charset="0"/>
                  </a:rPr>
                  <a:t>Using Lemma 1 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d>
                      <m:dPr>
                        <m:ctrlPr>
                          <a:rPr lang="en-US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altLang="ko-KR" i="1" dirty="0">
                    <a:latin typeface="Arial Nova" panose="020B0504020202020204" pitchFamily="34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𝐿𝑖𝑝</m:t>
                    </m:r>
                    <m:sSup>
                      <m:sSupPr>
                        <m:ctrlPr>
                          <a:rPr lang="en-US" altLang="ko-K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</m:e>
                      <m:sup>
                        <m:r>
                          <a:rPr lang="en-US" altLang="ko-KR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‖"/>
                        <m:endChr m:val="‖"/>
                        <m:ctrlPr>
                          <a:rPr lang="en-US" altLang="ko-K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altLang="ko-K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ko-K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d>
                      <m:dPr>
                        <m:ctrlPr>
                          <a:rPr lang="en-US" altLang="ko-K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US" altLang="ko-KR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den>
                        </m:f>
                        <m:r>
                          <a:rPr lang="en-US" altLang="ko-KR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𝐿𝑖𝑝</m:t>
                        </m:r>
                        <m:d>
                          <m:dPr>
                            <m:ctrlPr>
                              <a:rPr lang="en-US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𝛻</m:t>
                            </m:r>
                            <m:r>
                              <a:rPr lang="en-US" altLang="ko-KR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  <m:d>
                          <m:dPr>
                            <m:begChr m:val="‖"/>
                            <m:endChr m:val="‖"/>
                            <m:ctrlPr>
                              <a:rPr lang="en-US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d>
                              <m:dPr>
                                <m:ctrlPr>
                                  <a:rPr lang="en-US" altLang="ko-K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ko-KR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ko-K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  <m:r>
                          <a:rPr lang="en-US" altLang="ko-KR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endParaRPr lang="en-US" altLang="ko-KR" i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r>
                      <a:rPr lang="en-US" altLang="ko-KR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den>
                    </m:f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i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endParaRPr lang="en-US" altLang="ko-KR" i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r>
                  <a:rPr lang="en-US" altLang="ko-KR" dirty="0">
                    <a:latin typeface="Arial Nova" panose="020B0504020202020204" pitchFamily="34" charset="0"/>
                  </a:rPr>
                  <a:t>Intuition : For a proper choice of the regularization parameter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0"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lang="en-US" altLang="ko-KR" dirty="0">
                    <a:latin typeface="Arial Nova" panose="020B0504020202020204" pitchFamily="34" charset="0"/>
                  </a:rPr>
                  <a:t>, linearization of the fine-tuning only depends on the local properties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0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b="0" i="0"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b="0" i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 altLang="ko-KR" b="0" i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ko-KR" dirty="0">
                    <a:latin typeface="Arial Nova" panose="020B0504020202020204" pitchFamily="34" charset="0"/>
                  </a:rPr>
                  <a:t> around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US" altLang="ko-KR" b="0" i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ko-KR" dirty="0"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AF64297-BE4E-7185-5428-7AF4B5A15C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880" y="1125427"/>
                <a:ext cx="11367870" cy="5380319"/>
              </a:xfrm>
              <a:prstGeom prst="rect">
                <a:avLst/>
              </a:prstGeom>
              <a:blipFill>
                <a:blip r:embed="rId3"/>
                <a:stretch>
                  <a:fillRect l="-429" t="-680" r="-322" b="-34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2" descr="Check ">
            <a:extLst>
              <a:ext uri="{FF2B5EF4-FFF2-40B4-BE49-F238E27FC236}">
                <a16:creationId xmlns:a16="http://schemas.microsoft.com/office/drawing/2014/main" id="{70E93550-B87A-E39D-63D8-AF147B9C59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584" y="5281112"/>
            <a:ext cx="480036" cy="480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2390979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12E2A-33DE-0D99-06FF-0A85A361B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7CA62499-53FE-53DA-EE45-08F7921B2749}"/>
              </a:ext>
            </a:extLst>
          </p:cNvPr>
          <p:cNvSpPr/>
          <p:nvPr/>
        </p:nvSpPr>
        <p:spPr bwMode="auto">
          <a:xfrm>
            <a:off x="347880" y="1096852"/>
            <a:ext cx="11424720" cy="2534069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0EA988E-A9CE-539C-4F26-0BC2C579E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00" y="144463"/>
            <a:ext cx="11424720" cy="752792"/>
          </a:xfrm>
        </p:spPr>
        <p:txBody>
          <a:bodyPr/>
          <a:lstStyle/>
          <a:p>
            <a:r>
              <a:rPr lang="en-US" altLang="ko-KR" dirty="0"/>
              <a:t>Theorem 4. 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B2F1D9-A1FB-C217-81BC-7B9C0FC69EBB}"/>
              </a:ext>
            </a:extLst>
          </p:cNvPr>
          <p:cNvSpPr txBox="1"/>
          <p:nvPr/>
        </p:nvSpPr>
        <p:spPr>
          <a:xfrm>
            <a:off x="0" y="6590426"/>
            <a:ext cx="114247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Afzal, Zahra Rahimi, et al. "Linearization Explains Fine-Tuning in Large Language Models." </a:t>
            </a:r>
            <a:r>
              <a:rPr lang="en-US" altLang="ko-KR" sz="1000" i="1" dirty="0">
                <a:solidFill>
                  <a:schemeClr val="bg1">
                    <a:lumMod val="65000"/>
                  </a:schemeClr>
                </a:solidFill>
              </a:rPr>
              <a:t>The 39th Annual Conference on </a:t>
            </a:r>
            <a:r>
              <a:rPr lang="en-US" altLang="ko-KR" sz="1000" i="1" dirty="0" err="1">
                <a:solidFill>
                  <a:schemeClr val="bg1">
                    <a:lumMod val="65000"/>
                  </a:schemeClr>
                </a:solidFill>
              </a:rPr>
              <a:t>NeurIPS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1000" dirty="0">
              <a:solidFill>
                <a:schemeClr val="bg1">
                  <a:lumMod val="6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EF6A0A7-FF81-E996-8432-778DBC0307E7}"/>
                  </a:ext>
                </a:extLst>
              </p:cNvPr>
              <p:cNvSpPr txBox="1"/>
              <p:nvPr/>
            </p:nvSpPr>
            <p:spPr>
              <a:xfrm>
                <a:off x="347880" y="1125427"/>
                <a:ext cx="11424720" cy="47571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Tx/>
                  <a:buChar char="-"/>
                </a:pPr>
                <a:r>
                  <a:rPr lang="en-US" altLang="ko-KR" b="1" dirty="0">
                    <a:latin typeface="Arial Nova" panose="020B0504020202020204" pitchFamily="34" charset="0"/>
                  </a:rPr>
                  <a:t>Under the squared loss,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ko-KR" b="1">
                        <a:latin typeface="Cambria Math" panose="02040503050406030204" pitchFamily="18" charset="0"/>
                      </a:rPr>
                      <m:t>𝛁</m:t>
                    </m:r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are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𝑳𝒊𝒑</m:t>
                    </m:r>
                    <m:d>
                      <m:d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</m:d>
                    <m:r>
                      <a:rPr lang="en-US" altLang="ko-KR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𝑳𝒊𝒑𝒔𝒄𝒉𝒊𝒕𝒛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𝑳𝒊𝒑</m:t>
                    </m:r>
                    <m:d>
                      <m:d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b="1" i="1" smtClean="0">
                            <a:latin typeface="Cambria Math" panose="02040503050406030204" pitchFamily="18" charset="0"/>
                          </a:rPr>
                          <m:t>∇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</m:d>
                    <m:r>
                      <a:rPr lang="en-US" altLang="ko-KR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𝑳𝒊𝒑𝒔𝒄𝒉𝒊𝒕𝒛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 in 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𝒍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𝒃𝒂𝒍𝒍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of radius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around pretrained parameters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ko-KR" b="1" i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r>
                  <a:rPr lang="en-US" altLang="ko-KR" b="1" dirty="0">
                    <a:latin typeface="Arial Nova" panose="020B0504020202020204" pitchFamily="34" charset="0"/>
                  </a:rPr>
                  <a:t>Define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0" smtClean="0">
                            <a:latin typeface="Cambria Math" panose="02040503050406030204" pitchFamily="18" charset="0"/>
                          </a:rPr>
                          <m:t>𝛌</m:t>
                        </m:r>
                      </m:e>
                      <m:sub>
                        <m:r>
                          <a:rPr lang="en-US" altLang="ko-KR" b="1" i="0" smtClean="0">
                            <a:latin typeface="Cambria Math" panose="02040503050406030204" pitchFamily="18" charset="0"/>
                          </a:rPr>
                          <m:t>∘</m:t>
                        </m:r>
                      </m:sub>
                    </m:sSub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d>
                          <m:dPr>
                            <m:begChr m:val="‖"/>
                            <m:endChr m:val="‖"/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>
                                    <a:latin typeface="Cambria Math" panose="02040503050406030204" pitchFamily="18" charset="0"/>
                                  </a:rPr>
                                  <m:t>𝐟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ko-KR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1" i="1"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sub>
                            </m:sSub>
                            <m:d>
                              <m:dPr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ko-KR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altLang="ko-KR" b="1" i="1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  <m:sup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𝑳𝒊𝒑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𝒓</m:t>
                        </m:r>
                      </m:den>
                    </m:f>
                  </m:oMath>
                </a14:m>
                <a:endParaRPr lang="en-US" altLang="ko-KR" b="1" i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r>
                  <a:rPr lang="en-US" altLang="ko-KR" b="1" dirty="0">
                    <a:latin typeface="Arial Nova" panose="020B050402020202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𝝀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𝝀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∘</m:t>
                        </m:r>
                      </m:sub>
                    </m:sSub>
                  </m:oMath>
                </a14:m>
                <a:r>
                  <a:rPr lang="en-US" altLang="ko-KR" b="1" i="1" dirty="0">
                    <a:latin typeface="Arial Nova" panose="020B0504020202020204" pitchFamily="34" charset="0"/>
                  </a:rPr>
                  <a:t>, </a:t>
                </a:r>
                <a:r>
                  <a:rPr lang="en-US" altLang="ko-KR" b="1" dirty="0">
                    <a:latin typeface="Arial Nova" panose="020B0504020202020204" pitchFamily="34" charset="0"/>
                  </a:rPr>
                  <a:t>then for all </a:t>
                </a:r>
                <a14:m>
                  <m:oMath xmlns:m="http://schemas.openxmlformats.org/officeDocument/2006/math"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𝐭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, the following holds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altLang="ko-KR" b="1" dirty="0">
                    <a:latin typeface="Arial Nova" panose="020B0504020202020204" pitchFamily="34" charset="0"/>
                  </a:rPr>
                  <a:t>If</a:t>
                </a:r>
                <a:r>
                  <a:rPr lang="en-US" altLang="ko-KR" b="1" i="1" dirty="0">
                    <a:latin typeface="Arial Nova" panose="020B05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𝝀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𝝀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∘</m:t>
                        </m:r>
                      </m:sub>
                    </m:sSub>
                  </m:oMath>
                </a14:m>
                <a:r>
                  <a:rPr lang="en-US" altLang="ko-KR" b="1" i="1" dirty="0">
                    <a:latin typeface="Arial Nova" panose="020B0504020202020204" pitchFamily="34" charset="0"/>
                  </a:rPr>
                  <a:t>, </a:t>
                </a:r>
                <a:r>
                  <a:rPr lang="en-US" altLang="ko-KR" b="1" dirty="0">
                    <a:latin typeface="Arial Nova" panose="020B0504020202020204" pitchFamily="34" charset="0"/>
                  </a:rPr>
                  <a:t>then the following holds for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𝝀</m:t>
                        </m:r>
                      </m:den>
                    </m:f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𝒍𝒏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𝝀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𝝀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∘</m:t>
                            </m:r>
                          </m:sub>
                        </m:sSub>
                      </m:den>
                    </m:f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b="1" i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r>
                  <a:rPr lang="en-US" altLang="ko-KR" b="1" dirty="0">
                    <a:latin typeface="Arial Nova" panose="020B0504020202020204" pitchFamily="34" charset="0"/>
                  </a:rPr>
                  <a:t>In particular, for </a:t>
                </a:r>
                <a14:m>
                  <m:oMath xmlns:m="http://schemas.openxmlformats.org/officeDocument/2006/math">
                    <m:r>
                      <a:rPr lang="en-US" altLang="ko-KR" b="1" i="0">
                        <a:latin typeface="Cambria Math" panose="02040503050406030204" pitchFamily="18" charset="0"/>
                      </a:rPr>
                      <m:t>𝛌</m:t>
                    </m:r>
                    <m:r>
                      <a:rPr lang="en-US" altLang="ko-KR" b="1" i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0">
                            <a:latin typeface="Cambria Math" panose="02040503050406030204" pitchFamily="18" charset="0"/>
                          </a:rPr>
                          <m:t>𝛌</m:t>
                        </m:r>
                      </m:e>
                      <m:sub>
                        <m:r>
                          <a:rPr lang="en-US" altLang="ko-KR" b="1" i="0">
                            <a:latin typeface="Cambria Math" panose="02040503050406030204" pitchFamily="18" charset="0"/>
                          </a:rPr>
                          <m:t>∘</m:t>
                        </m:r>
                      </m:sub>
                    </m:sSub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, the bound from theorem 3 always holds and simplifies to</a:t>
                </a:r>
                <a:r>
                  <a:rPr lang="en-US" altLang="ko-KR" b="1" i="1" dirty="0">
                    <a:latin typeface="Arial Nova" panose="020B0504020202020204" pitchFamily="34" charset="0"/>
                  </a:rPr>
                  <a:t> </a:t>
                </a: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𝜽</m:t>
                                </m:r>
                              </m:e>
                              <m:sub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</m:e>
                            </m:acc>
                          </m:e>
                          <m:sub>
                            <m:sSub>
                              <m:sSubPr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ko-KR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b="1" i="1"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b>
                            </m:sSub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𝑳𝒊𝒑</m:t>
                    </m:r>
                    <m:d>
                      <m:d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</m:d>
                    <m:acc>
                      <m:accPr>
                        <m:chr m:val="̃"/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acc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𝑹</m:t>
                        </m:r>
                      </m:e>
                    </m:acc>
                    <m:d>
                      <m:dPr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ko-KR" altLang="en-US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𝟎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𝟐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𝒓𝑳𝒊𝒑</m:t>
                        </m:r>
                        <m:d>
                          <m:dPr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en-US" altLang="ko-KR" b="1" i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𝛁</m:t>
                            </m:r>
                            <m:r>
                              <a:rPr lang="en-US" altLang="ko-KR" b="1" i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𝐟</m:t>
                            </m:r>
                          </m:e>
                        </m:d>
                        <m: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+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𝑳𝒊𝒑</m:t>
                        </m:r>
                        <m:d>
                          <m:dPr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𝒇</m:t>
                            </m:r>
                          </m:e>
                        </m:d>
                      </m:e>
                    </m:d>
                    <m:r>
                      <a:rPr lang="en-US" altLang="ko-KR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𝒕</m:t>
                    </m:r>
                  </m:oMath>
                </a14:m>
                <a:endParaRPr lang="en-US" altLang="ko-KR" b="1" i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endParaRPr lang="en-US" altLang="ko-KR" i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r>
                  <a:rPr lang="en-US" altLang="ko-KR" dirty="0">
                    <a:latin typeface="Arial Nova" panose="020B0504020202020204" pitchFamily="34" charset="0"/>
                  </a:rPr>
                  <a:t>The bound “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𝐿𝑖𝑝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acc>
                      <m:accPr>
                        <m:chr m:val="̃"/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𝑅</m:t>
                        </m:r>
                      </m:e>
                    </m:acc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ko-KR" altLang="en-US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0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𝑟𝐿𝑖𝑝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∇f</m:t>
                            </m:r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+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𝐿𝑖𝑝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𝑓</m:t>
                            </m:r>
                          </m:e>
                        </m:d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𝑡</m:t>
                    </m:r>
                  </m:oMath>
                </a14:m>
                <a:r>
                  <a:rPr lang="en-US" altLang="ko-KR" dirty="0">
                    <a:latin typeface="Arial Nova" panose="020B0504020202020204" pitchFamily="34" charset="0"/>
                  </a:rPr>
                  <a:t>”</a:t>
                </a:r>
              </a:p>
              <a:p>
                <a:pPr marL="742950" lvl="1" indent="-285750">
                  <a:buFontTx/>
                  <a:buChar char="-"/>
                </a:pPr>
                <a:r>
                  <a:rPr lang="en-US" altLang="ko-KR" dirty="0">
                    <a:latin typeface="Arial Nova" panose="020B0504020202020204" pitchFamily="34" charset="0"/>
                  </a:rPr>
                  <a:t>Holds when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altLang="ko-KR" dirty="0">
                    <a:latin typeface="Arial Nova" panose="020B0504020202020204" pitchFamily="34" charset="0"/>
                  </a:rPr>
                  <a:t> is large </a:t>
                </a:r>
                <a:r>
                  <a:rPr lang="en-US" altLang="ko-KR" dirty="0">
                    <a:latin typeface="Arial Nova" panose="020B0504020202020204" pitchFamily="34" charset="0"/>
                    <a:sym typeface="Wingdings" panose="05000000000000000000" pitchFamily="2" charset="2"/>
                  </a:rPr>
                  <a:t> But it also implies that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ko-KR" dirty="0">
                    <a:latin typeface="Arial Nova" panose="020B0504020202020204" pitchFamily="34" charset="0"/>
                  </a:rPr>
                  <a:t> needs to be small, where the parameters need to be close to the pretrained parameters</a:t>
                </a:r>
              </a:p>
              <a:p>
                <a:pPr marL="742950" lvl="1" indent="-285750">
                  <a:buFontTx/>
                  <a:buChar char="-"/>
                </a:pPr>
                <a:r>
                  <a:rPr lang="en-US" altLang="ko-KR" dirty="0">
                    <a:latin typeface="Arial Nova" panose="020B050402020202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altLang="ko-KR" dirty="0">
                    <a:latin typeface="Arial Nova" panose="020B0504020202020204" pitchFamily="34" charset="0"/>
                  </a:rPr>
                  <a:t> is small, the bound holds when the time step is smaller than a certain value</a:t>
                </a:r>
              </a:p>
              <a:p>
                <a:pPr marL="742950" lvl="1" indent="-285750">
                  <a:buFontTx/>
                  <a:buChar char="-"/>
                </a:pPr>
                <a:endParaRPr lang="en-US" altLang="ko-KR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r>
                  <a:rPr lang="en-US" altLang="ko-KR" dirty="0">
                    <a:latin typeface="Arial Nova" panose="020B0504020202020204" pitchFamily="34" charset="0"/>
                  </a:rPr>
                  <a:t>The authors provide with a guide to deciding an appropriate regularization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∘</m:t>
                        </m:r>
                      </m:sub>
                    </m:sSub>
                  </m:oMath>
                </a14:m>
                <a:endParaRPr lang="en-US" altLang="ko-KR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r>
                  <a:rPr lang="en-US" altLang="ko-KR" dirty="0">
                    <a:latin typeface="Arial Nova" panose="020B0504020202020204" pitchFamily="34" charset="0"/>
                  </a:rPr>
                  <a:t>However, certain inquiries arise with respect to the bounding value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EF6A0A7-FF81-E996-8432-778DBC0307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880" y="1125427"/>
                <a:ext cx="11424720" cy="4757136"/>
              </a:xfrm>
              <a:prstGeom prst="rect">
                <a:avLst/>
              </a:prstGeom>
              <a:blipFill>
                <a:blip r:embed="rId3"/>
                <a:stretch>
                  <a:fillRect l="-427" t="-769" b="-115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직사각형 4">
            <a:extLst>
              <a:ext uri="{FF2B5EF4-FFF2-40B4-BE49-F238E27FC236}">
                <a16:creationId xmlns:a16="http://schemas.microsoft.com/office/drawing/2014/main" id="{8D687265-F82B-53DD-9AEB-C19A372F0AA3}"/>
              </a:ext>
            </a:extLst>
          </p:cNvPr>
          <p:cNvSpPr/>
          <p:nvPr/>
        </p:nvSpPr>
        <p:spPr bwMode="auto">
          <a:xfrm>
            <a:off x="6060240" y="4067455"/>
            <a:ext cx="1851860" cy="412491"/>
          </a:xfrm>
          <a:prstGeom prst="rect">
            <a:avLst/>
          </a:prstGeom>
          <a:solidFill>
            <a:schemeClr val="accent1">
              <a:lumMod val="60000"/>
              <a:lumOff val="40000"/>
              <a:alpha val="4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 Narrow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4D6484B-ACB1-B1B8-6408-C2FED9D30666}"/>
              </a:ext>
            </a:extLst>
          </p:cNvPr>
          <p:cNvSpPr/>
          <p:nvPr/>
        </p:nvSpPr>
        <p:spPr bwMode="auto">
          <a:xfrm>
            <a:off x="2654300" y="2035455"/>
            <a:ext cx="381000" cy="282295"/>
          </a:xfrm>
          <a:prstGeom prst="rect">
            <a:avLst/>
          </a:prstGeom>
          <a:solidFill>
            <a:schemeClr val="accent1">
              <a:lumMod val="60000"/>
              <a:lumOff val="40000"/>
              <a:alpha val="4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 Narrow" pitchFamily="34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E262BAC-946E-CC4E-676C-9729FC6A9718}"/>
              </a:ext>
            </a:extLst>
          </p:cNvPr>
          <p:cNvSpPr/>
          <p:nvPr/>
        </p:nvSpPr>
        <p:spPr bwMode="auto">
          <a:xfrm>
            <a:off x="1930400" y="1463970"/>
            <a:ext cx="908050" cy="282295"/>
          </a:xfrm>
          <a:prstGeom prst="rect">
            <a:avLst/>
          </a:prstGeom>
          <a:solidFill>
            <a:schemeClr val="accent1">
              <a:lumMod val="60000"/>
              <a:lumOff val="40000"/>
              <a:alpha val="4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 Narrow" pitchFamily="34" charset="0"/>
            </a:endParaRPr>
          </a:p>
        </p:txBody>
      </p:sp>
      <p:pic>
        <p:nvPicPr>
          <p:cNvPr id="8" name="Picture 2" descr="Check ">
            <a:extLst>
              <a:ext uri="{FF2B5EF4-FFF2-40B4-BE49-F238E27FC236}">
                <a16:creationId xmlns:a16="http://schemas.microsoft.com/office/drawing/2014/main" id="{C0DB9BC0-5F90-883A-64BD-C37E72B8A3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2" y="5027112"/>
            <a:ext cx="480036" cy="480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4901535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501B5-6182-84FF-AA0F-07EB5BFEC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14D541BA-340E-7911-5403-09901AA94B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3878" y="2299640"/>
            <a:ext cx="11841922" cy="230194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sz="3600" dirty="0">
                <a:solidFill>
                  <a:schemeClr val="tx1"/>
                </a:solidFill>
                <a:latin typeface="Arial Nova"/>
                <a:cs typeface="Arial"/>
              </a:rPr>
              <a:t>Section 4 : Fine-Tuning Meets NTK Regression</a:t>
            </a:r>
            <a:endParaRPr lang="ko-KR" altLang="en-US" b="0" dirty="0">
              <a:solidFill>
                <a:schemeClr val="tx1"/>
              </a:solidFill>
              <a:latin typeface="Arial Nova"/>
              <a:cs typeface="Arial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952CEAA-AADF-6E26-5B88-76105E8A2FA6}"/>
              </a:ext>
            </a:extLst>
          </p:cNvPr>
          <p:cNvSpPr/>
          <p:nvPr/>
        </p:nvSpPr>
        <p:spPr>
          <a:xfrm>
            <a:off x="4" y="0"/>
            <a:ext cx="12191996" cy="950400"/>
          </a:xfrm>
          <a:prstGeom prst="rect">
            <a:avLst/>
          </a:prstGeom>
          <a:solidFill>
            <a:srgbClr val="2530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40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EECE695D : Deep Learning Theory</a:t>
            </a:r>
            <a:endParaRPr kumimoji="1" lang="ko-Kore-KR" altLang="en-US" sz="4000" b="1" dirty="0">
              <a:solidFill>
                <a:schemeClr val="bg1"/>
              </a:solidFill>
              <a:latin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2964888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60153-A3A9-2680-929B-0DBF4B457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BF6E0D-8DA4-2B09-687C-E3E1237C6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00" y="144463"/>
            <a:ext cx="11424720" cy="752792"/>
          </a:xfrm>
        </p:spPr>
        <p:txBody>
          <a:bodyPr/>
          <a:lstStyle/>
          <a:p>
            <a:r>
              <a:rPr lang="en-US" altLang="ko-KR" dirty="0"/>
              <a:t>Fine-tuning can be defined as RKHS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AA6468-898F-A1D9-0F96-9831C82F71EC}"/>
              </a:ext>
            </a:extLst>
          </p:cNvPr>
          <p:cNvSpPr txBox="1"/>
          <p:nvPr/>
        </p:nvSpPr>
        <p:spPr>
          <a:xfrm>
            <a:off x="0" y="6590426"/>
            <a:ext cx="114247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Afzal, Zahra Rahimi, et al. "Linearization Explains Fine-Tuning in Large Language Models." </a:t>
            </a:r>
            <a:r>
              <a:rPr lang="en-US" altLang="ko-KR" sz="1000" i="1" dirty="0">
                <a:solidFill>
                  <a:schemeClr val="bg1">
                    <a:lumMod val="65000"/>
                  </a:schemeClr>
                </a:solidFill>
              </a:rPr>
              <a:t>The 39th Annual Conference on </a:t>
            </a:r>
            <a:r>
              <a:rPr lang="en-US" altLang="ko-KR" sz="1000" i="1" dirty="0" err="1">
                <a:solidFill>
                  <a:schemeClr val="bg1">
                    <a:lumMod val="65000"/>
                  </a:schemeClr>
                </a:solidFill>
              </a:rPr>
              <a:t>NeurIPS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1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6C85C4-CB59-B5DD-B82C-02F3023BFFB5}"/>
              </a:ext>
            </a:extLst>
          </p:cNvPr>
          <p:cNvSpPr txBox="1"/>
          <p:nvPr/>
        </p:nvSpPr>
        <p:spPr>
          <a:xfrm>
            <a:off x="347880" y="1125427"/>
            <a:ext cx="11424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endParaRPr lang="en-US" altLang="ko-KR" b="1" dirty="0">
              <a:latin typeface="Arial Nova" panose="020B05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2AE2D8-384A-4790-EFF8-E89515D95893}"/>
              </a:ext>
            </a:extLst>
          </p:cNvPr>
          <p:cNvSpPr txBox="1"/>
          <p:nvPr/>
        </p:nvSpPr>
        <p:spPr>
          <a:xfrm>
            <a:off x="347880" y="1412296"/>
            <a:ext cx="114247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sz="2400" b="1" dirty="0">
                <a:latin typeface="Arial Nova" panose="020B0504020202020204" pitchFamily="34" charset="0"/>
              </a:rPr>
              <a:t>As so far, we showed that regularized fine-tuning is in the linearized regime.</a:t>
            </a:r>
          </a:p>
          <a:p>
            <a:pPr marL="285750" indent="-285750">
              <a:buFontTx/>
              <a:buChar char="-"/>
            </a:pPr>
            <a:r>
              <a:rPr lang="en-US" altLang="ko-KR" sz="2400" b="1" dirty="0">
                <a:latin typeface="Arial Nova" panose="020B0504020202020204" pitchFamily="34" charset="0"/>
              </a:rPr>
              <a:t>Linearized regime? NTK!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9D8A04A-1F81-F42E-C537-260D697E39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" y="3002353"/>
            <a:ext cx="5146200" cy="1659387"/>
          </a:xfrm>
          <a:prstGeom prst="rect">
            <a:avLst/>
          </a:prstGeom>
        </p:spPr>
      </p:pic>
      <p:sp>
        <p:nvSpPr>
          <p:cNvPr id="13" name="오른쪽 화살표[R] 12">
            <a:extLst>
              <a:ext uri="{FF2B5EF4-FFF2-40B4-BE49-F238E27FC236}">
                <a16:creationId xmlns:a16="http://schemas.microsoft.com/office/drawing/2014/main" id="{03FEB205-A608-3EBC-1FED-734BEDFD9228}"/>
              </a:ext>
            </a:extLst>
          </p:cNvPr>
          <p:cNvSpPr/>
          <p:nvPr/>
        </p:nvSpPr>
        <p:spPr bwMode="auto">
          <a:xfrm>
            <a:off x="5362100" y="3578682"/>
            <a:ext cx="1045160" cy="379623"/>
          </a:xfrm>
          <a:prstGeom prst="rightArrow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ore-KR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98E4C41-DCAE-8B65-64D2-62CF59113D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9698" y="3315102"/>
            <a:ext cx="5466402" cy="83099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FD891D7-464E-DB98-2EDA-C7B47E02C640}"/>
              </a:ext>
            </a:extLst>
          </p:cNvPr>
          <p:cNvSpPr txBox="1"/>
          <p:nvPr/>
        </p:nvSpPr>
        <p:spPr>
          <a:xfrm>
            <a:off x="347880" y="5188445"/>
            <a:ext cx="11424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latin typeface="Arial Nova" panose="020B0504020202020204" pitchFamily="34" charset="0"/>
              </a:rPr>
              <a:t>Regularized fine-tuning </a:t>
            </a:r>
            <a:r>
              <a:rPr lang="en-US" altLang="ko-KR" sz="2400" b="1" dirty="0">
                <a:latin typeface="Arial Nova" panose="020B0504020202020204" pitchFamily="34" charset="0"/>
                <a:sym typeface="Wingdings" panose="05000000000000000000" pitchFamily="2" charset="2"/>
              </a:rPr>
              <a:t></a:t>
            </a:r>
            <a:r>
              <a:rPr lang="en-US" altLang="ko-KR" sz="2400" b="1" dirty="0">
                <a:latin typeface="Arial Nova" panose="020B0504020202020204" pitchFamily="34" charset="0"/>
              </a:rPr>
              <a:t> Kernel ridge regression problem</a:t>
            </a:r>
          </a:p>
        </p:txBody>
      </p:sp>
    </p:spTree>
    <p:extLst>
      <p:ext uri="{BB962C8B-B14F-4D97-AF65-F5344CB8AC3E}">
        <p14:creationId xmlns:p14="http://schemas.microsoft.com/office/powerpoint/2010/main" val="163541704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D5C12-E42E-7FFE-510F-115850769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0AF745-78FC-3B77-472A-078F3B7C5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00" y="144463"/>
            <a:ext cx="11424720" cy="752792"/>
          </a:xfrm>
        </p:spPr>
        <p:txBody>
          <a:bodyPr/>
          <a:lstStyle/>
          <a:p>
            <a:r>
              <a:rPr lang="en-US" altLang="ko-KR" dirty="0"/>
              <a:t>Fine-tuning can be defined as RKHS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1AD961-733C-7E2C-C118-432F517FF861}"/>
              </a:ext>
            </a:extLst>
          </p:cNvPr>
          <p:cNvSpPr txBox="1"/>
          <p:nvPr/>
        </p:nvSpPr>
        <p:spPr>
          <a:xfrm>
            <a:off x="0" y="6590426"/>
            <a:ext cx="114247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Afzal, Zahra Rahimi, et al. "Linearization Explains Fine-Tuning in Large Language Models." </a:t>
            </a:r>
            <a:r>
              <a:rPr lang="en-US" altLang="ko-KR" sz="1000" i="1" dirty="0">
                <a:solidFill>
                  <a:schemeClr val="bg1">
                    <a:lumMod val="65000"/>
                  </a:schemeClr>
                </a:solidFill>
              </a:rPr>
              <a:t>The 39th Annual Conference on </a:t>
            </a:r>
            <a:r>
              <a:rPr lang="en-US" altLang="ko-KR" sz="1000" i="1" dirty="0" err="1">
                <a:solidFill>
                  <a:schemeClr val="bg1">
                    <a:lumMod val="65000"/>
                  </a:schemeClr>
                </a:solidFill>
              </a:rPr>
              <a:t>NeurIPS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1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E5CC36-A366-BAD6-8531-F267047F6C13}"/>
              </a:ext>
            </a:extLst>
          </p:cNvPr>
          <p:cNvSpPr txBox="1"/>
          <p:nvPr/>
        </p:nvSpPr>
        <p:spPr>
          <a:xfrm>
            <a:off x="347880" y="1125427"/>
            <a:ext cx="11424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endParaRPr lang="en-US" altLang="ko-KR" b="1" dirty="0">
              <a:latin typeface="Arial Nova" panose="020B05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17A5AF-0343-C837-F9BA-ED96C5CFDA30}"/>
              </a:ext>
            </a:extLst>
          </p:cNvPr>
          <p:cNvSpPr txBox="1"/>
          <p:nvPr/>
        </p:nvSpPr>
        <p:spPr>
          <a:xfrm>
            <a:off x="347880" y="1125427"/>
            <a:ext cx="114247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sz="2400" b="1" dirty="0">
                <a:latin typeface="Arial Nova" panose="020B0504020202020204" pitchFamily="34" charset="0"/>
              </a:rPr>
              <a:t>As so far, we showed that regularized fine-tuning is in the linearized regime.</a:t>
            </a:r>
          </a:p>
          <a:p>
            <a:pPr marL="285750" indent="-285750">
              <a:buFontTx/>
              <a:buChar char="-"/>
            </a:pPr>
            <a:r>
              <a:rPr lang="en-US" altLang="ko-KR" sz="2400" b="1" dirty="0">
                <a:latin typeface="Arial Nova" panose="020B0504020202020204" pitchFamily="34" charset="0"/>
              </a:rPr>
              <a:t>Linearized regime? NTK!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852A30F-576E-CE34-3FC1-68C128560693}"/>
              </a:ext>
            </a:extLst>
          </p:cNvPr>
          <p:cNvSpPr/>
          <p:nvPr/>
        </p:nvSpPr>
        <p:spPr bwMode="auto">
          <a:xfrm>
            <a:off x="347880" y="2184596"/>
            <a:ext cx="11424720" cy="960048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6BF7D4F-6153-A9AF-3CAA-89EB99F8F987}"/>
                  </a:ext>
                </a:extLst>
              </p:cNvPr>
              <p:cNvSpPr txBox="1"/>
              <p:nvPr/>
            </p:nvSpPr>
            <p:spPr>
              <a:xfrm>
                <a:off x="419400" y="2184596"/>
                <a:ext cx="11424720" cy="39971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altLang="ko-KR" dirty="0">
                  <a:latin typeface="Arial Nova" panose="020B0504020202020204" pitchFamily="34" charset="0"/>
                </a:endParaRPr>
              </a:p>
              <a:p>
                <a:r>
                  <a:rPr lang="en-US" altLang="ko-KR" b="1" dirty="0">
                    <a:latin typeface="Arial Nova" panose="020B0504020202020204" pitchFamily="34" charset="0"/>
                  </a:rPr>
                  <a:t>If the model is linear, the problem is equivalent to solve ridge regression problem with feature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𝝓</m:t>
                    </m:r>
                    <m:d>
                      <m:d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endParaRPr lang="en-US" altLang="ko-KR" b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endParaRPr lang="en-US" altLang="ko-KR" b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endParaRPr lang="en-US" altLang="ko-KR" b="1" dirty="0">
                  <a:latin typeface="Arial Nova" panose="020B0504020202020204" pitchFamily="34" charset="0"/>
                </a:endParaRPr>
              </a:p>
              <a:p>
                <a:endParaRPr lang="en-US" altLang="ko-KR" b="1" dirty="0">
                  <a:latin typeface="Arial Nova" panose="020B0504020202020204" pitchFamily="34" charset="0"/>
                </a:endParaRPr>
              </a:p>
              <a:p>
                <a:r>
                  <a:rPr lang="en-US" altLang="ko-KR" dirty="0">
                    <a:latin typeface="Arial Nova" panose="020B0504020202020204" pitchFamily="34" charset="0"/>
                  </a:rPr>
                  <a:t>Original problem :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𝑚𝑖</m:t>
                    </m:r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f>
                      <m:f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num>
                          <m:den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altLang="ko-KR" dirty="0">
                  <a:latin typeface="Arial Nova" panose="020B0504020202020204" pitchFamily="34" charset="0"/>
                </a:endParaRPr>
              </a:p>
              <a:p>
                <a:endParaRPr lang="en-US" altLang="ko-KR" dirty="0">
                  <a:latin typeface="Arial Nova" panose="020B0504020202020204" pitchFamily="34" charset="0"/>
                </a:endParaRPr>
              </a:p>
              <a:p>
                <a:r>
                  <a:rPr lang="en-US" altLang="ko-KR" dirty="0">
                    <a:latin typeface="Arial Nova" panose="020B0504020202020204" pitchFamily="34" charset="0"/>
                  </a:rPr>
                  <a:t>We have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</m:sSub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</m:d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d>
                      <m:d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𝜙</m:t>
                    </m:r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ko-KR" dirty="0">
                  <a:latin typeface="Arial Nova" panose="020B0504020202020204" pitchFamily="34" charset="0"/>
                </a:endParaRPr>
              </a:p>
              <a:p>
                <a:endParaRPr lang="en-US" altLang="ko-KR" dirty="0">
                  <a:latin typeface="Arial Nova" panose="020B0504020202020204" pitchFamily="34" charset="0"/>
                </a:endParaRPr>
              </a:p>
              <a:p>
                <a:r>
                  <a:rPr lang="en-US" altLang="ko-KR" dirty="0">
                    <a:latin typeface="Arial Nova" panose="020B0504020202020204" pitchFamily="34" charset="0"/>
                  </a:rPr>
                  <a:t>The problem is approximately equivalent to solve </a:t>
                </a:r>
                <a:endParaRPr lang="en-US" altLang="ko-KR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𝑚𝑖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  <m:sSup>
                                    <m:sSupPr>
                                      <m:ctrlPr>
                                        <a:rPr lang="en-US" altLang="ko-KR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ko-KR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ko-KR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ko-K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ko-K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⊤</m:t>
                                      </m:r>
                                    </m:sup>
                                  </m:s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 −</m:t>
                                  </m:r>
                                  <m:acc>
                                    <m:accPr>
                                      <m:chr m:val="̃"/>
                                      <m:ctrlPr>
                                        <a:rPr lang="en-US" altLang="ko-KR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altLang="ko-KR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m:rPr>
                              <m:lit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sSup>
                            <m:s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lit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ko-KR" dirty="0">
                  <a:latin typeface="Arial Nova" panose="020B0504020202020204" pitchFamily="34" charset="0"/>
                </a:endParaRPr>
              </a:p>
              <a:p>
                <a:r>
                  <a:rPr lang="en-US" altLang="ko-KR" dirty="0">
                    <a:latin typeface="Arial Nova" panose="020B0504020202020204" pitchFamily="34" charset="0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ko-KR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dirty="0">
                    <a:latin typeface="Arial Nova" panose="020B050402020202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altLang="ko-KR" dirty="0">
                    <a:latin typeface="Arial Nova" panose="020B0504020202020204" pitchFamily="34" charset="0"/>
                  </a:rPr>
                  <a:t>. This is actually ridge regression problem with feature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ko-KR" dirty="0"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6BF7D4F-6153-A9AF-3CAA-89EB99F8F9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400" y="2184596"/>
                <a:ext cx="11424720" cy="3997120"/>
              </a:xfrm>
              <a:prstGeom prst="rect">
                <a:avLst/>
              </a:prstGeom>
              <a:blipFill>
                <a:blip r:embed="rId3"/>
                <a:stretch>
                  <a:fillRect l="-480" b="-76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2378372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0E359A-6BC9-8F2D-8D1D-4EBB62E15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sz="2800" dirty="0"/>
              <a:t>Optimal parameter of MSE + weight decay objective</a:t>
            </a:r>
            <a:endParaRPr kumimoji="1" lang="ko-Kore-KR" altLang="en-US" sz="28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EEFD7F1-17F4-2EA3-7BFF-FEF21F808E49}"/>
              </a:ext>
            </a:extLst>
          </p:cNvPr>
          <p:cNvSpPr/>
          <p:nvPr/>
        </p:nvSpPr>
        <p:spPr bwMode="auto">
          <a:xfrm>
            <a:off x="347880" y="1054648"/>
            <a:ext cx="11424720" cy="2374352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49E193D-3C79-0282-81B2-8B37BE7A0CDA}"/>
                  </a:ext>
                </a:extLst>
              </p:cNvPr>
              <p:cNvSpPr txBox="1"/>
              <p:nvPr/>
            </p:nvSpPr>
            <p:spPr>
              <a:xfrm>
                <a:off x="383640" y="1054648"/>
                <a:ext cx="11424720" cy="6497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/>
                  <a:t>Let’s consider a </a:t>
                </a:r>
                <a:r>
                  <a:rPr lang="en-US" altLang="ko-KR" b="1" dirty="0" err="1"/>
                  <a:t>MSE+weight</a:t>
                </a:r>
                <a:r>
                  <a:rPr lang="en-US" altLang="ko-KR" b="1" dirty="0"/>
                  <a:t> decay optimization problem of model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sub>
                    </m:sSub>
                    <m:d>
                      <m:d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𝝓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𝝓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is a feature vector of input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.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𝑚𝑖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  <m:sSup>
                                    <m:sSup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ko-KR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ko-KR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ko-KR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⊤</m:t>
                                      </m:r>
                                    </m:sup>
                                  </m:sSup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 −</m:t>
                                  </m:r>
                                  <m:acc>
                                    <m:accPr>
                                      <m:chr m:val="̃"/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m:rPr>
                              <m:lit/>
                            </m:rPr>
                            <a:rPr lang="en-US" altLang="ko-KR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𝑤</m:t>
                          </m:r>
                          <m:sSup>
                            <m:s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lit/>
                                </m:rP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ko-KR" b="1" dirty="0">
                  <a:latin typeface="Arial Nova" panose="020B0504020202020204" pitchFamily="34" charset="0"/>
                </a:endParaRPr>
              </a:p>
              <a:p>
                <a:r>
                  <a:rPr lang="en-US" altLang="ko-KR" b="1" dirty="0">
                    <a:latin typeface="Arial Nova" panose="020B0504020202020204" pitchFamily="34" charset="0"/>
                  </a:rPr>
                  <a:t>Then, the optimal parameter is on the space spanned by the feature vectors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𝝓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altLang="ko-KR" b="1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ko-KR" b="1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altLang="ko-KR" b="1" i="1" smtClean="0">
                              <a:latin typeface="Cambria Math" panose="02040503050406030204" pitchFamily="18" charset="0"/>
                            </a:rPr>
                            <m:t>𝝓</m:t>
                          </m:r>
                          <m:d>
                            <m:dPr>
                              <m:ctrlPr>
                                <a:rPr lang="en-US" altLang="ko-KR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ko-KR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altLang="ko-KR" b="1" dirty="0">
                  <a:latin typeface="Arial Nova" panose="020B0504020202020204" pitchFamily="34" charset="0"/>
                </a:endParaRPr>
              </a:p>
              <a:p>
                <a:endParaRPr lang="en-US" altLang="ko-KR" b="1" dirty="0">
                  <a:latin typeface="Arial Nova" panose="020B0504020202020204" pitchFamily="34" charset="0"/>
                </a:endParaRPr>
              </a:p>
              <a:p>
                <a:endParaRPr lang="en-US" altLang="ko-KR" b="1" dirty="0">
                  <a:latin typeface="Arial Nova" panose="020B0504020202020204" pitchFamily="34" charset="0"/>
                </a:endParaRPr>
              </a:p>
              <a:p>
                <a:pPr marL="342900" indent="-342900">
                  <a:buAutoNum type="arabicPeriod"/>
                </a:pPr>
                <a:r>
                  <a:rPr lang="en-US" altLang="ko-KR" dirty="0">
                    <a:latin typeface="Arial Nova" panose="020B0504020202020204" pitchFamily="34" charset="0"/>
                  </a:rPr>
                  <a:t>The parameters can be divided into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||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⊥</m:t>
                        </m:r>
                      </m:sub>
                    </m:sSub>
                  </m:oMath>
                </a14:m>
                <a:r>
                  <a:rPr lang="en-US" altLang="ko-KR" dirty="0">
                    <a:latin typeface="Arial Nova" panose="020B0504020202020204" pitchFamily="34" charset="0"/>
                  </a:rPr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||</m:t>
                        </m:r>
                      </m:sub>
                    </m:sSub>
                  </m:oMath>
                </a14:m>
                <a:r>
                  <a:rPr lang="en-US" altLang="ko-KR" dirty="0">
                    <a:latin typeface="Arial Nova" panose="020B0504020202020204" pitchFamily="34" charset="0"/>
                  </a:rPr>
                  <a:t> is on the space spanned by features </a:t>
                </a:r>
                <a14:m>
                  <m:oMath xmlns:m="http://schemas.openxmlformats.org/officeDocument/2006/math">
                    <m:r>
                      <a:rPr lang="en-US" altLang="ko-KR" b="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altLang="ko-KR" dirty="0">
                    <a:latin typeface="Arial Nova" panose="020B0504020202020204" pitchFamily="34" charset="0"/>
                  </a:rPr>
                  <a:t>, </a:t>
                </a:r>
              </a:p>
              <a:p>
                <a:r>
                  <a:rPr lang="en-US" altLang="ko-KR" dirty="0">
                    <a:latin typeface="Arial Nova" panose="020B0504020202020204" pitchFamily="34" charset="0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⊥</m:t>
                        </m:r>
                      </m:sub>
                    </m:sSub>
                  </m:oMath>
                </a14:m>
                <a:r>
                  <a:rPr lang="en-US" altLang="ko-KR" dirty="0">
                    <a:latin typeface="Arial Nova" panose="020B0504020202020204" pitchFamily="34" charset="0"/>
                  </a:rPr>
                  <a:t> is perpendicular to that space.</a:t>
                </a:r>
              </a:p>
              <a:p>
                <a:endParaRPr lang="en-US" altLang="ko-KR" dirty="0">
                  <a:latin typeface="Arial Nova" panose="020B0504020202020204" pitchFamily="34" charset="0"/>
                </a:endParaRPr>
              </a:p>
              <a:p>
                <a:r>
                  <a:rPr lang="en-US" altLang="ko-KR" dirty="0">
                    <a:latin typeface="Arial Nova" panose="020B0504020202020204" pitchFamily="34" charset="0"/>
                  </a:rPr>
                  <a:t>2.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𝜙</m:t>
                    </m:r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𝜙</m:t>
                    </m:r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d>
                      <m:d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||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⊥</m:t>
                            </m:r>
                          </m:sub>
                        </m:sSub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𝜙</m:t>
                    </m:r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||</m:t>
                        </m:r>
                      </m:sub>
                    </m:sSub>
                  </m:oMath>
                </a14:m>
                <a:r>
                  <a:rPr lang="en-US" altLang="ko-KR" dirty="0">
                    <a:latin typeface="Arial Nova" panose="020B0504020202020204" pitchFamily="34" charset="0"/>
                  </a:rPr>
                  <a:t>, so the </a:t>
                </a:r>
                <a14:m>
                  <m:oMath xmlns:m="http://schemas.openxmlformats.org/officeDocument/2006/math">
                    <m:r>
                      <a:rPr lang="en-US" altLang="ko-KR" b="0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⊥</m:t>
                        </m:r>
                      </m:sub>
                    </m:sSub>
                  </m:oMath>
                </a14:m>
                <a:r>
                  <a:rPr lang="en-US" altLang="ko-KR" dirty="0">
                    <a:latin typeface="Arial Nova" panose="020B0504020202020204" pitchFamily="34" charset="0"/>
                  </a:rPr>
                  <a:t> does not affect to the model output.</a:t>
                </a:r>
              </a:p>
              <a:p>
                <a:endParaRPr lang="en-US" altLang="ko-KR" dirty="0">
                  <a:latin typeface="Arial Nova" panose="020B0504020202020204" pitchFamily="34" charset="0"/>
                </a:endParaRPr>
              </a:p>
              <a:p>
                <a:r>
                  <a:rPr lang="en-US" altLang="ko-KR" dirty="0">
                    <a:latin typeface="Arial Nova" panose="020B0504020202020204" pitchFamily="34" charset="0"/>
                  </a:rPr>
                  <a:t>3. In optimal parameter, the </a:t>
                </a:r>
                <a:r>
                  <a:rPr lang="en-US" altLang="ko-KR" dirty="0" err="1">
                    <a:latin typeface="Arial Nova" panose="020B0504020202020204" pitchFamily="34" charset="0"/>
                  </a:rPr>
                  <a:t>regularizer</a:t>
                </a:r>
                <a:r>
                  <a:rPr lang="en-US" altLang="ko-KR" dirty="0">
                    <a:latin typeface="Arial Nova" panose="020B0504020202020204" pitchFamily="34" charset="0"/>
                  </a:rPr>
                  <a:t> make </a:t>
                </a:r>
                <a14:m>
                  <m:oMath xmlns:m="http://schemas.openxmlformats.org/officeDocument/2006/math">
                    <m:r>
                      <a:rPr lang="en-US" altLang="ko-KR" b="0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⊥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r>
                  <a:rPr lang="en-US" altLang="ko-KR" dirty="0">
                    <a:latin typeface="Arial Nova" panose="020B0504020202020204" pitchFamily="34" charset="0"/>
                  </a:rPr>
                  <a:t>. If not, it is not optimal.</a:t>
                </a:r>
              </a:p>
              <a:p>
                <a:endParaRPr lang="en-US" altLang="ko-KR" dirty="0">
                  <a:latin typeface="Arial Nova" panose="020B0504020202020204" pitchFamily="34" charset="0"/>
                </a:endParaRPr>
              </a:p>
              <a:p>
                <a:r>
                  <a:rPr lang="en-US" altLang="ko-KR" dirty="0">
                    <a:latin typeface="Arial Nova" panose="020B0504020202020204" pitchFamily="34" charset="0"/>
                  </a:rPr>
                  <a:t>4. Therefore, the optimal parameter is spanned by feature vectors, so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ko-KR" b="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en-US" altLang="ko-KR" dirty="0">
                  <a:latin typeface="Arial Nova" panose="020B0504020202020204" pitchFamily="34" charset="0"/>
                </a:endParaRPr>
              </a:p>
              <a:p>
                <a:endParaRPr lang="en-US" altLang="ko-KR" b="1" dirty="0">
                  <a:latin typeface="Arial Nova" panose="020B0504020202020204" pitchFamily="34" charset="0"/>
                </a:endParaRPr>
              </a:p>
              <a:p>
                <a:endParaRPr lang="en-US" altLang="ko-KR" b="1" dirty="0">
                  <a:latin typeface="Arial Nova" panose="020B0504020202020204" pitchFamily="34" charset="0"/>
                </a:endParaRPr>
              </a:p>
              <a:p>
                <a:endParaRPr lang="en-US" altLang="ko-KR" b="1" dirty="0">
                  <a:latin typeface="Arial Nova" panose="020B0504020202020204" pitchFamily="34" charset="0"/>
                </a:endParaRPr>
              </a:p>
              <a:p>
                <a:endParaRPr lang="en-US" altLang="ko-KR" b="1" dirty="0">
                  <a:latin typeface="Arial Nova" panose="020B0504020202020204" pitchFamily="34" charset="0"/>
                </a:endParaRPr>
              </a:p>
              <a:p>
                <a:endParaRPr lang="en-US" altLang="ko-KR" b="1" dirty="0"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49E193D-3C79-0282-81B2-8B37BE7A0C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640" y="1054648"/>
                <a:ext cx="11424720" cy="6497997"/>
              </a:xfrm>
              <a:prstGeom prst="rect">
                <a:avLst/>
              </a:prstGeom>
              <a:blipFill>
                <a:blip r:embed="rId3"/>
                <a:stretch>
                  <a:fillRect l="-444" t="-6055" r="-889"/>
                </a:stretch>
              </a:blipFill>
            </p:spPr>
            <p:txBody>
              <a:bodyPr/>
              <a:lstStyle/>
              <a:p>
                <a:r>
                  <a:rPr lang="ko-Kore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0476001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6DBD2-D741-B06C-1A16-AF9B4950F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C560BB-C88C-140B-3741-0082CE153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00" y="144463"/>
            <a:ext cx="11424720" cy="752792"/>
          </a:xfrm>
        </p:spPr>
        <p:txBody>
          <a:bodyPr/>
          <a:lstStyle/>
          <a:p>
            <a:r>
              <a:rPr lang="en-US" altLang="ko-KR" dirty="0"/>
              <a:t>Fine-tuning can be defined as RKHS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1DC51F-0B7C-273C-7C82-B87849074B0C}"/>
              </a:ext>
            </a:extLst>
          </p:cNvPr>
          <p:cNvSpPr txBox="1"/>
          <p:nvPr/>
        </p:nvSpPr>
        <p:spPr>
          <a:xfrm>
            <a:off x="0" y="6590426"/>
            <a:ext cx="114247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Afzal, Zahra Rahimi, et al. "Linearization Explains Fine-Tuning in Large Language Models." </a:t>
            </a:r>
            <a:r>
              <a:rPr lang="en-US" altLang="ko-KR" sz="1000" i="1" dirty="0">
                <a:solidFill>
                  <a:schemeClr val="bg1">
                    <a:lumMod val="65000"/>
                  </a:schemeClr>
                </a:solidFill>
              </a:rPr>
              <a:t>The 39th Annual Conference on </a:t>
            </a:r>
            <a:r>
              <a:rPr lang="en-US" altLang="ko-KR" sz="1000" i="1" dirty="0" err="1">
                <a:solidFill>
                  <a:schemeClr val="bg1">
                    <a:lumMod val="65000"/>
                  </a:schemeClr>
                </a:solidFill>
              </a:rPr>
              <a:t>NeurIPS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1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E758B5-8CA9-6E11-48E4-732DF550D4A8}"/>
              </a:ext>
            </a:extLst>
          </p:cNvPr>
          <p:cNvSpPr txBox="1"/>
          <p:nvPr/>
        </p:nvSpPr>
        <p:spPr>
          <a:xfrm>
            <a:off x="347880" y="1125427"/>
            <a:ext cx="11424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endParaRPr lang="en-US" altLang="ko-KR" b="1" dirty="0">
              <a:latin typeface="Arial Nova" panose="020B05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77EF219-33AD-28A4-2238-A59A8C02F50E}"/>
                  </a:ext>
                </a:extLst>
              </p:cNvPr>
              <p:cNvSpPr txBox="1"/>
              <p:nvPr/>
            </p:nvSpPr>
            <p:spPr>
              <a:xfrm>
                <a:off x="383640" y="1310093"/>
                <a:ext cx="11424720" cy="49314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400" dirty="0">
                    <a:latin typeface="Arial Nova" panose="020B0504020202020204" pitchFamily="34" charset="0"/>
                  </a:rPr>
                  <a:t>Consider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40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altLang="ko-KR" sz="2400" b="1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ko-KR" sz="2400" b="1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24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sz="24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ko-KR" sz="24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altLang="ko-KR" sz="2400" b="1" i="1">
                              <a:latin typeface="Cambria Math" panose="02040503050406030204" pitchFamily="18" charset="0"/>
                            </a:rPr>
                            <m:t>𝝓</m:t>
                          </m:r>
                          <m:d>
                            <m:dPr>
                              <m:ctrlPr>
                                <a:rPr lang="en-US" altLang="ko-KR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ko-KR" sz="24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altLang="ko-KR" sz="2400" b="1" i="1" smtClean="0">
                          <a:latin typeface="Cambria Math" panose="02040503050406030204" pitchFamily="18" charset="0"/>
                        </a:rPr>
                        <m:t> , </m:t>
                      </m:r>
                      <m:r>
                        <a:rPr lang="en-US" altLang="ko-KR" sz="2400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  <m:r>
                        <a:rPr lang="en-US" altLang="ko-KR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400" b="1" i="1">
                              <a:latin typeface="Cambria Math" panose="02040503050406030204" pitchFamily="18" charset="0"/>
                            </a:rPr>
                            <m:t>𝝓</m:t>
                          </m:r>
                          <m:r>
                            <a:rPr lang="en-US" altLang="ko-KR" sz="24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ko-KR" sz="24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ko-KR" sz="2400" b="1" i="1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a:rPr lang="en-US" altLang="ko-KR" sz="2400" b="1" i="1">
                          <a:latin typeface="Cambria Math" panose="02040503050406030204" pitchFamily="18" charset="0"/>
                        </a:rPr>
                        <m:t>𝒘</m:t>
                      </m:r>
                    </m:oMath>
                  </m:oMathPara>
                </a14:m>
                <a:endParaRPr lang="en-US" altLang="ko-KR" sz="2400" b="1" dirty="0">
                  <a:latin typeface="Arial Nova" panose="020B0504020202020204" pitchFamily="34" charset="0"/>
                </a:endParaRPr>
              </a:p>
              <a:p>
                <a:endParaRPr lang="en-US" altLang="ko-KR" b="1" dirty="0">
                  <a:latin typeface="Arial Nova" panose="020B0504020202020204" pitchFamily="34" charset="0"/>
                </a:endParaRPr>
              </a:p>
              <a:p>
                <a:r>
                  <a:rPr lang="en-US" altLang="ko-KR" sz="2400" dirty="0">
                    <a:latin typeface="Arial Nova" panose="020B0504020202020204" pitchFamily="34" charset="0"/>
                  </a:rPr>
                  <a:t>the optimal function value is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altLang="ko-KR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  <m:nary>
                        <m:naryPr>
                          <m:chr m:val="∑"/>
                          <m:supHide m:val="on"/>
                          <m:ctrlPr>
                            <a:rPr lang="en-US" altLang="ko-KR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  <m:d>
                            <m:dPr>
                              <m:ctrlPr>
                                <a:rPr lang="en-US" altLang="ko-KR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altLang="ko-KR" sz="2400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  <m:sSub>
                            <m:sSubPr>
                              <m:ctrlPr>
                                <a:rPr lang="en-US" altLang="ko-KR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400" b="0" i="0" smtClean="0"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ko-KR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ko-KR" sz="2400" b="0" i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ctrlPr>
                                <a:rPr lang="en-US" altLang="ko-KR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</m:e>
                          </m:d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ko-KR" sz="24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altLang="ko-KR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m:rPr>
                              <m:sty m:val="p"/>
                            </m:rPr>
                            <a:rPr lang="en-US" altLang="ko-KR" sz="2400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  <m:sSub>
                            <m:sSubPr>
                              <m:ctrlPr>
                                <a:rPr lang="en-US" altLang="ko-KR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400" b="0" i="0" smtClean="0"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ko-KR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sub>
                          </m:sSub>
                          <m:sSup>
                            <m:sSupPr>
                              <m:ctrlPr>
                                <a:rPr lang="en-US" altLang="ko-KR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ko-KR" sz="2400" b="0" i="0" smtClean="0">
                                          <a:latin typeface="Cambria Math" panose="02040503050406030204" pitchFamily="18" charset="0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altLang="ko-KR" sz="2400" b="0" i="0" smtClean="0">
                                          <a:latin typeface="Cambria Math" panose="02040503050406030204" pitchFamily="18" charset="0"/>
                                        </a:rPr>
                                        <m:t>i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p>
                        </m:e>
                      </m:nary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d>
                            <m:dPr>
                              <m:ctrlPr>
                                <a:rPr lang="en-US" altLang="ko-KR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⋅, </m:t>
                              </m:r>
                              <m:sSub>
                                <m:sSubPr>
                                  <m:ctrlPr>
                                    <a:rPr lang="en-US" altLang="ko-KR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altLang="ko-KR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p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(⋅, </m:t>
                          </m:r>
                          <m:sSup>
                            <m:sSupPr>
                              <m:ctrlPr>
                                <a:rPr lang="en-US" altLang="ko-KR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ko-KR" sz="2400" dirty="0">
                  <a:latin typeface="Arial Nova" panose="020B0504020202020204" pitchFamily="34" charset="0"/>
                </a:endParaRPr>
              </a:p>
              <a:p>
                <a:r>
                  <a:rPr lang="en-US" altLang="ko-KR" sz="2400" dirty="0">
                    <a:latin typeface="Arial Nova" panose="020B0504020202020204" pitchFamily="34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𝐾</m:t>
                    </m:r>
                    <m:d>
                      <m:dPr>
                        <m:ctrlPr>
                          <a:rPr lang="en-US" altLang="ko-KR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⋅, </m:t>
                        </m:r>
                        <m:sSup>
                          <m:sSupPr>
                            <m:ctrlPr>
                              <a:rPr lang="en-US" altLang="ko-KR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d>
                          <m:dPr>
                            <m:ctrlPr>
                              <a:rPr lang="en-US" altLang="ko-KR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⋅, </m:t>
                            </m:r>
                            <m:sSub>
                              <m:sSubPr>
                                <m:ctrlPr>
                                  <a:rPr lang="en-US" altLang="ko-KR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d>
                          <m:dPr>
                            <m:ctrlPr>
                              <a:rPr lang="en-US" altLang="ko-KR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⋅, </m:t>
                            </m:r>
                            <m:sSub>
                              <m:sSubPr>
                                <m:ctrlPr>
                                  <a:rPr lang="en-US" altLang="ko-KR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d>
                          <m:dPr>
                            <m:ctrlPr>
                              <a:rPr lang="en-US" altLang="ko-KR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⋅, </m:t>
                            </m:r>
                            <m:sSub>
                              <m:sSubPr>
                                <m:ctrlPr>
                                  <a:rPr lang="en-US" altLang="ko-KR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, …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d>
                          <m:dPr>
                            <m:ctrlPr>
                              <a:rPr lang="en-US" altLang="ko-KR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⋅,</m:t>
                            </m:r>
                            <m:sSub>
                              <m:sSubPr>
                                <m:ctrlPr>
                                  <a:rPr lang="en-US" altLang="ko-KR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ko-KR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1 ×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endParaRPr lang="en-US" altLang="ko-KR" sz="2400" dirty="0">
                  <a:latin typeface="Arial Nova" panose="020B0504020202020204" pitchFamily="34" charset="0"/>
                </a:endParaRPr>
              </a:p>
              <a:p>
                <a:endParaRPr lang="en-US" altLang="ko-KR" sz="2400" b="1" dirty="0">
                  <a:latin typeface="Arial Nova" panose="020B0504020202020204" pitchFamily="34" charset="0"/>
                </a:endParaRPr>
              </a:p>
              <a:p>
                <a:r>
                  <a:rPr lang="en-US" altLang="ko-KR" sz="2400" dirty="0">
                    <a:latin typeface="Arial Nova" panose="020B0504020202020204" pitchFamily="34" charset="0"/>
                  </a:rPr>
                  <a:t>Substituting original equation yields…</a:t>
                </a:r>
                <a:endParaRPr lang="en-US" altLang="ko-KR" sz="2400" dirty="0">
                  <a:solidFill>
                    <a:srgbClr val="FF0000"/>
                  </a:solidFill>
                  <a:latin typeface="Arial Nova" panose="020B0504020202020204" pitchFamily="34" charset="0"/>
                </a:endParaRPr>
              </a:p>
              <a:p>
                <a:endParaRPr lang="en-US" altLang="ko-KR" sz="1200" dirty="0">
                  <a:latin typeface="Arial Nova" panose="020B0504020202020204" pitchFamily="34" charset="0"/>
                </a:endParaRPr>
              </a:p>
              <a:p>
                <a:pPr lvl="1"/>
                <a:endParaRPr lang="en-US" altLang="ko-KR" sz="2400" b="1" dirty="0">
                  <a:latin typeface="Arial Nova" panose="020B0504020202020204" pitchFamily="34" charset="0"/>
                </a:endParaRPr>
              </a:p>
              <a:p>
                <a:endParaRPr lang="en-US" altLang="ko-KR" sz="2400" dirty="0"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77EF219-33AD-28A4-2238-A59A8C02F5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640" y="1310093"/>
                <a:ext cx="11424720" cy="4931478"/>
              </a:xfrm>
              <a:prstGeom prst="rect">
                <a:avLst/>
              </a:prstGeom>
              <a:blipFill>
                <a:blip r:embed="rId3"/>
                <a:stretch>
                  <a:fillRect l="-854" t="-98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A3BBEE0B-C060-5231-6F02-54C93DDB1B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644" y="5220907"/>
            <a:ext cx="4247243" cy="1369519"/>
          </a:xfrm>
          <a:prstGeom prst="rect">
            <a:avLst/>
          </a:prstGeom>
        </p:spPr>
      </p:pic>
      <p:sp>
        <p:nvSpPr>
          <p:cNvPr id="6" name="오른쪽 화살표[R] 5">
            <a:extLst>
              <a:ext uri="{FF2B5EF4-FFF2-40B4-BE49-F238E27FC236}">
                <a16:creationId xmlns:a16="http://schemas.microsoft.com/office/drawing/2014/main" id="{C63D0F56-5D87-CE34-703A-48F97ADD53D6}"/>
              </a:ext>
            </a:extLst>
          </p:cNvPr>
          <p:cNvSpPr/>
          <p:nvPr/>
        </p:nvSpPr>
        <p:spPr bwMode="auto">
          <a:xfrm>
            <a:off x="5376891" y="5797237"/>
            <a:ext cx="1361028" cy="195685"/>
          </a:xfrm>
          <a:prstGeom prst="rightArrow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ore-KR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07401FE-FF2A-BFAF-0424-F5A756DE2A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1856" y="5401755"/>
            <a:ext cx="5203065" cy="790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700271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DED46-27FF-88A8-DDD2-DB06737A0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241EE7-19DB-359A-C385-302DCFA02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00" y="144463"/>
            <a:ext cx="11424720" cy="752792"/>
          </a:xfrm>
        </p:spPr>
        <p:txBody>
          <a:bodyPr/>
          <a:lstStyle/>
          <a:p>
            <a:r>
              <a:rPr lang="en-US" altLang="ko-KR" dirty="0"/>
              <a:t>Fine-tuning can be defined as RKHS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071806-C0EC-8075-75F9-0212C48A4E87}"/>
              </a:ext>
            </a:extLst>
          </p:cNvPr>
          <p:cNvSpPr txBox="1"/>
          <p:nvPr/>
        </p:nvSpPr>
        <p:spPr>
          <a:xfrm>
            <a:off x="0" y="6590426"/>
            <a:ext cx="114247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Afzal, Zahra Rahimi, et al. "Linearization Explains Fine-Tuning in Large Language Models." </a:t>
            </a:r>
            <a:r>
              <a:rPr lang="en-US" altLang="ko-KR" sz="1000" i="1" dirty="0">
                <a:solidFill>
                  <a:schemeClr val="bg1">
                    <a:lumMod val="65000"/>
                  </a:schemeClr>
                </a:solidFill>
              </a:rPr>
              <a:t>The 39th Annual Conference on </a:t>
            </a:r>
            <a:r>
              <a:rPr lang="en-US" altLang="ko-KR" sz="1000" i="1" dirty="0" err="1">
                <a:solidFill>
                  <a:schemeClr val="bg1">
                    <a:lumMod val="65000"/>
                  </a:schemeClr>
                </a:solidFill>
              </a:rPr>
              <a:t>NeurIPS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1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B1F23C-B513-DBFC-4465-250F1210E71D}"/>
              </a:ext>
            </a:extLst>
          </p:cNvPr>
          <p:cNvSpPr txBox="1"/>
          <p:nvPr/>
        </p:nvSpPr>
        <p:spPr>
          <a:xfrm>
            <a:off x="347880" y="1125427"/>
            <a:ext cx="11424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endParaRPr lang="en-US" altLang="ko-KR" b="1" dirty="0">
              <a:latin typeface="Arial Nova" panose="020B05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5860A93-9E01-913D-2E45-9AFDCB105D11}"/>
                  </a:ext>
                </a:extLst>
              </p:cNvPr>
              <p:cNvSpPr txBox="1"/>
              <p:nvPr/>
            </p:nvSpPr>
            <p:spPr>
              <a:xfrm>
                <a:off x="419400" y="1125427"/>
                <a:ext cx="11424720" cy="5086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 dirty="0">
                    <a:latin typeface="Arial Nova" panose="020B0504020202020204" pitchFamily="34" charset="0"/>
                  </a:rPr>
                  <a:t>Now, we have to solve linear regression problem with </a:t>
                </a:r>
                <a:r>
                  <a:rPr lang="en-US" altLang="ko-KR" sz="2000" dirty="0" err="1">
                    <a:latin typeface="Arial Nova" panose="020B0504020202020204" pitchFamily="34" charset="0"/>
                  </a:rPr>
                  <a:t>regularizer</a:t>
                </a:r>
                <a:r>
                  <a:rPr lang="en-US" altLang="ko-KR" sz="2000" dirty="0">
                    <a:latin typeface="Arial Nova" panose="020B0504020202020204" pitchFamily="34" charset="0"/>
                  </a:rPr>
                  <a:t>.</a:t>
                </a:r>
              </a:p>
              <a:p>
                <a:endParaRPr lang="en-US" altLang="ko-KR" sz="1100" dirty="0">
                  <a:latin typeface="Arial Nova" panose="020B0504020202020204" pitchFamily="34" charset="0"/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sz="2000" b="1" i="1" smtClean="0">
                          <a:latin typeface="Cambria Math" panose="02040503050406030204" pitchFamily="18" charset="0"/>
                        </a:rPr>
                        <m:t>𝒎𝒊</m:t>
                      </m:r>
                      <m:sSub>
                        <m:sSubPr>
                          <m:ctrlPr>
                            <a:rPr lang="en-US" altLang="ko-KR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b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</a:rPr>
                            <m:t>𝜶</m:t>
                          </m:r>
                        </m:sub>
                      </m:sSub>
                      <m:f>
                        <m:fPr>
                          <m:ctrlPr>
                            <a:rPr lang="en-US" altLang="ko-KR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ko-KR" sz="2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  <m:sup/>
                        <m:e>
                          <m:r>
                            <m:rPr>
                              <m:lit/>
                            </m:rPr>
                            <a:rPr lang="en-US" altLang="ko-KR" sz="2000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p>
                            <m:sSupPr>
                              <m:ctrlPr>
                                <a:rPr lang="en-US" altLang="ko-KR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US" altLang="ko-KR" sz="2000" b="1" i="1" smtClean="0">
                                  <a:latin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p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</a:rPr>
                            <m:t>𝑲</m:t>
                          </m:r>
                          <m:d>
                            <m:dPr>
                              <m:ctrlPr>
                                <a:rPr lang="en-US" altLang="ko-KR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b="1" i="1" smtClean="0">
                                  <a:latin typeface="Cambria Math" panose="02040503050406030204" pitchFamily="18" charset="0"/>
                                </a:rPr>
                                <m:t>⋅, </m:t>
                              </m:r>
                              <m:sSup>
                                <m:sSupPr>
                                  <m:ctrlPr>
                                    <a:rPr lang="en-US" altLang="ko-KR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ko-KR" sz="2000" b="1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ko-KR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altLang="ko-KR" sz="2000" b="1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ko-KR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lit/>
                                </m:rPr>
                                <a:rPr lang="en-US" altLang="ko-KR" sz="2000" b="1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  <m:sup>
                              <m:r>
                                <a:rPr lang="en-US" altLang="ko-KR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</a:rPr>
                            <m:t>𝝈</m:t>
                          </m:r>
                          <m:r>
                            <a:rPr lang="en-US" altLang="ko-KR" sz="2000" b="1" i="1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altLang="ko-KR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b="1" i="1" smtClean="0">
                                  <a:latin typeface="Cambria Math" panose="02040503050406030204" pitchFamily="18" charset="0"/>
                                </a:rPr>
                                <m:t>𝜶</m:t>
                              </m:r>
                            </m:e>
                            <m:sup>
                              <m:r>
                                <a:rPr lang="en-US" altLang="ko-KR" sz="2000" b="1" i="1" smtClean="0">
                                  <a:latin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p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</a:rPr>
                            <m:t>𝑲</m:t>
                          </m:r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</a:rPr>
                            <m:t>𝜶</m:t>
                          </m:r>
                        </m:e>
                      </m:nary>
                    </m:oMath>
                  </m:oMathPara>
                </a14:m>
                <a:endParaRPr lang="en-US" altLang="ko-KR" sz="2000" b="1" dirty="0">
                  <a:latin typeface="Arial Nova" panose="020B0504020202020204" pitchFamily="34" charset="0"/>
                </a:endParaRPr>
              </a:p>
              <a:p>
                <a:endParaRPr lang="en-US" altLang="ko-KR" sz="2000" dirty="0">
                  <a:latin typeface="Arial Nova" panose="020B0504020202020204" pitchFamily="34" charset="0"/>
                </a:endParaRPr>
              </a:p>
              <a:p>
                <a:r>
                  <a:rPr lang="en-US" altLang="ko-KR" sz="2000" dirty="0">
                    <a:latin typeface="Arial Nova" panose="020B0504020202020204" pitchFamily="34" charset="0"/>
                  </a:rPr>
                  <a:t>The solution: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  <m:sup>
                        <m: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ko-KR" sz="20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b="1" i="1" smtClean="0">
                                <a:latin typeface="Cambria Math" panose="02040503050406030204" pitchFamily="18" charset="0"/>
                              </a:rPr>
                              <m:t>𝑲</m:t>
                            </m:r>
                            <m:d>
                              <m:dPr>
                                <m:ctrlPr>
                                  <a:rPr lang="en-US" altLang="ko-KR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ko-KR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20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altLang="ko-KR" sz="2000" b="1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  <m:r>
                                  <a:rPr lang="en-US" altLang="ko-KR" sz="2000" b="1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p>
                                  <m:sSupPr>
                                    <m:ctrlPr>
                                      <a:rPr lang="en-US" altLang="ko-KR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20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altLang="ko-KR" sz="2000" b="1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en-US" altLang="ko-KR" sz="2000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ko-KR" sz="2000" b="1" i="1" smtClean="0">
                                <a:latin typeface="Cambria Math" panose="02040503050406030204" pitchFamily="18" charset="0"/>
                              </a:rPr>
                              <m:t>𝝈</m:t>
                            </m:r>
                            <m:r>
                              <a:rPr lang="en-US" altLang="ko-KR" sz="2000" b="1" i="1" smtClean="0">
                                <a:latin typeface="Cambria Math" panose="02040503050406030204" pitchFamily="18" charset="0"/>
                              </a:rPr>
                              <m:t>𝑰</m:t>
                            </m:r>
                          </m:e>
                        </m:d>
                      </m:e>
                      <m:sup>
                        <m: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sSup>
                      <m:sSupPr>
                        <m:ctrlP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p>
                        <m: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2000" b="1" dirty="0">
                    <a:latin typeface="Arial Nova" panose="020B0504020202020204" pitchFamily="34" charset="0"/>
                  </a:rPr>
                  <a:t> </a:t>
                </a:r>
              </a:p>
              <a:p>
                <a:endParaRPr lang="en-US" altLang="ko-KR" sz="2000" dirty="0">
                  <a:latin typeface="Arial Nova" panose="020B0504020202020204" pitchFamily="34" charset="0"/>
                </a:endParaRPr>
              </a:p>
              <a:p>
                <a:r>
                  <a:rPr lang="en-US" altLang="ko-KR" sz="2000" dirty="0">
                    <a:latin typeface="Arial Nova" panose="020B0504020202020204" pitchFamily="34" charset="0"/>
                  </a:rPr>
                  <a:t>Also, the optimal function is</a:t>
                </a:r>
              </a:p>
              <a:p>
                <a:endParaRPr lang="en-US" altLang="ko-KR" sz="2000" dirty="0">
                  <a:latin typeface="Arial Nova" panose="020B05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p>
                          <m: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d>
                      <m:r>
                        <a:rPr lang="en-US" altLang="ko-KR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400" b="1" i="1" smtClean="0">
                          <a:latin typeface="Cambria Math" panose="02040503050406030204" pitchFamily="18" charset="0"/>
                        </a:rPr>
                        <m:t>𝑲</m:t>
                      </m:r>
                      <m:d>
                        <m:dPr>
                          <m:ctrlP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  <m:t>⋅, </m:t>
                          </m:r>
                          <m:sSup>
                            <m:sSupPr>
                              <m:ctrlPr>
                                <a:rPr lang="en-US" altLang="ko-KR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ko-KR" sz="2400" b="1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sSup>
                        <m:sSupPr>
                          <m:ctrlP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400" b="1" i="1" smtClean="0">
                                  <a:latin typeface="Cambria Math" panose="02040503050406030204" pitchFamily="18" charset="0"/>
                                </a:rPr>
                                <m:t>𝑲</m:t>
                              </m:r>
                              <m:d>
                                <m:dPr>
                                  <m:ctrlPr>
                                    <a:rPr lang="en-US" altLang="ko-KR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24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2400" b="1" i="1" smtClean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altLang="ko-KR" sz="2400" b="1" i="1" smtClean="0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  <m:r>
                                    <a:rPr lang="en-US" altLang="ko-KR" sz="2400" b="1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sSup>
                                    <m:sSupPr>
                                      <m:ctrlPr>
                                        <a:rPr lang="en-US" altLang="ko-KR" sz="24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2400" b="1" i="1" smtClean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altLang="ko-KR" sz="2400" b="1" i="1" smtClean="0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ko-KR" sz="24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ko-KR" sz="2400" b="1" i="1" smtClean="0">
                                  <a:latin typeface="Cambria Math" panose="02040503050406030204" pitchFamily="18" charset="0"/>
                                </a:rPr>
                                <m:t>𝝈</m:t>
                              </m:r>
                              <m:r>
                                <a:rPr lang="en-US" altLang="ko-KR" sz="2400" b="1" i="1" smtClean="0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e>
                          </m:d>
                        </m:e>
                        <m:sup>
                          <m: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altLang="ko-KR" sz="2400" b="1" dirty="0">
                  <a:latin typeface="Arial Nova" panose="020B0504020202020204" pitchFamily="34" charset="0"/>
                </a:endParaRPr>
              </a:p>
              <a:p>
                <a:endParaRPr lang="en-US" altLang="ko-KR" sz="2000" b="1" dirty="0">
                  <a:latin typeface="Arial Nova" panose="020B0504020202020204" pitchFamily="34" charset="0"/>
                </a:endParaRPr>
              </a:p>
              <a:p>
                <a:r>
                  <a:rPr lang="en-US" altLang="ko-KR" sz="2000" dirty="0">
                    <a:latin typeface="Arial Nova" panose="020B0504020202020204" pitchFamily="34" charset="0"/>
                  </a:rPr>
                  <a:t>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ko-KR" sz="20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ko-KR" sz="20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ko-KR" sz="2000" b="1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ko-KR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ko-KR" sz="20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altLang="ko-KR" sz="2000" b="1" i="1" smtClean="0">
                                <a:latin typeface="Cambria Math" panose="02040503050406030204" pitchFamily="18" charset="0"/>
                              </a:rPr>
                              <m:t>, …, </m:t>
                            </m:r>
                            <m:sSub>
                              <m:sSubPr>
                                <m:ctrlPr>
                                  <a:rPr lang="en-US" altLang="ko-KR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ko-KR" sz="2000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altLang="ko-KR" sz="2000" dirty="0">
                    <a:latin typeface="Arial Nova" panose="020B0504020202020204" pitchFamily="34" charset="0"/>
                  </a:rPr>
                  <a:t>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p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sz="20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0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altLang="ko-KR" sz="2000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altLang="ko-KR" sz="20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altLang="ko-KR" sz="200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, …, </m:t>
                            </m:r>
                            <m:sSub>
                              <m:sSubPr>
                                <m:ctrlPr>
                                  <a:rPr lang="en-US" altLang="ko-KR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altLang="ko-KR" sz="2000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</m:oMath>
                </a14:m>
                <a:endParaRPr lang="en-US" altLang="ko-KR" sz="2000" b="1" dirty="0">
                  <a:latin typeface="Arial Nova" panose="020B0504020202020204" pitchFamily="34" charset="0"/>
                </a:endParaRPr>
              </a:p>
              <a:p>
                <a:endParaRPr lang="en-US" altLang="ko-KR" sz="2000" dirty="0">
                  <a:latin typeface="Arial Nova" panose="020B0504020202020204" pitchFamily="34" charset="0"/>
                </a:endParaRPr>
              </a:p>
              <a:p>
                <a:r>
                  <a:rPr lang="en-US" altLang="ko-KR" b="1" dirty="0">
                    <a:latin typeface="Arial Nova" panose="020B0504020202020204" pitchFamily="34" charset="0"/>
                  </a:rPr>
                  <a:t>As the model is linear in regularized fine-tuning, we can acquire optimal function w/o SGD like optimization process</a:t>
                </a:r>
              </a:p>
              <a:p>
                <a:endParaRPr lang="en-US" altLang="ko-KR" sz="2400" dirty="0"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5860A93-9E01-913D-2E45-9AFDCB105D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400" y="1125427"/>
                <a:ext cx="11424720" cy="5086329"/>
              </a:xfrm>
              <a:prstGeom prst="rect">
                <a:avLst/>
              </a:prstGeom>
              <a:blipFill>
                <a:blip r:embed="rId3"/>
                <a:stretch>
                  <a:fillRect l="-667" t="-11692"/>
                </a:stretch>
              </a:blipFill>
            </p:spPr>
            <p:txBody>
              <a:bodyPr/>
              <a:lstStyle/>
              <a:p>
                <a:r>
                  <a:rPr lang="ko-Kore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0905888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834BA-37C6-BE36-3D0A-088ACB29F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CAA799-8C88-11AA-201C-2E8BE7B3A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00" y="144463"/>
            <a:ext cx="11424720" cy="752792"/>
          </a:xfrm>
        </p:spPr>
        <p:txBody>
          <a:bodyPr/>
          <a:lstStyle/>
          <a:p>
            <a:r>
              <a:rPr lang="en-US" altLang="ko-KR" dirty="0"/>
              <a:t>NTK directly affects the empirical risk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EF9B4C-A134-689D-C317-DA28E53E645E}"/>
              </a:ext>
            </a:extLst>
          </p:cNvPr>
          <p:cNvSpPr txBox="1"/>
          <p:nvPr/>
        </p:nvSpPr>
        <p:spPr>
          <a:xfrm>
            <a:off x="0" y="6590426"/>
            <a:ext cx="114247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Afzal, Zahra Rahimi, et al. "Linearization Explains Fine-Tuning in Large Language Models." </a:t>
            </a:r>
            <a:r>
              <a:rPr lang="en-US" altLang="ko-KR" sz="1000" i="1" dirty="0">
                <a:solidFill>
                  <a:schemeClr val="bg1">
                    <a:lumMod val="65000"/>
                  </a:schemeClr>
                </a:solidFill>
              </a:rPr>
              <a:t>The 39th Annual Conference on </a:t>
            </a:r>
            <a:r>
              <a:rPr lang="en-US" altLang="ko-KR" sz="1000" i="1" dirty="0" err="1">
                <a:solidFill>
                  <a:schemeClr val="bg1">
                    <a:lumMod val="65000"/>
                  </a:schemeClr>
                </a:solidFill>
              </a:rPr>
              <a:t>NeurIPS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1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E12351-B9B2-973E-A0C2-2B2DB5F45684}"/>
              </a:ext>
            </a:extLst>
          </p:cNvPr>
          <p:cNvSpPr txBox="1"/>
          <p:nvPr/>
        </p:nvSpPr>
        <p:spPr>
          <a:xfrm>
            <a:off x="347880" y="1125427"/>
            <a:ext cx="11424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endParaRPr lang="en-US" altLang="ko-KR" b="1" dirty="0">
              <a:latin typeface="Arial Nova" panose="020B050402020202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59F5676-901F-B7D2-4278-AC2A44F4FF2E}"/>
              </a:ext>
            </a:extLst>
          </p:cNvPr>
          <p:cNvSpPr/>
          <p:nvPr/>
        </p:nvSpPr>
        <p:spPr bwMode="auto">
          <a:xfrm>
            <a:off x="347880" y="1054648"/>
            <a:ext cx="11424720" cy="2046361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C021760-938B-BBBC-A065-C09776CD67B8}"/>
                  </a:ext>
                </a:extLst>
              </p:cNvPr>
              <p:cNvSpPr txBox="1"/>
              <p:nvPr/>
            </p:nvSpPr>
            <p:spPr>
              <a:xfrm>
                <a:off x="347880" y="1054648"/>
                <a:ext cx="11424720" cy="51032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>
                    <a:latin typeface="Arial Nova" panose="020B0504020202020204" pitchFamily="34" charset="0"/>
                  </a:rPr>
                  <a:t>Theorem 5: The empirical risk is bounded as </a:t>
                </a:r>
              </a:p>
              <a:p>
                <a:endParaRPr lang="en-US" altLang="ko-KR" b="1" dirty="0">
                  <a:latin typeface="Arial Nova" panose="020B05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ko-KR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b="1" i="1" smtClean="0">
                                      <a:latin typeface="Cambria Math" panose="02040503050406030204" pitchFamily="18" charset="0"/>
                                    </a:rPr>
                                    <m:t>𝝈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ko-KR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ko-KR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ko-KR" b="1" i="1" smtClean="0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  <m:sup>
                                          <m:r>
                                            <a:rPr lang="en-US" altLang="ko-KR" b="1" i="1" smtClean="0">
                                              <a:latin typeface="Cambria Math" panose="02040503050406030204" pitchFamily="18" charset="0"/>
                                            </a:rPr>
                                            <m:t>∗</m:t>
                                          </m:r>
                                        </m:sup>
                                      </m:sSup>
                                    </m:e>
                                  </m:d>
                                </m:num>
                                <m:den>
                                  <m:r>
                                    <a:rPr lang="en-US" altLang="ko-KR" b="1" i="1" smtClean="0">
                                      <a:latin typeface="Cambria Math" panose="02040503050406030204" pitchFamily="18" charset="0"/>
                                    </a:rPr>
                                    <m:t>𝝈</m:t>
                                  </m:r>
                                  <m:r>
                                    <a:rPr lang="en-US" altLang="ko-KR" b="1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ko-KR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b="1" i="1" smtClean="0">
                                          <a:latin typeface="Cambria Math" panose="02040503050406030204" pitchFamily="18" charset="0"/>
                                        </a:rPr>
                                        <m:t>𝝀</m:t>
                                      </m:r>
                                    </m:e>
                                    <m:sub>
                                      <m:r>
                                        <a:rPr lang="en-US" altLang="ko-KR" b="1" i="1" smtClean="0">
                                          <a:latin typeface="Cambria Math" panose="02040503050406030204" pitchFamily="18" charset="0"/>
                                        </a:rPr>
                                        <m:t>𝒎𝒂𝒙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ko-KR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b="1" i="1" smtClean="0">
                                          <a:latin typeface="Cambria Math" panose="02040503050406030204" pitchFamily="18" charset="0"/>
                                        </a:rPr>
                                        <m:t>𝑲</m:t>
                                      </m:r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altLang="ko-KR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ko-KR" b="1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ko-KR" b="1" i="1" smtClean="0">
                          <a:latin typeface="Cambria Math" panose="02040503050406030204" pitchFamily="18" charset="0"/>
                        </a:rPr>
                        <m:t>𝑹</m:t>
                      </m:r>
                      <m:d>
                        <m:dPr>
                          <m:ctrlPr>
                            <a:rPr lang="en-US" altLang="ko-KR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ko-KR" b="1" i="1" smtClean="0"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altLang="ko-KR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ko-KR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b="1" i="1" smtClean="0">
                                      <a:latin typeface="Cambria Math" panose="02040503050406030204" pitchFamily="18" charset="0"/>
                                    </a:rPr>
                                    <m:t>𝝈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ko-KR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ko-KR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ko-KR" b="1" i="1" smtClean="0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  <m:sup>
                                          <m:r>
                                            <a:rPr lang="en-US" altLang="ko-KR" b="1" i="1" smtClean="0">
                                              <a:latin typeface="Cambria Math" panose="02040503050406030204" pitchFamily="18" charset="0"/>
                                            </a:rPr>
                                            <m:t>∗</m:t>
                                          </m:r>
                                        </m:sup>
                                      </m:sSup>
                                    </m:e>
                                  </m:d>
                                </m:num>
                                <m:den>
                                  <m:r>
                                    <a:rPr lang="en-US" altLang="ko-KR" b="1" i="1" smtClean="0">
                                      <a:latin typeface="Cambria Math" panose="02040503050406030204" pitchFamily="18" charset="0"/>
                                    </a:rPr>
                                    <m:t>𝝈</m:t>
                                  </m:r>
                                  <m:r>
                                    <a:rPr lang="en-US" altLang="ko-KR" b="1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ko-KR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b="1" i="1" smtClean="0">
                                          <a:latin typeface="Cambria Math" panose="02040503050406030204" pitchFamily="18" charset="0"/>
                                        </a:rPr>
                                        <m:t>𝝀</m:t>
                                      </m:r>
                                    </m:e>
                                    <m:sub>
                                      <m:r>
                                        <a:rPr lang="en-US" altLang="ko-KR" b="1" i="1" smtClean="0">
                                          <a:latin typeface="Cambria Math" panose="02040503050406030204" pitchFamily="18" charset="0"/>
                                        </a:rPr>
                                        <m:t>𝒎𝒊𝒏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ko-KR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b="1" i="1" smtClean="0">
                                          <a:latin typeface="Cambria Math" panose="02040503050406030204" pitchFamily="18" charset="0"/>
                                        </a:rPr>
                                        <m:t>𝑲</m:t>
                                      </m:r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altLang="ko-KR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ko-KR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ko-KR" b="1" dirty="0">
                  <a:latin typeface="Arial Nova" panose="020B0504020202020204" pitchFamily="34" charset="0"/>
                </a:endParaRPr>
              </a:p>
              <a:p>
                <a:endParaRPr lang="en-US" altLang="ko-KR" b="1" dirty="0">
                  <a:latin typeface="Arial Nova" panose="020B0504020202020204" pitchFamily="34" charset="0"/>
                </a:endParaRPr>
              </a:p>
              <a:p>
                <a:r>
                  <a:rPr lang="en-US" altLang="ko-KR" b="1" dirty="0">
                    <a:latin typeface="Arial Nova" panose="020B0504020202020204" pitchFamily="34" charset="0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𝝀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𝒎𝒊𝒏</m:t>
                        </m:r>
                      </m:sub>
                    </m:sSub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𝑲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𝝀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𝒎𝒂𝒙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𝑲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are the minimum and maximum eigenvalues of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𝑲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, repectively. </a:t>
                </a:r>
              </a:p>
              <a:p>
                <a:r>
                  <a:rPr lang="en-US" altLang="ko-KR" b="1" dirty="0">
                    <a:latin typeface="Arial Nova" panose="020B0504020202020204" pitchFamily="34" charset="0"/>
                  </a:rPr>
                  <a:t> </a:t>
                </a:r>
                <a:endParaRPr lang="en-US" altLang="ko-KR" dirty="0">
                  <a:latin typeface="Arial Nova" panose="020B0504020202020204" pitchFamily="34" charset="0"/>
                </a:endParaRPr>
              </a:p>
              <a:p>
                <a:endParaRPr lang="en-US" altLang="ko-KR" b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r>
                  <a:rPr lang="en-US" altLang="ko-KR" dirty="0">
                    <a:latin typeface="Arial Nova" panose="020B0504020202020204" pitchFamily="34" charset="0"/>
                  </a:rPr>
                  <a:t>The regularized condition number as at-initialization metric for predicting the performance of fine-tuning.</a:t>
                </a:r>
              </a:p>
              <a:p>
                <a:pPr marL="285750" indent="-285750">
                  <a:buFontTx/>
                  <a:buChar char="-"/>
                </a:pPr>
                <a:endParaRPr lang="en-US" altLang="ko-KR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r>
                  <a:rPr lang="en-US" altLang="ko-KR" dirty="0"/>
                  <a:t>Let condition number as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𝜅</m:t>
                    </m:r>
                    <m:d>
                      <m:d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num>
                      <m:den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𝑚𝑖𝑛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den>
                    </m:f>
                  </m:oMath>
                </a14:m>
                <a:r>
                  <a:rPr lang="en-US" altLang="ko-KR" dirty="0">
                    <a:latin typeface="Arial Nova" panose="020B0504020202020204" pitchFamily="34" charset="0"/>
                  </a:rPr>
                  <a:t> . For given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d>
                  </m:oMath>
                </a14:m>
                <a:r>
                  <a:rPr lang="en-US" altLang="ko-KR" dirty="0">
                    <a:latin typeface="Arial Nova" panose="020B0504020202020204" pitchFamily="34" charset="0"/>
                  </a:rPr>
                  <a:t>, If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𝜅</m:t>
                    </m:r>
                  </m:oMath>
                </a14:m>
                <a:r>
                  <a:rPr lang="en-US" altLang="ko-KR" dirty="0">
                    <a:latin typeface="Arial Nova" panose="020B0504020202020204" pitchFamily="34" charset="0"/>
                  </a:rPr>
                  <a:t> is small, the risk can be small, and the risk is high otherwise.</a:t>
                </a:r>
              </a:p>
              <a:p>
                <a:pPr marL="285750" indent="-285750">
                  <a:buFontTx/>
                  <a:buChar char="-"/>
                </a:pPr>
                <a:endParaRPr lang="en-US" altLang="ko-KR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r>
                  <a:rPr lang="en-US" altLang="ko-KR" dirty="0">
                    <a:latin typeface="Arial Nova" panose="020B0504020202020204" pitchFamily="34" charset="0"/>
                  </a:rPr>
                  <a:t>It can be useful in fine-tuning </a:t>
                </a:r>
              </a:p>
              <a:p>
                <a:pPr marL="742950" lvl="1" indent="-285750">
                  <a:buFontTx/>
                  <a:buChar char="-"/>
                </a:pPr>
                <a:r>
                  <a:rPr lang="en-US" altLang="ko-KR" dirty="0">
                    <a:latin typeface="Arial Nova" panose="020B0504020202020204" pitchFamily="34" charset="0"/>
                  </a:rPr>
                  <a:t>ex) selecting what subset of parameters to tune.</a:t>
                </a:r>
              </a:p>
              <a:p>
                <a:pPr marL="742950" lvl="1" indent="-285750">
                  <a:buFontTx/>
                  <a:buChar char="-"/>
                </a:pPr>
                <a:r>
                  <a:rPr lang="en-US" altLang="ko-KR" dirty="0">
                    <a:latin typeface="Arial Nova" panose="020B0504020202020204" pitchFamily="34" charset="0"/>
                  </a:rPr>
                  <a:t>We will show this later.</a:t>
                </a:r>
              </a:p>
              <a:p>
                <a:endParaRPr lang="en-US" altLang="ko-KR" b="1" dirty="0"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C021760-938B-BBBC-A065-C09776CD67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880" y="1054648"/>
                <a:ext cx="11424720" cy="5103257"/>
              </a:xfrm>
              <a:prstGeom prst="rect">
                <a:avLst/>
              </a:prstGeom>
              <a:blipFill>
                <a:blip r:embed="rId3"/>
                <a:stretch>
                  <a:fillRect l="-444" t="-498"/>
                </a:stretch>
              </a:blipFill>
            </p:spPr>
            <p:txBody>
              <a:bodyPr/>
              <a:lstStyle/>
              <a:p>
                <a:r>
                  <a:rPr lang="ko-Kore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5887408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CCD77-B950-18EF-09DE-5BD78ECF9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EBD3CD-C20C-8FDA-50BE-D5FAF4964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00" y="144463"/>
            <a:ext cx="11424720" cy="752792"/>
          </a:xfrm>
        </p:spPr>
        <p:txBody>
          <a:bodyPr/>
          <a:lstStyle/>
          <a:p>
            <a:r>
              <a:rPr lang="en-US" altLang="ko-KR" dirty="0"/>
              <a:t>Proof of theorem 5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903ECC-F019-382A-C66A-82621605D31A}"/>
              </a:ext>
            </a:extLst>
          </p:cNvPr>
          <p:cNvSpPr txBox="1"/>
          <p:nvPr/>
        </p:nvSpPr>
        <p:spPr>
          <a:xfrm>
            <a:off x="0" y="6590426"/>
            <a:ext cx="114247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Afzal, Zahra Rahimi, et al. "Linearization Explains Fine-Tuning in Large Language Models." </a:t>
            </a:r>
            <a:r>
              <a:rPr lang="en-US" altLang="ko-KR" sz="1000" i="1" dirty="0">
                <a:solidFill>
                  <a:schemeClr val="bg1">
                    <a:lumMod val="65000"/>
                  </a:schemeClr>
                </a:solidFill>
              </a:rPr>
              <a:t>The 39th Annual Conference on </a:t>
            </a:r>
            <a:r>
              <a:rPr lang="en-US" altLang="ko-KR" sz="1000" i="1" dirty="0" err="1">
                <a:solidFill>
                  <a:schemeClr val="bg1">
                    <a:lumMod val="65000"/>
                  </a:schemeClr>
                </a:solidFill>
              </a:rPr>
              <a:t>NeurIPS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1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96DAD6-C3B5-B59F-484E-1C64D4B19503}"/>
              </a:ext>
            </a:extLst>
          </p:cNvPr>
          <p:cNvSpPr txBox="1"/>
          <p:nvPr/>
        </p:nvSpPr>
        <p:spPr>
          <a:xfrm>
            <a:off x="347880" y="1125427"/>
            <a:ext cx="11424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endParaRPr lang="en-US" altLang="ko-KR" b="1" dirty="0">
              <a:latin typeface="Arial Nova" panose="020B05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3AED66A-0D76-13E7-F7DE-6E0945D86770}"/>
                  </a:ext>
                </a:extLst>
              </p:cNvPr>
              <p:cNvSpPr txBox="1"/>
              <p:nvPr/>
            </p:nvSpPr>
            <p:spPr>
              <a:xfrm>
                <a:off x="215900" y="1125427"/>
                <a:ext cx="1142472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>
                    <a:latin typeface="Arial Nova" panose="020B0504020202020204" pitchFamily="34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𝚺</m:t>
                    </m:r>
                    <m:sSup>
                      <m:sSup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1" i="0" smtClean="0">
                            <a:latin typeface="Cambria Math" panose="02040503050406030204" pitchFamily="18" charset="0"/>
                          </a:rPr>
                          <m:t>𝐔</m:t>
                        </m:r>
                      </m:e>
                      <m:sup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denote the eigenvalue decomposition of K.</a:t>
                </a:r>
              </a:p>
              <a:p>
                <a:endParaRPr lang="en-US" altLang="ko-KR" b="1" dirty="0">
                  <a:latin typeface="Arial Nova" panose="020B0504020202020204" pitchFamily="34" charset="0"/>
                </a:endParaRPr>
              </a:p>
              <a:p>
                <a:endParaRPr lang="en-US" altLang="ko-KR" b="1" dirty="0"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3AED66A-0D76-13E7-F7DE-6E0945D867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900" y="1125427"/>
                <a:ext cx="11424720" cy="923330"/>
              </a:xfrm>
              <a:prstGeom prst="rect">
                <a:avLst/>
              </a:prstGeom>
              <a:blipFill>
                <a:blip r:embed="rId3"/>
                <a:stretch>
                  <a:fillRect l="-444" t="-2703"/>
                </a:stretch>
              </a:blipFill>
            </p:spPr>
            <p:txBody>
              <a:bodyPr/>
              <a:lstStyle/>
              <a:p>
                <a:r>
                  <a:rPr lang="ko-Kore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그림 6">
            <a:extLst>
              <a:ext uri="{FF2B5EF4-FFF2-40B4-BE49-F238E27FC236}">
                <a16:creationId xmlns:a16="http://schemas.microsoft.com/office/drawing/2014/main" id="{ADFEB88A-27B0-1013-130B-1333439A45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880" y="1587092"/>
            <a:ext cx="5317836" cy="47525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4404DD0-2439-20FB-FE23-00AE67827AE4}"/>
                  </a:ext>
                </a:extLst>
              </p:cNvPr>
              <p:cNvSpPr txBox="1"/>
              <p:nvPr/>
            </p:nvSpPr>
            <p:spPr>
              <a:xfrm>
                <a:off x="6133176" y="1835423"/>
                <a:ext cx="584292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>
                    <a:latin typeface="Arial Nova" panose="020B0504020202020204" pitchFamily="34" charset="0"/>
                  </a:rPr>
                  <a:t>Since </a:t>
                </a:r>
                <a14:m>
                  <m:oMath xmlns:m="http://schemas.openxmlformats.org/officeDocument/2006/math">
                    <m:r>
                      <a:rPr lang="en-US" altLang="ko-KR" b="1" i="1" dirty="0" smtClean="0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ko-KR" b="1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𝚺</m:t>
                    </m:r>
                    <m:sSup>
                      <m:sSup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1" i="0" smtClean="0">
                                <a:latin typeface="Cambria Math" panose="02040503050406030204" pitchFamily="18" charset="0"/>
                              </a:rPr>
                              <m:t>𝚺</m:t>
                            </m:r>
                            <m:r>
                              <a:rPr lang="en-US" altLang="ko-KR" b="1" i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ko-KR" b="1" i="0" smtClean="0">
                                <a:latin typeface="Cambria Math" panose="02040503050406030204" pitchFamily="18" charset="0"/>
                              </a:rPr>
                              <m:t>𝛔</m:t>
                            </m:r>
                            <m:r>
                              <a:rPr lang="en-US" altLang="ko-KR" b="1" i="0" smtClean="0">
                                <a:latin typeface="Cambria Math" panose="02040503050406030204" pitchFamily="18" charset="0"/>
                              </a:rPr>
                              <m:t>𝐈</m:t>
                            </m:r>
                          </m:e>
                        </m:d>
                      </m:e>
                      <m:sup>
                        <m:r>
                          <a:rPr lang="en-US" altLang="ko-KR" b="1" i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is diagonal matrix, we have </a:t>
                </a:r>
              </a:p>
              <a:p>
                <a:endParaRPr lang="en-US" altLang="ko-KR" b="1" dirty="0"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4404DD0-2439-20FB-FE23-00AE67827A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3176" y="1835423"/>
                <a:ext cx="5842924" cy="646331"/>
              </a:xfrm>
              <a:prstGeom prst="rect">
                <a:avLst/>
              </a:prstGeom>
              <a:blipFill>
                <a:blip r:embed="rId5"/>
                <a:stretch>
                  <a:fillRect l="-649" t="-3846"/>
                </a:stretch>
              </a:blipFill>
            </p:spPr>
            <p:txBody>
              <a:bodyPr/>
              <a:lstStyle/>
              <a:p>
                <a:r>
                  <a:rPr lang="ko-Kore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구부러진 연결선[U] 25">
            <a:extLst>
              <a:ext uri="{FF2B5EF4-FFF2-40B4-BE49-F238E27FC236}">
                <a16:creationId xmlns:a16="http://schemas.microsoft.com/office/drawing/2014/main" id="{ADE153C1-A592-6FD9-678C-390810392119}"/>
              </a:ext>
            </a:extLst>
          </p:cNvPr>
          <p:cNvCxnSpPr>
            <a:cxnSpLocks/>
            <a:stCxn id="7" idx="2"/>
            <a:endCxn id="18" idx="1"/>
          </p:cNvCxnSpPr>
          <p:nvPr/>
        </p:nvCxnSpPr>
        <p:spPr bwMode="auto">
          <a:xfrm rot="5400000" flipH="1" flipV="1">
            <a:off x="2479458" y="2685929"/>
            <a:ext cx="4181057" cy="3126378"/>
          </a:xfrm>
          <a:prstGeom prst="curvedConnector4">
            <a:avLst>
              <a:gd name="adj1" fmla="val -951"/>
              <a:gd name="adj2" fmla="val 92524"/>
            </a:avLst>
          </a:prstGeom>
          <a:ln w="57150"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5" name="그림 34">
            <a:extLst>
              <a:ext uri="{FF2B5EF4-FFF2-40B4-BE49-F238E27FC236}">
                <a16:creationId xmlns:a16="http://schemas.microsoft.com/office/drawing/2014/main" id="{69503C86-DBE2-0969-9514-BAB85991E6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3352" y="2389421"/>
            <a:ext cx="5590768" cy="646331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4E5FDEB8-20CC-BEC9-F556-AE0928854C03}"/>
              </a:ext>
            </a:extLst>
          </p:cNvPr>
          <p:cNvSpPr txBox="1"/>
          <p:nvPr/>
        </p:nvSpPr>
        <p:spPr>
          <a:xfrm>
            <a:off x="6133176" y="3053250"/>
            <a:ext cx="58429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Arial Nova" panose="020B0504020202020204" pitchFamily="34" charset="0"/>
              </a:rPr>
              <a:t>Also, Note that</a:t>
            </a:r>
          </a:p>
          <a:p>
            <a:endParaRPr lang="en-US" altLang="ko-KR" b="1" dirty="0">
              <a:latin typeface="Arial Nova" panose="020B0504020202020204" pitchFamily="34" charset="0"/>
            </a:endParaRPr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B8F45F3B-6DA8-C22F-6EB7-7B6E558EBC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4635" y="3581748"/>
            <a:ext cx="3648998" cy="1121481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8B224E51-EDBA-9E2E-7347-83B9CE9C40F9}"/>
              </a:ext>
            </a:extLst>
          </p:cNvPr>
          <p:cNvSpPr txBox="1"/>
          <p:nvPr/>
        </p:nvSpPr>
        <p:spPr>
          <a:xfrm>
            <a:off x="6133176" y="4792593"/>
            <a:ext cx="58429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Arial Nova" panose="020B0504020202020204" pitchFamily="34" charset="0"/>
              </a:rPr>
              <a:t>Therefore,</a:t>
            </a:r>
          </a:p>
          <a:p>
            <a:endParaRPr lang="en-US" altLang="ko-KR" b="1" dirty="0">
              <a:latin typeface="Arial Nova" panose="020B0504020202020204" pitchFamily="34" charset="0"/>
            </a:endParaRPr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67738742-D83B-F3F4-5CE1-E66890ADA68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82550" y="5377978"/>
            <a:ext cx="3973167" cy="709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736293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CB096-1CB9-26AD-1507-7F987A71F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55D1842C-A0D8-3469-C951-0CE6502886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3878" y="2299640"/>
            <a:ext cx="11841922" cy="230194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sz="3600" dirty="0">
                <a:solidFill>
                  <a:schemeClr val="tx1"/>
                </a:solidFill>
                <a:latin typeface="Arial Nova"/>
                <a:cs typeface="Arial"/>
              </a:rPr>
              <a:t>Section 5 : Spectral Perturbation of Layers</a:t>
            </a:r>
            <a:endParaRPr lang="ko-KR" altLang="en-US" b="0" dirty="0">
              <a:solidFill>
                <a:schemeClr val="tx1"/>
              </a:solidFill>
              <a:latin typeface="Arial Nova"/>
              <a:cs typeface="Arial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6F4D230-7C60-B39F-F8A6-14ACFC9379F8}"/>
              </a:ext>
            </a:extLst>
          </p:cNvPr>
          <p:cNvSpPr/>
          <p:nvPr/>
        </p:nvSpPr>
        <p:spPr>
          <a:xfrm>
            <a:off x="4" y="0"/>
            <a:ext cx="12191996" cy="950400"/>
          </a:xfrm>
          <a:prstGeom prst="rect">
            <a:avLst/>
          </a:prstGeom>
          <a:solidFill>
            <a:srgbClr val="2530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40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EECE695D : Deep Learning Theory</a:t>
            </a:r>
            <a:endParaRPr kumimoji="1" lang="ko-Kore-KR" altLang="en-US" sz="4000" b="1" dirty="0">
              <a:solidFill>
                <a:schemeClr val="bg1"/>
              </a:solidFill>
              <a:latin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0629621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00C38-6AC0-3210-9056-2E986686D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45B5DF-E2FE-5714-2637-34BAE3500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00" y="144463"/>
            <a:ext cx="11424720" cy="752792"/>
          </a:xfrm>
        </p:spPr>
        <p:txBody>
          <a:bodyPr/>
          <a:lstStyle/>
          <a:p>
            <a:r>
              <a:rPr lang="en-US" altLang="ko-KR" dirty="0"/>
              <a:t>So far…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71EC42-B9BF-8F15-3308-BF984819B9A6}"/>
              </a:ext>
            </a:extLst>
          </p:cNvPr>
          <p:cNvSpPr txBox="1"/>
          <p:nvPr/>
        </p:nvSpPr>
        <p:spPr>
          <a:xfrm>
            <a:off x="0" y="6590426"/>
            <a:ext cx="114247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Afzal, Zahra Rahimi, et al. "Linearization Explains Fine-Tuning in Large Language Models." </a:t>
            </a:r>
            <a:r>
              <a:rPr lang="en-US" altLang="ko-KR" sz="1000" i="1" dirty="0">
                <a:solidFill>
                  <a:schemeClr val="bg1">
                    <a:lumMod val="65000"/>
                  </a:schemeClr>
                </a:solidFill>
              </a:rPr>
              <a:t>The 39th Annual Conference on </a:t>
            </a:r>
            <a:r>
              <a:rPr lang="en-US" altLang="ko-KR" sz="1000" i="1" dirty="0" err="1">
                <a:solidFill>
                  <a:schemeClr val="bg1">
                    <a:lumMod val="65000"/>
                  </a:schemeClr>
                </a:solidFill>
              </a:rPr>
              <a:t>NeurIPS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1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8EC158-284F-2FFC-E54F-A7745CEEDA2F}"/>
              </a:ext>
            </a:extLst>
          </p:cNvPr>
          <p:cNvSpPr txBox="1"/>
          <p:nvPr/>
        </p:nvSpPr>
        <p:spPr>
          <a:xfrm>
            <a:off x="347880" y="1125427"/>
            <a:ext cx="11424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endParaRPr lang="en-US" altLang="ko-KR" b="1" dirty="0">
              <a:latin typeface="Arial Nova" panose="020B05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6BD5A21-E10A-6AE8-7A0F-A6579D51A3F0}"/>
                  </a:ext>
                </a:extLst>
              </p:cNvPr>
              <p:cNvSpPr txBox="1"/>
              <p:nvPr/>
            </p:nvSpPr>
            <p:spPr>
              <a:xfrm>
                <a:off x="383640" y="1310093"/>
                <a:ext cx="11424720" cy="4154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400" dirty="0">
                    <a:latin typeface="Arial Nova" panose="020B0504020202020204" pitchFamily="34" charset="0"/>
                  </a:rPr>
                  <a:t>1. Regularized fine-tuning around initial point is </a:t>
                </a:r>
                <a:r>
                  <a:rPr lang="en-US" altLang="ko-KR" sz="2400" b="1" dirty="0">
                    <a:solidFill>
                      <a:srgbClr val="FF0000"/>
                    </a:solidFill>
                    <a:latin typeface="Arial Nova" panose="020B0504020202020204" pitchFamily="34" charset="0"/>
                  </a:rPr>
                  <a:t>approximately a linear model</a:t>
                </a:r>
                <a:r>
                  <a:rPr lang="en-US" altLang="ko-KR" sz="2400" dirty="0">
                    <a:latin typeface="Arial Nova" panose="020B0504020202020204" pitchFamily="34" charset="0"/>
                  </a:rPr>
                  <a:t>.</a:t>
                </a:r>
              </a:p>
              <a:p>
                <a:endParaRPr lang="en-US" altLang="ko-KR" sz="2400" dirty="0">
                  <a:latin typeface="Arial Nova" panose="020B0504020202020204" pitchFamily="34" charset="0"/>
                </a:endParaRPr>
              </a:p>
              <a:p>
                <a:r>
                  <a:rPr lang="en-US" altLang="ko-KR" sz="2400" dirty="0">
                    <a:latin typeface="Arial Nova" panose="020B0504020202020204" pitchFamily="34" charset="0"/>
                  </a:rPr>
                  <a:t>2. As it is a linear model, we can </a:t>
                </a:r>
                <a:r>
                  <a:rPr lang="en-US" altLang="ko-KR" sz="2400" b="1" dirty="0">
                    <a:solidFill>
                      <a:srgbClr val="FF0000"/>
                    </a:solidFill>
                    <a:latin typeface="Arial Nova" panose="020B0504020202020204" pitchFamily="34" charset="0"/>
                  </a:rPr>
                  <a:t>apply</a:t>
                </a:r>
                <a:r>
                  <a:rPr lang="en-US" altLang="ko-KR" sz="2400" dirty="0">
                    <a:latin typeface="Arial Nova" panose="020B0504020202020204" pitchFamily="34" charset="0"/>
                  </a:rPr>
                  <a:t> </a:t>
                </a:r>
                <a:r>
                  <a:rPr lang="en-US" altLang="ko-KR" sz="2400" b="1" dirty="0">
                    <a:solidFill>
                      <a:srgbClr val="FF0000"/>
                    </a:solidFill>
                    <a:latin typeface="Arial Nova" panose="020B0504020202020204" pitchFamily="34" charset="0"/>
                  </a:rPr>
                  <a:t>NTK kernel ridge regression</a:t>
                </a:r>
                <a:r>
                  <a:rPr lang="en-US" altLang="ko-KR" sz="2400" dirty="0">
                    <a:latin typeface="Arial Nova" panose="020B0504020202020204" pitchFamily="34" charset="0"/>
                  </a:rPr>
                  <a:t>.</a:t>
                </a:r>
              </a:p>
              <a:p>
                <a:endParaRPr lang="en-US" altLang="ko-KR" sz="2400" dirty="0">
                  <a:latin typeface="Arial Nova" panose="020B0504020202020204" pitchFamily="34" charset="0"/>
                </a:endParaRPr>
              </a:p>
              <a:p>
                <a:r>
                  <a:rPr lang="en-US" altLang="ko-KR" sz="2400" dirty="0">
                    <a:latin typeface="Arial Nova" panose="020B0504020202020204" pitchFamily="34" charset="0"/>
                  </a:rPr>
                  <a:t>3. The empirical risk is bounded with NTK gram matrix’s (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altLang="ko-KR" sz="2400" dirty="0">
                    <a:latin typeface="Arial Nova" panose="020B0504020202020204" pitchFamily="34" charset="0"/>
                  </a:rPr>
                  <a:t>) eigen values, therefore we can utilize condition number of matrix 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altLang="ko-KR" sz="2400" b="1" dirty="0">
                    <a:solidFill>
                      <a:srgbClr val="FF0000"/>
                    </a:solidFill>
                    <a:latin typeface="Arial Nova" panose="020B0504020202020204" pitchFamily="34" charset="0"/>
                  </a:rPr>
                  <a:t> to anticipate performance</a:t>
                </a:r>
                <a:r>
                  <a:rPr lang="en-US" altLang="ko-KR" sz="2400" dirty="0">
                    <a:latin typeface="Arial Nova" panose="020B0504020202020204" pitchFamily="34" charset="0"/>
                  </a:rPr>
                  <a:t>.</a:t>
                </a:r>
              </a:p>
              <a:p>
                <a:endParaRPr lang="en-US" altLang="ko-KR" sz="2400" dirty="0">
                  <a:latin typeface="Arial Nova" panose="020B0504020202020204" pitchFamily="34" charset="0"/>
                </a:endParaRPr>
              </a:p>
              <a:p>
                <a:endParaRPr lang="en-US" altLang="ko-KR" sz="2400" dirty="0">
                  <a:latin typeface="Arial Nova" panose="020B0504020202020204" pitchFamily="34" charset="0"/>
                </a:endParaRPr>
              </a:p>
              <a:p>
                <a:r>
                  <a:rPr lang="en-US" altLang="ko-KR" sz="2400" dirty="0">
                    <a:latin typeface="Arial Nova" panose="020B0504020202020204" pitchFamily="34" charset="0"/>
                  </a:rPr>
                  <a:t>Let’s consider we want to tune only a subset of layers, not the entire model.</a:t>
                </a:r>
              </a:p>
              <a:p>
                <a:r>
                  <a:rPr lang="en-US" altLang="ko-KR" sz="2400" dirty="0">
                    <a:latin typeface="Arial Nova" panose="020B0504020202020204" pitchFamily="34" charset="0"/>
                  </a:rPr>
                  <a:t>Then, </a:t>
                </a:r>
                <a:r>
                  <a:rPr lang="en-US" altLang="ko-KR" sz="2400" dirty="0">
                    <a:solidFill>
                      <a:srgbClr val="FF0000"/>
                    </a:solidFill>
                    <a:latin typeface="Arial Nova" panose="020B0504020202020204" pitchFamily="34" charset="0"/>
                  </a:rPr>
                  <a:t>how can we select the target layer</a:t>
                </a:r>
                <a:r>
                  <a:rPr lang="en-US" altLang="ko-KR" sz="2400" dirty="0">
                    <a:latin typeface="Arial Nova" panose="020B0504020202020204" pitchFamily="34" charset="0"/>
                  </a:rPr>
                  <a:t>?</a:t>
                </a:r>
              </a:p>
              <a:p>
                <a:r>
                  <a:rPr lang="en-US" altLang="ko-KR" sz="2400" dirty="0">
                    <a:latin typeface="Arial Nova" panose="020B0504020202020204" pitchFamily="34" charset="0"/>
                  </a:rPr>
                  <a:t>=&gt; NTK approach can give a hint for it.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6BD5A21-E10A-6AE8-7A0F-A6579D51A3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640" y="1310093"/>
                <a:ext cx="11424720" cy="4154984"/>
              </a:xfrm>
              <a:prstGeom prst="rect">
                <a:avLst/>
              </a:prstGeom>
              <a:blipFill>
                <a:blip r:embed="rId3"/>
                <a:stretch>
                  <a:fillRect l="-889" t="-1220" r="-778" b="-2134"/>
                </a:stretch>
              </a:blipFill>
            </p:spPr>
            <p:txBody>
              <a:bodyPr/>
              <a:lstStyle/>
              <a:p>
                <a:r>
                  <a:rPr lang="ko-Kore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6101956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12832-FB43-CC09-061E-00788B1AD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6DCE34-2A77-6032-0162-57D1DF3BD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00" y="144463"/>
            <a:ext cx="11424720" cy="752792"/>
          </a:xfrm>
        </p:spPr>
        <p:txBody>
          <a:bodyPr/>
          <a:lstStyle/>
          <a:p>
            <a:r>
              <a:rPr lang="en" altLang="ko-Kore-KR" dirty="0"/>
              <a:t>NTK Eigenvalue Stability under Layer Addition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666F6A-803F-CF41-6C93-F4E1B44CFB80}"/>
              </a:ext>
            </a:extLst>
          </p:cNvPr>
          <p:cNvSpPr txBox="1"/>
          <p:nvPr/>
        </p:nvSpPr>
        <p:spPr>
          <a:xfrm>
            <a:off x="0" y="6590426"/>
            <a:ext cx="114247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Afzal, Zahra Rahimi, et al. "Linearization Explains Fine-Tuning in Large Language Models." </a:t>
            </a:r>
            <a:r>
              <a:rPr lang="en-US" altLang="ko-KR" sz="1000" i="1" dirty="0">
                <a:solidFill>
                  <a:schemeClr val="bg1">
                    <a:lumMod val="65000"/>
                  </a:schemeClr>
                </a:solidFill>
              </a:rPr>
              <a:t>The 39th Annual Conference on </a:t>
            </a:r>
            <a:r>
              <a:rPr lang="en-US" altLang="ko-KR" sz="1000" i="1" dirty="0" err="1">
                <a:solidFill>
                  <a:schemeClr val="bg1">
                    <a:lumMod val="65000"/>
                  </a:schemeClr>
                </a:solidFill>
              </a:rPr>
              <a:t>NeurIPS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1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B82760-A2C0-5601-3F30-5D4FC0D12A30}"/>
              </a:ext>
            </a:extLst>
          </p:cNvPr>
          <p:cNvSpPr txBox="1"/>
          <p:nvPr/>
        </p:nvSpPr>
        <p:spPr>
          <a:xfrm>
            <a:off x="347880" y="1125427"/>
            <a:ext cx="11424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endParaRPr lang="en-US" altLang="ko-KR" b="1" dirty="0">
              <a:latin typeface="Arial Nova" panose="020B050402020202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91F6CC4-EC16-BC80-112E-264837753379}"/>
              </a:ext>
            </a:extLst>
          </p:cNvPr>
          <p:cNvSpPr/>
          <p:nvPr/>
        </p:nvSpPr>
        <p:spPr bwMode="auto">
          <a:xfrm>
            <a:off x="347880" y="1054648"/>
            <a:ext cx="11424720" cy="1908471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1938B1D-671D-EC29-6F7A-6676E27A7050}"/>
                  </a:ext>
                </a:extLst>
              </p:cNvPr>
              <p:cNvSpPr txBox="1"/>
              <p:nvPr/>
            </p:nvSpPr>
            <p:spPr>
              <a:xfrm>
                <a:off x="347880" y="1054648"/>
                <a:ext cx="11424720" cy="46552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>
                    <a:latin typeface="Arial Nova" panose="020B0504020202020204" pitchFamily="34" charset="0"/>
                  </a:rPr>
                  <a:t>Theorem 6: Let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𝑲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be the NTK with respect to the set of selected fine-tuning parameters, and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be the kernel with respect to the parameters of the candidate layers, to add to the fine-tuning parameters. Then,</a:t>
                </a:r>
              </a:p>
              <a:p>
                <a:endParaRPr lang="en-US" altLang="ko-KR" b="1" dirty="0">
                  <a:latin typeface="Arial Nova" panose="020B05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1" i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ko-KR" sz="2000" b="1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sz="2000" b="1" i="0" smtClean="0">
                              <a:latin typeface="Cambria Math" panose="02040503050406030204" pitchFamily="18" charset="0"/>
                            </a:rPr>
                            <m:t>𝛈</m:t>
                          </m:r>
                        </m:e>
                      </m:d>
                      <m:sSub>
                        <m:sSubPr>
                          <m:ctrlPr>
                            <a:rPr lang="en-US" altLang="ko-KR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1" i="0" smtClean="0">
                              <a:latin typeface="Cambria Math" panose="02040503050406030204" pitchFamily="18" charset="0"/>
                            </a:rPr>
                            <m:t>𝛌</m:t>
                          </m:r>
                        </m:e>
                        <m:sub>
                          <m:r>
                            <a:rPr lang="en-US" altLang="ko-KR" sz="2000" b="1" i="0" smtClean="0">
                              <a:latin typeface="Cambria Math" panose="02040503050406030204" pitchFamily="18" charset="0"/>
                            </a:rPr>
                            <m:t>𝐢</m:t>
                          </m:r>
                        </m:sub>
                      </m:sSub>
                      <m:d>
                        <m:dPr>
                          <m:ctrlPr>
                            <a:rPr lang="en-US" altLang="ko-KR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1" i="0" smtClean="0">
                              <a:latin typeface="Cambria Math" panose="02040503050406030204" pitchFamily="18" charset="0"/>
                            </a:rPr>
                            <m:t>𝐊</m:t>
                          </m:r>
                        </m:e>
                      </m:d>
                      <m:r>
                        <a:rPr lang="en-US" altLang="ko-KR" sz="2000" b="1" i="0" smtClean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altLang="ko-KR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1" i="0" smtClean="0">
                              <a:latin typeface="Cambria Math" panose="02040503050406030204" pitchFamily="18" charset="0"/>
                            </a:rPr>
                            <m:t>𝛌</m:t>
                          </m:r>
                        </m:e>
                        <m:sub>
                          <m:r>
                            <a:rPr lang="en-US" altLang="ko-KR" sz="2000" b="1" i="0" smtClean="0">
                              <a:latin typeface="Cambria Math" panose="02040503050406030204" pitchFamily="18" charset="0"/>
                            </a:rPr>
                            <m:t>𝐢</m:t>
                          </m:r>
                        </m:sub>
                      </m:sSub>
                      <m:d>
                        <m:dPr>
                          <m:ctrlPr>
                            <a:rPr lang="en-US" altLang="ko-KR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1" i="0" smtClean="0">
                              <a:latin typeface="Cambria Math" panose="02040503050406030204" pitchFamily="18" charset="0"/>
                            </a:rPr>
                            <m:t>𝐊</m:t>
                          </m:r>
                          <m:r>
                            <a:rPr lang="en-US" altLang="ko-KR" sz="2000" b="1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sz="2000" b="1" i="0" smtClean="0">
                              <a:latin typeface="Cambria Math" panose="02040503050406030204" pitchFamily="18" charset="0"/>
                            </a:rPr>
                            <m:t>𝐒</m:t>
                          </m:r>
                        </m:e>
                      </m:d>
                      <m:r>
                        <a:rPr lang="en-US" altLang="ko-KR" sz="2000" b="1" i="0" smtClean="0">
                          <a:latin typeface="Cambria Math" panose="02040503050406030204" pitchFamily="18" charset="0"/>
                        </a:rPr>
                        <m:t>≤</m:t>
                      </m:r>
                      <m:d>
                        <m:dPr>
                          <m:ctrlPr>
                            <a:rPr lang="en-US" altLang="ko-KR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1" i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ko-KR" sz="2000" b="1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sz="2000" b="1" i="0" smtClean="0">
                              <a:latin typeface="Cambria Math" panose="02040503050406030204" pitchFamily="18" charset="0"/>
                            </a:rPr>
                            <m:t>𝛈</m:t>
                          </m:r>
                        </m:e>
                      </m:d>
                      <m:sSub>
                        <m:sSubPr>
                          <m:ctrlPr>
                            <a:rPr lang="en-US" altLang="ko-KR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1" i="0" smtClean="0">
                              <a:latin typeface="Cambria Math" panose="02040503050406030204" pitchFamily="18" charset="0"/>
                            </a:rPr>
                            <m:t>𝛌</m:t>
                          </m:r>
                        </m:e>
                        <m:sub>
                          <m:r>
                            <a:rPr lang="en-US" altLang="ko-KR" sz="2000" b="1" i="0" smtClean="0">
                              <a:latin typeface="Cambria Math" panose="02040503050406030204" pitchFamily="18" charset="0"/>
                            </a:rPr>
                            <m:t>𝐢</m:t>
                          </m:r>
                        </m:sub>
                      </m:sSub>
                      <m:d>
                        <m:dPr>
                          <m:ctrlPr>
                            <a:rPr lang="en-US" altLang="ko-KR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1" i="0" smtClean="0">
                              <a:latin typeface="Cambria Math" panose="02040503050406030204" pitchFamily="18" charset="0"/>
                            </a:rPr>
                            <m:t>𝐊</m:t>
                          </m:r>
                        </m:e>
                      </m:d>
                    </m:oMath>
                  </m:oMathPara>
                </a14:m>
                <a:endParaRPr lang="en-US" altLang="ko-KR" b="1" dirty="0">
                  <a:latin typeface="Arial Nova" panose="020B0504020202020204" pitchFamily="34" charset="0"/>
                </a:endParaRPr>
              </a:p>
              <a:p>
                <a:endParaRPr lang="en-US" altLang="ko-KR" b="1" dirty="0">
                  <a:latin typeface="Arial Nova" panose="020B0504020202020204" pitchFamily="34" charset="0"/>
                </a:endParaRPr>
              </a:p>
              <a:p>
                <a:r>
                  <a:rPr lang="en-US" altLang="ko-KR" b="1" dirty="0">
                    <a:latin typeface="Arial Nova" panose="020B0504020202020204" pitchFamily="34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𝛈</m:t>
                    </m:r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ko-KR" b="1" i="0" smtClean="0">
                        <a:latin typeface="Cambria Math" panose="02040503050406030204" pitchFamily="18" charset="0"/>
                      </a:rPr>
                      <m:t>|</m:t>
                    </m:r>
                    <m:sSup>
                      <m:sSup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1" i="0" smtClean="0">
                            <a:latin typeface="Cambria Math" panose="02040503050406030204" pitchFamily="18" charset="0"/>
                          </a:rPr>
                          <m:t>𝐊</m:t>
                        </m:r>
                      </m:e>
                      <m:sup>
                        <m:r>
                          <a:rPr lang="en-US" altLang="ko-KR" b="1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b="1" i="0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m:rPr>
                            <m:lit/>
                          </m:rPr>
                          <a:rPr lang="en-US" altLang="ko-KR" b="1" i="0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ko-KR" b="1" i="0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𝐒</m:t>
                    </m:r>
                    <m:sSup>
                      <m:sSup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1" i="0" smtClean="0">
                            <a:latin typeface="Cambria Math" panose="02040503050406030204" pitchFamily="18" charset="0"/>
                          </a:rPr>
                          <m:t>𝐊</m:t>
                        </m:r>
                      </m:e>
                      <m:sup>
                        <m:r>
                          <a:rPr lang="en-US" altLang="ko-KR" b="1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b="1" i="0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m:rPr>
                            <m:lit/>
                          </m:rPr>
                          <a:rPr lang="en-US" altLang="ko-KR" b="1" i="0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ko-KR" b="1" i="0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m:rPr>
                        <m:lit/>
                      </m:rPr>
                      <a:rPr lang="en-US" altLang="ko-KR" b="1" i="0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ko-KR" b="1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b="1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 dirty="0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</m:e>
                              <m:sub>
                                <m:r>
                                  <a:rPr lang="en-US" altLang="ko-KR" b="1" i="1" dirty="0" smtClean="0">
                                    <a:latin typeface="Cambria Math" panose="02040503050406030204" pitchFamily="18" charset="0"/>
                                  </a:rPr>
                                  <m:t>𝒍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altLang="ko-KR" b="1" i="1" dirty="0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ko-KR" b="1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1" i="1" dirty="0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US" altLang="ko-KR" b="1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0" dirty="0" smtClean="0">
                            <a:latin typeface="Cambria Math" panose="02040503050406030204" pitchFamily="18" charset="0"/>
                          </a:rPr>
                          <m:t>𝛁</m:t>
                        </m:r>
                      </m:e>
                      <m:sub>
                        <m:sSub>
                          <m:sSubPr>
                            <m:ctrlPr>
                              <a:rPr lang="en-US" altLang="ko-KR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 dirty="0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 dirty="0">
                                <a:latin typeface="Cambria Math" panose="02040503050406030204" pitchFamily="18" charset="0"/>
                              </a:rPr>
                              <m:t>𝒍</m:t>
                            </m:r>
                          </m:sub>
                        </m:sSub>
                      </m:sub>
                    </m:sSub>
                    <m:sSub>
                      <m:sSubPr>
                        <m:ctrlPr>
                          <a:rPr lang="en-US" altLang="ko-KR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dirty="0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ko-KR" b="1" i="1" dirty="0" smtClean="0">
                            <a:latin typeface="Cambria Math" panose="02040503050406030204" pitchFamily="18" charset="0"/>
                          </a:rPr>
                          <m:t>𝜽</m:t>
                        </m:r>
                      </m:sub>
                    </m:sSub>
                    <m:d>
                      <m:dPr>
                        <m:ctrlPr>
                          <a:rPr lang="en-US" altLang="ko-KR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 dirty="0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ko-KR" b="1" i="1" dirty="0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ko-KR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0" dirty="0" smtClean="0">
                            <a:latin typeface="Cambria Math" panose="02040503050406030204" pitchFamily="18" charset="0"/>
                          </a:rPr>
                          <m:t>𝛁</m:t>
                        </m:r>
                      </m:e>
                      <m:sub>
                        <m:sSub>
                          <m:sSubPr>
                            <m:ctrlPr>
                              <a:rPr lang="en-US" altLang="ko-KR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 dirty="0" smtClean="0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 dirty="0" smtClean="0">
                                <a:latin typeface="Cambria Math" panose="02040503050406030204" pitchFamily="18" charset="0"/>
                              </a:rPr>
                              <m:t>𝒍</m:t>
                            </m:r>
                          </m:sub>
                        </m:sSub>
                      </m:sub>
                    </m:sSub>
                    <m:sSub>
                      <m:sSubPr>
                        <m:ctrlPr>
                          <a:rPr lang="en-US" altLang="ko-KR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dirty="0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ko-KR" b="1" i="1" dirty="0" smtClean="0">
                            <a:latin typeface="Cambria Math" panose="02040503050406030204" pitchFamily="18" charset="0"/>
                          </a:rPr>
                          <m:t>𝜽</m:t>
                        </m:r>
                      </m:sub>
                    </m:sSub>
                    <m:sSup>
                      <m:sSupPr>
                        <m:ctrlPr>
                          <a:rPr lang="en-US" altLang="ko-KR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b="1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b="1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 dirty="0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ko-KR" b="1" i="1" dirty="0" smtClean="0"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ko-KR" b="1" i="1" dirty="0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</m:oMath>
                </a14:m>
                <a:endParaRPr lang="en-US" altLang="ko-KR" b="1" dirty="0">
                  <a:latin typeface="Arial Nova" panose="020B0504020202020204" pitchFamily="34" charset="0"/>
                </a:endParaRPr>
              </a:p>
              <a:p>
                <a:endParaRPr lang="en-US" altLang="ko-KR" b="1" dirty="0">
                  <a:latin typeface="Arial Nova" panose="020B0504020202020204" pitchFamily="34" charset="0"/>
                </a:endParaRPr>
              </a:p>
              <a:p>
                <a:endParaRPr lang="en-US" altLang="ko-KR" dirty="0">
                  <a:latin typeface="Arial Nova" panose="020B0504020202020204" pitchFamily="34" charset="0"/>
                </a:endParaRPr>
              </a:p>
              <a:p>
                <a:r>
                  <a:rPr lang="en-US" altLang="ko-KR" dirty="0">
                    <a:latin typeface="Arial Nova" panose="020B0504020202020204" pitchFamily="34" charset="0"/>
                  </a:rPr>
                  <a:t>Proof: skip</a:t>
                </a:r>
              </a:p>
              <a:p>
                <a:endParaRPr lang="en-US" altLang="ko-KR" dirty="0">
                  <a:latin typeface="Arial Nova" panose="020B0504020202020204" pitchFamily="34" charset="0"/>
                </a:endParaRPr>
              </a:p>
              <a:p>
                <a:pPr marL="285750" indent="-285750">
                  <a:buFont typeface="Symbol" pitchFamily="2" charset="2"/>
                  <a:buChar char="Þ"/>
                </a:pPr>
                <a:r>
                  <a:rPr lang="en-US" altLang="ko-KR" dirty="0">
                    <a:latin typeface="Arial Nova" panose="020B0504020202020204" pitchFamily="34" charset="0"/>
                  </a:rPr>
                  <a:t>Each eigenvalue of K+S is </a:t>
                </a:r>
                <a:r>
                  <a:rPr lang="en-US" altLang="ko-KR" b="1" dirty="0">
                    <a:solidFill>
                      <a:srgbClr val="FF0000"/>
                    </a:solidFill>
                    <a:latin typeface="Arial Nova" panose="020B0504020202020204" pitchFamily="34" charset="0"/>
                  </a:rPr>
                  <a:t>bounded at most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ko-KR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– </m:t>
                    </m:r>
                    <m:r>
                      <a:rPr lang="en-US" altLang="ko-KR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𝜼</m:t>
                    </m:r>
                    <m:r>
                      <a:rPr lang="en-US" altLang="ko-KR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altLang="ko-KR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𝜼</m:t>
                    </m:r>
                    <m:r>
                      <a:rPr lang="en-US" altLang="ko-KR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ko-KR" b="1" dirty="0">
                  <a:solidFill>
                    <a:srgbClr val="FF0000"/>
                  </a:solidFill>
                  <a:latin typeface="Arial Nova" panose="020B0504020202020204" pitchFamily="34" charset="0"/>
                </a:endParaRPr>
              </a:p>
              <a:p>
                <a:pPr marL="285750" indent="-285750">
                  <a:buFont typeface="Symbol" pitchFamily="2" charset="2"/>
                  <a:buChar char="Þ"/>
                </a:pPr>
                <a:r>
                  <a:rPr lang="en-US" altLang="ko-KR" dirty="0">
                    <a:latin typeface="Arial Nova" panose="020B0504020202020204" pitchFamily="34" charset="0"/>
                  </a:rPr>
                  <a:t>We can get useful insight if we combine this with previous finding:</a:t>
                </a:r>
              </a:p>
              <a:p>
                <a:pPr marL="742950" lvl="1" indent="-285750">
                  <a:buFont typeface="Symbol" pitchFamily="2" charset="2"/>
                  <a:buChar char="Þ"/>
                </a:pPr>
                <a:r>
                  <a:rPr lang="en-US" altLang="ko-KR" b="1" dirty="0">
                    <a:solidFill>
                      <a:srgbClr val="FF0000"/>
                    </a:solidFill>
                    <a:latin typeface="Arial Nova" panose="020B050402020202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altLang="ko-KR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𝜼</m:t>
                    </m:r>
                  </m:oMath>
                </a14:m>
                <a:r>
                  <a:rPr lang="en-US" altLang="ko-KR" b="1" dirty="0">
                    <a:solidFill>
                      <a:srgbClr val="FF0000"/>
                    </a:solidFill>
                    <a:latin typeface="Arial Nova" panose="020B0504020202020204" pitchFamily="34" charset="0"/>
                  </a:rPr>
                  <a:t> is small</a:t>
                </a:r>
                <a:r>
                  <a:rPr lang="en-US" altLang="ko-KR" dirty="0">
                    <a:latin typeface="Arial Nova" panose="020B0504020202020204" pitchFamily="34" charset="0"/>
                  </a:rPr>
                  <a:t>, we don’t have to select that layer, since it </a:t>
                </a:r>
                <a:r>
                  <a:rPr lang="en-US" altLang="ko-KR" b="1" dirty="0">
                    <a:solidFill>
                      <a:srgbClr val="FF0000"/>
                    </a:solidFill>
                    <a:latin typeface="Arial Nova" panose="020B0504020202020204" pitchFamily="34" charset="0"/>
                  </a:rPr>
                  <a:t>doesn’t affect empirical risk much.</a:t>
                </a:r>
              </a:p>
              <a:p>
                <a:pPr marL="742950" lvl="1" indent="-285750">
                  <a:buFont typeface="Symbol" pitchFamily="2" charset="2"/>
                  <a:buChar char="Þ"/>
                </a:pPr>
                <a:r>
                  <a:rPr lang="en-US" altLang="ko-KR" b="1" dirty="0">
                    <a:solidFill>
                      <a:srgbClr val="FF0000"/>
                    </a:solidFill>
                    <a:latin typeface="Arial Nova" panose="020B050402020202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altLang="ko-KR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𝜼</m:t>
                    </m:r>
                  </m:oMath>
                </a14:m>
                <a:r>
                  <a:rPr lang="en-US" altLang="ko-KR" b="1" dirty="0">
                    <a:solidFill>
                      <a:srgbClr val="FF0000"/>
                    </a:solidFill>
                    <a:latin typeface="Arial Nova" panose="020B0504020202020204" pitchFamily="34" charset="0"/>
                  </a:rPr>
                  <a:t> is large </a:t>
                </a:r>
                <a:r>
                  <a:rPr lang="en-US" altLang="ko-KR" dirty="0">
                    <a:latin typeface="Arial Nova" panose="020B0504020202020204" pitchFamily="34" charset="0"/>
                  </a:rPr>
                  <a:t>enough and doesn’t mass up the condition number, </a:t>
                </a:r>
                <a:r>
                  <a:rPr lang="en-US" altLang="ko-KR" b="1" dirty="0">
                    <a:solidFill>
                      <a:srgbClr val="FF0000"/>
                    </a:solidFill>
                    <a:latin typeface="Arial Nova" panose="020B0504020202020204" pitchFamily="34" charset="0"/>
                  </a:rPr>
                  <a:t>it is worth to tune.</a:t>
                </a:r>
              </a:p>
              <a:p>
                <a:pPr marL="285750" indent="-285750">
                  <a:buFont typeface="Symbol" pitchFamily="2" charset="2"/>
                  <a:buChar char="Þ"/>
                </a:pPr>
                <a:endParaRPr lang="en-US" altLang="ko-KR" dirty="0">
                  <a:latin typeface="Arial Nova" panose="020B0504020202020204" pitchFamily="34" charset="0"/>
                </a:endParaRPr>
              </a:p>
              <a:p>
                <a:endParaRPr lang="en-US" altLang="ko-KR" b="1" dirty="0"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1938B1D-671D-EC29-6F7A-6676E27A70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880" y="1054648"/>
                <a:ext cx="11424720" cy="4655249"/>
              </a:xfrm>
              <a:prstGeom prst="rect">
                <a:avLst/>
              </a:prstGeom>
              <a:blipFill>
                <a:blip r:embed="rId3"/>
                <a:stretch>
                  <a:fillRect l="-444" t="-545" r="-667"/>
                </a:stretch>
              </a:blipFill>
            </p:spPr>
            <p:txBody>
              <a:bodyPr/>
              <a:lstStyle/>
              <a:p>
                <a:r>
                  <a:rPr lang="ko-Kore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003187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46B9C-275B-CE63-CFC7-6D6EF0509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748A41-99DE-248A-9741-945789038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00" y="144463"/>
            <a:ext cx="11424720" cy="752792"/>
          </a:xfrm>
        </p:spPr>
        <p:txBody>
          <a:bodyPr/>
          <a:lstStyle/>
          <a:p>
            <a:r>
              <a:rPr lang="en" altLang="ko-Kore-KR" dirty="0"/>
              <a:t>Predictive Risk Bound for Layer-wise Fine-tuning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5A46FF-DA98-FD94-26E3-DDEC729DF1DC}"/>
              </a:ext>
            </a:extLst>
          </p:cNvPr>
          <p:cNvSpPr txBox="1"/>
          <p:nvPr/>
        </p:nvSpPr>
        <p:spPr>
          <a:xfrm>
            <a:off x="0" y="6590426"/>
            <a:ext cx="114247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Afzal, Zahra Rahimi, et al. "Linearization Explains Fine-Tuning in Large Language Models." </a:t>
            </a:r>
            <a:r>
              <a:rPr lang="en-US" altLang="ko-KR" sz="1000" i="1" dirty="0">
                <a:solidFill>
                  <a:schemeClr val="bg1">
                    <a:lumMod val="65000"/>
                  </a:schemeClr>
                </a:solidFill>
              </a:rPr>
              <a:t>The 39th Annual Conference on </a:t>
            </a:r>
            <a:r>
              <a:rPr lang="en-US" altLang="ko-KR" sz="1000" i="1" dirty="0" err="1">
                <a:solidFill>
                  <a:schemeClr val="bg1">
                    <a:lumMod val="65000"/>
                  </a:schemeClr>
                </a:solidFill>
              </a:rPr>
              <a:t>NeurIPS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1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640E47-2335-CC10-6790-85CECB757C67}"/>
              </a:ext>
            </a:extLst>
          </p:cNvPr>
          <p:cNvSpPr txBox="1"/>
          <p:nvPr/>
        </p:nvSpPr>
        <p:spPr>
          <a:xfrm>
            <a:off x="347880" y="1125427"/>
            <a:ext cx="11424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endParaRPr lang="en-US" altLang="ko-KR" b="1" dirty="0">
              <a:latin typeface="Arial Nova" panose="020B050402020202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FA6F858-36DA-02A4-B7FD-0DCD10023B9F}"/>
              </a:ext>
            </a:extLst>
          </p:cNvPr>
          <p:cNvSpPr/>
          <p:nvPr/>
        </p:nvSpPr>
        <p:spPr bwMode="auto">
          <a:xfrm>
            <a:off x="347880" y="1054649"/>
            <a:ext cx="11424720" cy="1989494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3BFA857-91E3-A62A-E7DD-FC6446C2E100}"/>
                  </a:ext>
                </a:extLst>
              </p:cNvPr>
              <p:cNvSpPr txBox="1"/>
              <p:nvPr/>
            </p:nvSpPr>
            <p:spPr>
              <a:xfrm>
                <a:off x="419400" y="1125427"/>
                <a:ext cx="11424720" cy="44666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>
                    <a:latin typeface="Arial Nova" panose="020B0504020202020204" pitchFamily="34" charset="0"/>
                  </a:rPr>
                  <a:t>Theorem 7: Let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𝑲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be the NTK induced by the trainable parameters in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, then if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𝜿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𝑲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𝝈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) ≤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we have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𝝀</m:t>
                              </m:r>
                            </m:e>
                            <m:sub>
                              <m: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𝒎𝒂𝒙</m:t>
                              </m:r>
                            </m:sub>
                          </m:sSub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𝑲</m:t>
                          </m:r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𝑺</m:t>
                          </m:r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𝝈</m:t>
                          </m:r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𝑰</m:t>
                          </m:r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𝝀</m:t>
                              </m:r>
                            </m:e>
                            <m:sub>
                              <m: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𝒎𝒂𝒙</m:t>
                              </m:r>
                            </m:sub>
                          </m:sSub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𝑲</m:t>
                          </m:r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 + </m:t>
                          </m:r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𝝈</m:t>
                          </m:r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𝑰</m:t>
                          </m:r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altLang="ko-KR" b="1" i="1" smtClean="0">
                          <a:latin typeface="Cambria Math" panose="02040503050406030204" pitchFamily="18" charset="0"/>
                        </a:rPr>
                        <m:t> ≤  </m:t>
                      </m:r>
                      <m:sSup>
                        <m:sSupPr>
                          <m:ctrlPr>
                            <a:rPr lang="en-US" altLang="ko-KR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ko-KR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</a:rPr>
                                    <m:t>𝑹</m:t>
                                  </m:r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</a:rPr>
                                    <m:t> ∪ 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altLang="ko-KR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ko-KR" b="1" i="1">
                                          <a:latin typeface="Cambria Math" panose="02040503050406030204" pitchFamily="18" charset="0"/>
                                        </a:rPr>
                                        <m:t>𝜽</m:t>
                                      </m:r>
                                    </m:e>
                                  </m:acc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</a:rPr>
                                    <m:t>𝑹</m:t>
                                  </m:r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US" altLang="ko-KR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ko-KR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sup>
                      </m:sSup>
                      <m:r>
                        <a:rPr lang="en-US" altLang="ko-KR" b="1" i="1" smtClean="0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altLang="ko-KR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𝝀</m:t>
                              </m:r>
                            </m:e>
                            <m:sub>
                              <m: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𝒎𝒂𝒙</m:t>
                              </m:r>
                            </m:sub>
                          </m:sSub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𝑲</m:t>
                          </m:r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𝑺</m:t>
                          </m:r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𝝈</m:t>
                          </m:r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𝑰</m:t>
                          </m:r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𝝀</m:t>
                              </m:r>
                            </m:e>
                            <m:sub>
                              <m: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𝒎𝒂𝒙</m:t>
                              </m:r>
                            </m:sub>
                          </m:sSub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𝑲</m:t>
                          </m:r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 + </m:t>
                          </m:r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𝝈</m:t>
                          </m:r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𝑰</m:t>
                          </m:r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altLang="ko-KR" b="1" dirty="0">
                  <a:latin typeface="Arial Nova" panose="020B0504020202020204" pitchFamily="34" charset="0"/>
                </a:endParaRPr>
              </a:p>
              <a:p>
                <a:endParaRPr lang="en-US" altLang="ko-KR" dirty="0">
                  <a:latin typeface="Arial Nova" panose="020B0504020202020204" pitchFamily="34" charset="0"/>
                </a:endParaRPr>
              </a:p>
              <a:p>
                <a:r>
                  <a:rPr lang="en-US" altLang="ko-KR" b="1" dirty="0">
                    <a:latin typeface="Arial Nova" panose="020B0504020202020204" pitchFamily="34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num>
                      <m:den>
                        <m:sSup>
                          <m:sSupPr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𝜼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𝜼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ko-KR" b="1" i="1" smtClean="0">
                        <a:latin typeface="Cambria Math" panose="02040503050406030204" pitchFamily="18" charset="0"/>
                      </a:rPr>
                      <m:t>|</m:t>
                    </m:r>
                    <m:sSup>
                      <m:sSup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𝑲</m:t>
                        </m:r>
                      </m:e>
                      <m:sup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m:rPr>
                            <m:lit/>
                          </m:rPr>
                          <a:rPr lang="en-US" altLang="ko-KR" b="1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𝑺</m:t>
                    </m:r>
                    <m:sSup>
                      <m:sSup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𝑲</m:t>
                        </m:r>
                      </m:e>
                      <m:sup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m:rPr>
                            <m:lit/>
                          </m:rPr>
                          <a:rPr lang="en-US" altLang="ko-KR" b="1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m:rPr>
                        <m:lit/>
                      </m:rPr>
                      <a:rPr lang="en-US" altLang="ko-KR" b="1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is the kernel induced by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</m:d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0" smtClean="0">
                            <a:latin typeface="Cambria Math" panose="02040503050406030204" pitchFamily="18" charset="0"/>
                          </a:rPr>
                          <m:t>𝛁</m:t>
                        </m:r>
                      </m:e>
                      <m:sub>
                        <m:acc>
                          <m:accPr>
                            <m:chr m:val="̂"/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</m:acc>
                      </m:sub>
                    </m:sSub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sub>
                    </m:sSub>
                    <m:d>
                      <m:d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𝜵</m:t>
                        </m:r>
                      </m:e>
                      <m:sub>
                        <m:acc>
                          <m:accPr>
                            <m:chr m:val="̂"/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</m:acc>
                      </m:sub>
                    </m:sSub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𝒇</m:t>
                    </m:r>
                    <m:sSup>
                      <m:sSup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</m:oMath>
                </a14:m>
                <a:endParaRPr lang="en-US" altLang="ko-KR" b="1" dirty="0">
                  <a:latin typeface="Arial Nova" panose="020B0504020202020204" pitchFamily="34" charset="0"/>
                </a:endParaRPr>
              </a:p>
              <a:p>
                <a:endParaRPr lang="en-US" altLang="ko-KR" b="1" dirty="0">
                  <a:latin typeface="Arial Nova" panose="020B0504020202020204" pitchFamily="34" charset="0"/>
                </a:endParaRPr>
              </a:p>
              <a:p>
                <a:endParaRPr lang="en-US" altLang="ko-KR" b="1" dirty="0">
                  <a:latin typeface="Arial Nova" panose="020B0504020202020204" pitchFamily="34" charset="0"/>
                </a:endParaRPr>
              </a:p>
              <a:p>
                <a:r>
                  <a:rPr lang="en-US" altLang="ko-KR" sz="2000" dirty="0">
                    <a:latin typeface="Arial Nova" panose="020B0504020202020204" pitchFamily="34" charset="0"/>
                  </a:rPr>
                  <a:t>If we add more candidate layers, how much fine-tuning risk can be improved?</a:t>
                </a:r>
              </a:p>
              <a:p>
                <a:endParaRPr lang="en-US" altLang="ko-KR" sz="2000" dirty="0">
                  <a:latin typeface="Arial Nova" panose="020B0504020202020204" pitchFamily="34" charset="0"/>
                </a:endParaRPr>
              </a:p>
              <a:p>
                <a:pPr marL="342900" indent="-342900">
                  <a:buFont typeface="Symbol" pitchFamily="2" charset="2"/>
                  <a:buChar char="Þ"/>
                </a:pPr>
                <a:r>
                  <a:rPr lang="en-US" altLang="ko-KR" sz="2000" dirty="0">
                    <a:latin typeface="Arial Nova" panose="020B0504020202020204" pitchFamily="34" charset="0"/>
                  </a:rPr>
                  <a:t>With theorem 7, we can </a:t>
                </a:r>
                <a:r>
                  <a:rPr lang="en-US" altLang="ko-KR" sz="2000" b="1" dirty="0">
                    <a:solidFill>
                      <a:srgbClr val="FF0000"/>
                    </a:solidFill>
                    <a:latin typeface="Arial Nova" panose="020B0504020202020204" pitchFamily="34" charset="0"/>
                  </a:rPr>
                  <a:t>bound risk improvement </a:t>
                </a:r>
                <a:r>
                  <a:rPr lang="en-US" altLang="ko-KR" sz="2000" dirty="0">
                    <a:latin typeface="Arial Nova" panose="020B0504020202020204" pitchFamily="34" charset="0"/>
                  </a:rPr>
                  <a:t>through maximum eigenvalue of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𝑲</m:t>
                    </m:r>
                  </m:oMath>
                </a14:m>
                <a:r>
                  <a:rPr lang="en-US" altLang="ko-KR" sz="2000" dirty="0">
                    <a:latin typeface="Arial Nova" panose="020B0504020202020204" pitchFamily="34" charset="0"/>
                  </a:rPr>
                  <a:t>.</a:t>
                </a:r>
              </a:p>
              <a:p>
                <a:pPr marL="342900" indent="-342900">
                  <a:buFont typeface="Symbol" pitchFamily="2" charset="2"/>
                  <a:buChar char="Þ"/>
                </a:pPr>
                <a:endParaRPr lang="en-US" altLang="ko-KR" sz="2000" dirty="0">
                  <a:latin typeface="Arial Nova" panose="020B0504020202020204" pitchFamily="34" charset="0"/>
                </a:endParaRPr>
              </a:p>
              <a:p>
                <a:endParaRPr lang="en-US" altLang="ko-KR" b="1" dirty="0">
                  <a:latin typeface="Arial Nova" panose="020B0504020202020204" pitchFamily="34" charset="0"/>
                </a:endParaRPr>
              </a:p>
              <a:p>
                <a:endParaRPr lang="en-US" altLang="ko-KR" dirty="0">
                  <a:latin typeface="Arial Nova" panose="020B0504020202020204" pitchFamily="34" charset="0"/>
                </a:endParaRPr>
              </a:p>
              <a:p>
                <a:endParaRPr lang="en-US" altLang="ko-KR" dirty="0"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3BFA857-91E3-A62A-E7DD-FC6446C2E1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400" y="1125427"/>
                <a:ext cx="11424720" cy="4466672"/>
              </a:xfrm>
              <a:prstGeom prst="rect">
                <a:avLst/>
              </a:prstGeom>
              <a:blipFill>
                <a:blip r:embed="rId3"/>
                <a:stretch>
                  <a:fillRect l="-667" t="-567"/>
                </a:stretch>
              </a:blipFill>
            </p:spPr>
            <p:txBody>
              <a:bodyPr/>
              <a:lstStyle/>
              <a:p>
                <a:r>
                  <a:rPr lang="ko-Kore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4833212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0B504-D849-105C-5DE4-57455F71D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5CB4D0-8F6B-910A-AD69-6581C07C7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00" y="144463"/>
            <a:ext cx="11424720" cy="752792"/>
          </a:xfrm>
        </p:spPr>
        <p:txBody>
          <a:bodyPr/>
          <a:lstStyle/>
          <a:p>
            <a:r>
              <a:rPr lang="en-US" altLang="ko-KR" dirty="0"/>
              <a:t>Proof of theorem 7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B06FE5-1492-C528-8355-B56D709E27DD}"/>
              </a:ext>
            </a:extLst>
          </p:cNvPr>
          <p:cNvSpPr txBox="1"/>
          <p:nvPr/>
        </p:nvSpPr>
        <p:spPr>
          <a:xfrm>
            <a:off x="0" y="6590426"/>
            <a:ext cx="114247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Afzal, Zahra Rahimi, et al. "Linearization Explains Fine-Tuning in Large Language Models." </a:t>
            </a:r>
            <a:r>
              <a:rPr lang="en-US" altLang="ko-KR" sz="1000" i="1" dirty="0">
                <a:solidFill>
                  <a:schemeClr val="bg1">
                    <a:lumMod val="65000"/>
                  </a:schemeClr>
                </a:solidFill>
              </a:rPr>
              <a:t>The 39th Annual Conference on </a:t>
            </a:r>
            <a:r>
              <a:rPr lang="en-US" altLang="ko-KR" sz="1000" i="1" dirty="0" err="1">
                <a:solidFill>
                  <a:schemeClr val="bg1">
                    <a:lumMod val="65000"/>
                  </a:schemeClr>
                </a:solidFill>
              </a:rPr>
              <a:t>NeurIPS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1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3ECCE7-DF22-8E72-2DD3-AE6345F06D23}"/>
              </a:ext>
            </a:extLst>
          </p:cNvPr>
          <p:cNvSpPr txBox="1"/>
          <p:nvPr/>
        </p:nvSpPr>
        <p:spPr>
          <a:xfrm>
            <a:off x="347880" y="1125427"/>
            <a:ext cx="11424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endParaRPr lang="en-US" altLang="ko-KR" b="1" dirty="0">
              <a:latin typeface="Arial Nova" panose="020B05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9F54DA-441A-6160-3FEA-29B771168576}"/>
              </a:ext>
            </a:extLst>
          </p:cNvPr>
          <p:cNvSpPr txBox="1"/>
          <p:nvPr/>
        </p:nvSpPr>
        <p:spPr>
          <a:xfrm>
            <a:off x="383640" y="1125427"/>
            <a:ext cx="1142472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Arial Nova" panose="020B0504020202020204" pitchFamily="34" charset="0"/>
              </a:rPr>
              <a:t>From Theorem 5, we already know</a:t>
            </a:r>
          </a:p>
          <a:p>
            <a:endParaRPr lang="en-US" altLang="ko-KR" b="1" dirty="0">
              <a:latin typeface="Arial Nova" panose="020B0504020202020204" pitchFamily="34" charset="0"/>
            </a:endParaRPr>
          </a:p>
          <a:p>
            <a:endParaRPr lang="en-US" altLang="ko-KR" b="1" dirty="0">
              <a:latin typeface="Arial Nova" panose="020B0504020202020204" pitchFamily="34" charset="0"/>
            </a:endParaRPr>
          </a:p>
          <a:p>
            <a:endParaRPr lang="en-US" altLang="ko-KR" b="1" dirty="0">
              <a:latin typeface="Arial Nova" panose="020B0504020202020204" pitchFamily="34" charset="0"/>
            </a:endParaRPr>
          </a:p>
          <a:p>
            <a:endParaRPr lang="en-US" altLang="ko-KR" b="1" dirty="0">
              <a:latin typeface="Arial Nova" panose="020B0504020202020204" pitchFamily="34" charset="0"/>
            </a:endParaRPr>
          </a:p>
          <a:p>
            <a:r>
              <a:rPr lang="en-US" altLang="ko-KR" b="1" dirty="0">
                <a:latin typeface="Arial Nova" panose="020B0504020202020204" pitchFamily="34" charset="0"/>
              </a:rPr>
              <a:t>Also from theorem 6, we know how to bound the existing eigenvalues from K+S matrix’s eigenvalue. Therefore, we have</a:t>
            </a:r>
          </a:p>
          <a:p>
            <a:endParaRPr lang="en-US" altLang="ko-KR" b="1" dirty="0">
              <a:latin typeface="Arial Nova" panose="020B0504020202020204" pitchFamily="34" charset="0"/>
            </a:endParaRPr>
          </a:p>
          <a:p>
            <a:endParaRPr lang="en-US" altLang="ko-KR" b="1" dirty="0">
              <a:latin typeface="Arial Nova" panose="020B0504020202020204" pitchFamily="34" charset="0"/>
            </a:endParaRPr>
          </a:p>
          <a:p>
            <a:endParaRPr lang="en-US" altLang="ko-KR" b="1" dirty="0">
              <a:latin typeface="Arial Nova" panose="020B0504020202020204" pitchFamily="34" charset="0"/>
            </a:endParaRPr>
          </a:p>
          <a:p>
            <a:r>
              <a:rPr lang="en-US" altLang="ko-KR" b="1" dirty="0">
                <a:latin typeface="Arial Nova" panose="020B0504020202020204" pitchFamily="34" charset="0"/>
              </a:rPr>
              <a:t>and</a:t>
            </a:r>
          </a:p>
          <a:p>
            <a:endParaRPr lang="en-US" altLang="ko-KR" b="1" dirty="0">
              <a:latin typeface="Arial Nova" panose="020B0504020202020204" pitchFamily="34" charset="0"/>
            </a:endParaRPr>
          </a:p>
          <a:p>
            <a:endParaRPr lang="en-US" altLang="ko-KR" b="1" dirty="0">
              <a:latin typeface="Arial Nova" panose="020B0504020202020204" pitchFamily="34" charset="0"/>
            </a:endParaRPr>
          </a:p>
          <a:p>
            <a:endParaRPr lang="en-US" altLang="ko-KR" b="1" dirty="0">
              <a:latin typeface="Arial Nova" panose="020B0504020202020204" pitchFamily="34" charset="0"/>
            </a:endParaRPr>
          </a:p>
          <a:p>
            <a:endParaRPr lang="en-US" altLang="ko-KR" b="1" dirty="0">
              <a:latin typeface="Arial Nova" panose="020B0504020202020204" pitchFamily="34" charset="0"/>
            </a:endParaRPr>
          </a:p>
          <a:p>
            <a:r>
              <a:rPr lang="en-US" altLang="ko-KR" b="1" dirty="0">
                <a:latin typeface="Arial Nova" panose="020B0504020202020204" pitchFamily="34" charset="0"/>
              </a:rPr>
              <a:t>by combining the above inequalities, we have</a:t>
            </a:r>
          </a:p>
          <a:p>
            <a:endParaRPr lang="en-US" altLang="ko-KR" b="1" dirty="0">
              <a:latin typeface="Arial Nova" panose="020B0504020202020204" pitchFamily="34" charset="0"/>
            </a:endParaRPr>
          </a:p>
          <a:p>
            <a:endParaRPr lang="en-US" altLang="ko-KR" b="1" dirty="0">
              <a:latin typeface="Arial Nova" panose="020B0504020202020204" pitchFamily="34" charset="0"/>
            </a:endParaRPr>
          </a:p>
          <a:p>
            <a:endParaRPr lang="en-US" altLang="ko-KR" b="1" dirty="0">
              <a:latin typeface="Arial Nova" panose="020B0504020202020204" pitchFamily="34" charset="0"/>
            </a:endParaRPr>
          </a:p>
          <a:p>
            <a:endParaRPr lang="en-US" altLang="ko-KR" b="1" dirty="0">
              <a:latin typeface="Arial Nova" panose="020B0504020202020204" pitchFamily="34" charset="0"/>
            </a:endParaRPr>
          </a:p>
          <a:p>
            <a:endParaRPr lang="en-US" altLang="ko-KR" b="1" dirty="0">
              <a:latin typeface="Arial Nova" panose="020B0504020202020204" pitchFamily="34" charset="0"/>
            </a:endParaRPr>
          </a:p>
          <a:p>
            <a:endParaRPr lang="en-US" altLang="ko-KR" b="1" dirty="0">
              <a:latin typeface="Arial Nova" panose="020B0504020202020204" pitchFamily="34" charset="0"/>
            </a:endParaRPr>
          </a:p>
          <a:p>
            <a:r>
              <a:rPr lang="en-US" altLang="ko-KR" b="1" dirty="0">
                <a:latin typeface="Arial Nova" panose="020B0504020202020204" pitchFamily="34" charset="0"/>
              </a:rPr>
              <a:t> </a:t>
            </a:r>
          </a:p>
          <a:p>
            <a:endParaRPr lang="en-US" altLang="ko-KR" dirty="0">
              <a:latin typeface="Arial Nova" panose="020B0504020202020204" pitchFamily="34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9F4413E-A845-FB0A-1ED5-CCBD1CD486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2114" y="1537271"/>
            <a:ext cx="4660492" cy="84332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1754758-BA1A-A32F-B3C7-D9991BBB62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9527" y="5679309"/>
            <a:ext cx="6165657" cy="84332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8975FB5-F16B-28BE-8593-CD3C16D89F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5519" y="3186119"/>
            <a:ext cx="5993679" cy="80183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4D80651-F247-F65B-9719-F54235B6FF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2250" y="4301561"/>
            <a:ext cx="5720213" cy="864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492762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BF579-E040-2EBD-DFB8-43E82C1DF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AAF386-7FE3-3895-4B10-DB0797677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00" y="144463"/>
            <a:ext cx="11424720" cy="752792"/>
          </a:xfrm>
        </p:spPr>
        <p:txBody>
          <a:bodyPr/>
          <a:lstStyle/>
          <a:p>
            <a:r>
              <a:rPr lang="en-US" altLang="ko-KR" dirty="0"/>
              <a:t>Proof of theorem 7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360BDF-B429-B475-97DF-F67C335259D6}"/>
              </a:ext>
            </a:extLst>
          </p:cNvPr>
          <p:cNvSpPr txBox="1"/>
          <p:nvPr/>
        </p:nvSpPr>
        <p:spPr>
          <a:xfrm>
            <a:off x="0" y="6590426"/>
            <a:ext cx="114247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Afzal, Zahra Rahimi, et al. "Linearization Explains Fine-Tuning in Large Language Models." </a:t>
            </a:r>
            <a:r>
              <a:rPr lang="en-US" altLang="ko-KR" sz="1000" i="1" dirty="0">
                <a:solidFill>
                  <a:schemeClr val="bg1">
                    <a:lumMod val="65000"/>
                  </a:schemeClr>
                </a:solidFill>
              </a:rPr>
              <a:t>The 39th Annual Conference on </a:t>
            </a:r>
            <a:r>
              <a:rPr lang="en-US" altLang="ko-KR" sz="1000" i="1" dirty="0" err="1">
                <a:solidFill>
                  <a:schemeClr val="bg1">
                    <a:lumMod val="65000"/>
                  </a:schemeClr>
                </a:solidFill>
              </a:rPr>
              <a:t>NeurIPS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1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578B84-DA38-B665-D562-B26DFAE1F46B}"/>
              </a:ext>
            </a:extLst>
          </p:cNvPr>
          <p:cNvSpPr txBox="1"/>
          <p:nvPr/>
        </p:nvSpPr>
        <p:spPr>
          <a:xfrm>
            <a:off x="347880" y="1125427"/>
            <a:ext cx="11424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endParaRPr lang="en-US" altLang="ko-KR" b="1" dirty="0">
              <a:latin typeface="Arial Nova" panose="020B05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E9A759-C483-FE3E-630E-BEADE66457D4}"/>
              </a:ext>
            </a:extLst>
          </p:cNvPr>
          <p:cNvSpPr txBox="1"/>
          <p:nvPr/>
        </p:nvSpPr>
        <p:spPr>
          <a:xfrm>
            <a:off x="383640" y="1125427"/>
            <a:ext cx="1142472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Arial Nova" panose="020B0504020202020204" pitchFamily="34" charset="0"/>
              </a:rPr>
              <a:t>We will do the same thing on K+S case. From theorem 5, we have</a:t>
            </a:r>
          </a:p>
          <a:p>
            <a:endParaRPr lang="en-US" altLang="ko-KR" b="1" dirty="0">
              <a:latin typeface="Arial Nova" panose="020B0504020202020204" pitchFamily="34" charset="0"/>
            </a:endParaRPr>
          </a:p>
          <a:p>
            <a:endParaRPr lang="en-US" altLang="ko-KR" b="1" dirty="0">
              <a:latin typeface="Arial Nova" panose="020B0504020202020204" pitchFamily="34" charset="0"/>
            </a:endParaRPr>
          </a:p>
          <a:p>
            <a:endParaRPr lang="en-US" altLang="ko-KR" b="1" dirty="0">
              <a:latin typeface="Arial Nova" panose="020B0504020202020204" pitchFamily="34" charset="0"/>
            </a:endParaRPr>
          </a:p>
          <a:p>
            <a:endParaRPr lang="en-US" altLang="ko-KR" b="1" dirty="0">
              <a:latin typeface="Arial Nova" panose="020B0504020202020204" pitchFamily="34" charset="0"/>
            </a:endParaRPr>
          </a:p>
          <a:p>
            <a:r>
              <a:rPr lang="en-US" altLang="ko-KR" b="1" dirty="0">
                <a:latin typeface="Arial Nova" panose="020B0504020202020204" pitchFamily="34" charset="0"/>
              </a:rPr>
              <a:t>and similarly, from theorem 6 we have</a:t>
            </a:r>
          </a:p>
          <a:p>
            <a:endParaRPr lang="en-US" altLang="ko-KR" b="1" dirty="0">
              <a:latin typeface="Arial Nova" panose="020B0504020202020204" pitchFamily="34" charset="0"/>
            </a:endParaRPr>
          </a:p>
          <a:p>
            <a:endParaRPr lang="en-US" altLang="ko-KR" b="1" dirty="0">
              <a:latin typeface="Arial Nova" panose="020B0504020202020204" pitchFamily="34" charset="0"/>
            </a:endParaRPr>
          </a:p>
          <a:p>
            <a:endParaRPr lang="en-US" altLang="ko-KR" b="1" dirty="0">
              <a:latin typeface="Arial Nova" panose="020B0504020202020204" pitchFamily="34" charset="0"/>
            </a:endParaRPr>
          </a:p>
          <a:p>
            <a:endParaRPr lang="en-US" altLang="ko-KR" b="1" dirty="0">
              <a:latin typeface="Arial Nova" panose="020B0504020202020204" pitchFamily="34" charset="0"/>
            </a:endParaRPr>
          </a:p>
          <a:p>
            <a:endParaRPr lang="en-US" altLang="ko-KR" b="1" dirty="0">
              <a:latin typeface="Arial Nova" panose="020B0504020202020204" pitchFamily="34" charset="0"/>
            </a:endParaRPr>
          </a:p>
          <a:p>
            <a:endParaRPr lang="en-US" altLang="ko-KR" b="1" dirty="0">
              <a:latin typeface="Arial Nova" panose="020B0504020202020204" pitchFamily="34" charset="0"/>
            </a:endParaRPr>
          </a:p>
          <a:p>
            <a:r>
              <a:rPr lang="en-US" altLang="ko-KR" b="1" dirty="0">
                <a:latin typeface="Arial Nova" panose="020B0504020202020204" pitchFamily="34" charset="0"/>
              </a:rPr>
              <a:t>Therefore, combining these we have</a:t>
            </a:r>
          </a:p>
          <a:p>
            <a:endParaRPr lang="en-US" altLang="ko-KR" b="1" dirty="0">
              <a:latin typeface="Arial Nova" panose="020B0504020202020204" pitchFamily="34" charset="0"/>
            </a:endParaRPr>
          </a:p>
          <a:p>
            <a:endParaRPr lang="en-US" altLang="ko-KR" b="1" dirty="0">
              <a:latin typeface="Arial Nova" panose="020B0504020202020204" pitchFamily="34" charset="0"/>
            </a:endParaRPr>
          </a:p>
          <a:p>
            <a:endParaRPr lang="en-US" altLang="ko-KR" b="1" dirty="0">
              <a:latin typeface="Arial Nova" panose="020B0504020202020204" pitchFamily="34" charset="0"/>
            </a:endParaRPr>
          </a:p>
          <a:p>
            <a:endParaRPr lang="en-US" altLang="ko-KR" b="1" dirty="0">
              <a:latin typeface="Arial Nova" panose="020B0504020202020204" pitchFamily="34" charset="0"/>
            </a:endParaRPr>
          </a:p>
          <a:p>
            <a:endParaRPr lang="en-US" altLang="ko-KR" b="1" dirty="0">
              <a:latin typeface="Arial Nova" panose="020B0504020202020204" pitchFamily="34" charset="0"/>
            </a:endParaRPr>
          </a:p>
          <a:p>
            <a:endParaRPr lang="en-US" altLang="ko-KR" b="1" dirty="0">
              <a:latin typeface="Arial Nova" panose="020B0504020202020204" pitchFamily="34" charset="0"/>
            </a:endParaRPr>
          </a:p>
          <a:p>
            <a:r>
              <a:rPr lang="en-US" altLang="ko-KR" b="1" dirty="0">
                <a:latin typeface="Arial Nova" panose="020B0504020202020204" pitchFamily="34" charset="0"/>
              </a:rPr>
              <a:t> </a:t>
            </a:r>
          </a:p>
          <a:p>
            <a:endParaRPr lang="en-US" altLang="ko-KR" dirty="0">
              <a:latin typeface="Arial Nova" panose="020B0504020202020204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3440651-1BC9-61A8-0053-E3F3412309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9527" y="1494759"/>
            <a:ext cx="5903289" cy="84332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FDD1582-1FCF-22E5-85D2-FFF4062B19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3369" y="2915229"/>
            <a:ext cx="4523359" cy="152271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5DBA97D-0D5F-C53B-CDCE-D18EF1337D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4504" y="5035449"/>
            <a:ext cx="6187364" cy="9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420296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D285B-AAF2-16FA-DA50-1DC4CF0AC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0367C1-A336-3AB4-26EF-2A4A84783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00" y="144463"/>
            <a:ext cx="11424720" cy="752792"/>
          </a:xfrm>
        </p:spPr>
        <p:txBody>
          <a:bodyPr/>
          <a:lstStyle/>
          <a:p>
            <a:r>
              <a:rPr lang="en-US" altLang="ko-KR" dirty="0"/>
              <a:t>Proof of theorem 7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B3AE78-E792-B1C6-6C14-BA3B4E41712D}"/>
              </a:ext>
            </a:extLst>
          </p:cNvPr>
          <p:cNvSpPr txBox="1"/>
          <p:nvPr/>
        </p:nvSpPr>
        <p:spPr>
          <a:xfrm>
            <a:off x="0" y="6590426"/>
            <a:ext cx="114247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Afzal, Zahra Rahimi, et al. "Linearization Explains Fine-Tuning in Large Language Models." </a:t>
            </a:r>
            <a:r>
              <a:rPr lang="en-US" altLang="ko-KR" sz="1000" i="1" dirty="0">
                <a:solidFill>
                  <a:schemeClr val="bg1">
                    <a:lumMod val="65000"/>
                  </a:schemeClr>
                </a:solidFill>
              </a:rPr>
              <a:t>The 39th Annual Conference on </a:t>
            </a:r>
            <a:r>
              <a:rPr lang="en-US" altLang="ko-KR" sz="1000" i="1" dirty="0" err="1">
                <a:solidFill>
                  <a:schemeClr val="bg1">
                    <a:lumMod val="65000"/>
                  </a:schemeClr>
                </a:solidFill>
              </a:rPr>
              <a:t>NeurIPS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1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6BBDF9-300B-A4FB-07E4-B3AB00C74460}"/>
              </a:ext>
            </a:extLst>
          </p:cNvPr>
          <p:cNvSpPr txBox="1"/>
          <p:nvPr/>
        </p:nvSpPr>
        <p:spPr>
          <a:xfrm>
            <a:off x="347880" y="1125427"/>
            <a:ext cx="11424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endParaRPr lang="en-US" altLang="ko-KR" b="1" dirty="0">
              <a:latin typeface="Arial Nova" panose="020B05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6C6866E-1B89-F507-4E80-875995EB4C59}"/>
                  </a:ext>
                </a:extLst>
              </p:cNvPr>
              <p:cNvSpPr txBox="1"/>
              <p:nvPr/>
            </p:nvSpPr>
            <p:spPr>
              <a:xfrm>
                <a:off x="383640" y="1125427"/>
                <a:ext cx="11424720" cy="52049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>
                    <a:latin typeface="Arial Nova" panose="020B0504020202020204" pitchFamily="34" charset="0"/>
                  </a:rPr>
                  <a:t>By combining two inequalities, we can obtain</a:t>
                </a:r>
              </a:p>
              <a:p>
                <a:endParaRPr lang="en-US" altLang="ko-KR" b="1" dirty="0">
                  <a:latin typeface="Arial Nova" panose="020B0504020202020204" pitchFamily="34" charset="0"/>
                </a:endParaRPr>
              </a:p>
              <a:p>
                <a:endParaRPr lang="en-US" altLang="ko-KR" b="1" dirty="0">
                  <a:latin typeface="Arial Nova" panose="020B0504020202020204" pitchFamily="34" charset="0"/>
                </a:endParaRPr>
              </a:p>
              <a:p>
                <a:endParaRPr lang="en-US" altLang="ko-KR" b="1" dirty="0">
                  <a:latin typeface="Arial Nova" panose="020B0504020202020204" pitchFamily="34" charset="0"/>
                </a:endParaRPr>
              </a:p>
              <a:p>
                <a:endParaRPr lang="en-US" altLang="ko-KR" b="1" dirty="0">
                  <a:latin typeface="Arial Nova" panose="020B0504020202020204" pitchFamily="34" charset="0"/>
                </a:endParaRPr>
              </a:p>
              <a:p>
                <a:r>
                  <a:rPr lang="en-US" altLang="ko-KR" b="1" dirty="0">
                    <a:latin typeface="Arial Nova" panose="020B0504020202020204" pitchFamily="34" charset="0"/>
                  </a:rPr>
                  <a:t>and</a:t>
                </a:r>
              </a:p>
              <a:p>
                <a:endParaRPr lang="en-US" altLang="ko-KR" b="1" dirty="0">
                  <a:latin typeface="Arial Nova" panose="020B0504020202020204" pitchFamily="34" charset="0"/>
                </a:endParaRPr>
              </a:p>
              <a:p>
                <a:endParaRPr lang="en-US" altLang="ko-KR" b="1" dirty="0">
                  <a:latin typeface="Arial Nova" panose="020B0504020202020204" pitchFamily="34" charset="0"/>
                </a:endParaRPr>
              </a:p>
              <a:p>
                <a:endParaRPr lang="en-US" altLang="ko-KR" b="1" dirty="0">
                  <a:latin typeface="Arial Nova" panose="020B0504020202020204" pitchFamily="34" charset="0"/>
                </a:endParaRPr>
              </a:p>
              <a:p>
                <a:endParaRPr lang="en-US" altLang="ko-KR" b="1" dirty="0">
                  <a:latin typeface="Arial Nova" panose="020B0504020202020204" pitchFamily="34" charset="0"/>
                </a:endParaRPr>
              </a:p>
              <a:p>
                <a:r>
                  <a:rPr lang="en-US" altLang="ko-KR" b="1" dirty="0">
                    <a:latin typeface="Arial Nova" panose="020B0504020202020204" pitchFamily="34" charset="0"/>
                  </a:rPr>
                  <a:t>Applying the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𝜿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𝑲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𝝈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) ≤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, and suppose that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ko-KR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≤ </m:t>
                    </m:r>
                    <m:r>
                      <a:rPr lang="en-US" altLang="ko-KR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𝜼</m:t>
                    </m:r>
                    <m:r>
                      <a:rPr lang="en-US" altLang="ko-KR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≤ </m:t>
                    </m:r>
                    <m:r>
                      <a:rPr lang="en-US" altLang="ko-KR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,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ko-KR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R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𝜼</m:t>
                            </m:r>
                          </m:e>
                        </m:d>
                      </m:e>
                      <m:sup>
                        <m:r>
                          <a:rPr lang="en-US" altLang="ko-KR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ko-KR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altLang="ko-KR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ko-KR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ko-KR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𝜼</m:t>
                            </m:r>
                          </m:e>
                        </m:d>
                      </m:e>
                      <m:sup>
                        <m:r>
                          <a:rPr lang="en-US" altLang="ko-KR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, by defining </a:t>
                </a:r>
              </a:p>
              <a:p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num>
                      <m:den>
                        <m:sSup>
                          <m:sSupPr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𝜼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ko-KR" b="1" i="1" dirty="0">
                    <a:latin typeface="Arial Nova" panose="020B0504020202020204" pitchFamily="34" charset="0"/>
                  </a:rPr>
                  <a:t>, </a:t>
                </a:r>
                <a:r>
                  <a:rPr lang="en-US" altLang="ko-KR" b="1" dirty="0">
                    <a:latin typeface="Arial Nova" panose="020B0504020202020204" pitchFamily="34" charset="0"/>
                  </a:rPr>
                  <a:t>we can have the desired form:</a:t>
                </a:r>
              </a:p>
              <a:p>
                <a:endParaRPr lang="en-US" altLang="ko-KR" b="1" dirty="0">
                  <a:latin typeface="Arial Nova" panose="020B0504020202020204" pitchFamily="34" charset="0"/>
                </a:endParaRPr>
              </a:p>
              <a:p>
                <a:endParaRPr lang="en-US" altLang="ko-KR" b="1" dirty="0">
                  <a:latin typeface="Arial Nova" panose="020B0504020202020204" pitchFamily="34" charset="0"/>
                </a:endParaRPr>
              </a:p>
              <a:p>
                <a:endParaRPr lang="en-US" altLang="ko-KR" b="1" dirty="0">
                  <a:latin typeface="Arial Nova" panose="020B0504020202020204" pitchFamily="34" charset="0"/>
                </a:endParaRPr>
              </a:p>
              <a:p>
                <a:endParaRPr lang="en-US" altLang="ko-KR" b="1" dirty="0">
                  <a:latin typeface="Arial Nova" panose="020B0504020202020204" pitchFamily="34" charset="0"/>
                </a:endParaRPr>
              </a:p>
              <a:p>
                <a:r>
                  <a:rPr lang="en-US" altLang="ko-KR" b="1" dirty="0">
                    <a:latin typeface="Arial Nova" panose="020B0504020202020204" pitchFamily="34" charset="0"/>
                  </a:rPr>
                  <a:t> </a:t>
                </a:r>
              </a:p>
              <a:p>
                <a:endParaRPr lang="en-US" altLang="ko-KR" dirty="0"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6C6866E-1B89-F507-4E80-875995EB4C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640" y="1125427"/>
                <a:ext cx="11424720" cy="5204951"/>
              </a:xfrm>
              <a:prstGeom prst="rect">
                <a:avLst/>
              </a:prstGeom>
              <a:blipFill>
                <a:blip r:embed="rId3"/>
                <a:stretch>
                  <a:fillRect l="-444" t="-487"/>
                </a:stretch>
              </a:blipFill>
            </p:spPr>
            <p:txBody>
              <a:bodyPr/>
              <a:lstStyle/>
              <a:p>
                <a:r>
                  <a:rPr lang="ko-Kore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그림 7">
            <a:extLst>
              <a:ext uri="{FF2B5EF4-FFF2-40B4-BE49-F238E27FC236}">
                <a16:creationId xmlns:a16="http://schemas.microsoft.com/office/drawing/2014/main" id="{DAB56B7C-0F7D-F043-FC69-0F8C9A2AA4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2152" y="1494759"/>
            <a:ext cx="4376819" cy="80523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E5F6582-5F9E-B5AD-CF45-FD0F894229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2152" y="2832777"/>
            <a:ext cx="4511231" cy="91106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6359E72-FC56-3B6B-F854-17625BA75C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87382" y="4714230"/>
            <a:ext cx="6081756" cy="974938"/>
          </a:xfrm>
          <a:prstGeom prst="rect">
            <a:avLst/>
          </a:prstGeom>
        </p:spPr>
      </p:pic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9B222CCE-6BC9-866B-1172-5DF3D0143874}"/>
              </a:ext>
            </a:extLst>
          </p:cNvPr>
          <p:cNvCxnSpPr>
            <a:cxnSpLocks/>
          </p:cNvCxnSpPr>
          <p:nvPr/>
        </p:nvCxnSpPr>
        <p:spPr bwMode="auto">
          <a:xfrm flipH="1">
            <a:off x="6784258" y="2832777"/>
            <a:ext cx="2184880" cy="1075546"/>
          </a:xfrm>
          <a:prstGeom prst="straightConnector1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2507541-84A0-15C1-2898-771EC4D1F57D}"/>
              </a:ext>
            </a:extLst>
          </p:cNvPr>
          <p:cNvSpPr txBox="1"/>
          <p:nvPr/>
        </p:nvSpPr>
        <p:spPr>
          <a:xfrm>
            <a:off x="8958155" y="2290927"/>
            <a:ext cx="143059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sz="4400" dirty="0"/>
              <a:t>?</a:t>
            </a:r>
            <a:endParaRPr kumimoji="1" lang="ko-Kore-KR" altLang="en-US" sz="4400" dirty="0"/>
          </a:p>
        </p:txBody>
      </p:sp>
    </p:spTree>
    <p:extLst>
      <p:ext uri="{BB962C8B-B14F-4D97-AF65-F5344CB8AC3E}">
        <p14:creationId xmlns:p14="http://schemas.microsoft.com/office/powerpoint/2010/main" val="3157171322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2D50C-C2EA-77F6-7A44-1B24BA260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58EF4CB0-145A-126C-B3B6-5E4DD54A00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3878" y="2299640"/>
            <a:ext cx="11841922" cy="230194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sz="3600" dirty="0">
                <a:solidFill>
                  <a:schemeClr val="tx1"/>
                </a:solidFill>
                <a:latin typeface="Arial Nova"/>
                <a:cs typeface="Arial"/>
              </a:rPr>
              <a:t>Section 6 : Experiments</a:t>
            </a:r>
            <a:endParaRPr lang="ko-KR" altLang="en-US" b="0" dirty="0">
              <a:solidFill>
                <a:schemeClr val="tx1"/>
              </a:solidFill>
              <a:latin typeface="Arial Nova"/>
              <a:cs typeface="Arial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4C04566-BF73-F579-417D-63E2C3159BB3}"/>
              </a:ext>
            </a:extLst>
          </p:cNvPr>
          <p:cNvSpPr/>
          <p:nvPr/>
        </p:nvSpPr>
        <p:spPr>
          <a:xfrm>
            <a:off x="4" y="0"/>
            <a:ext cx="12191996" cy="950400"/>
          </a:xfrm>
          <a:prstGeom prst="rect">
            <a:avLst/>
          </a:prstGeom>
          <a:solidFill>
            <a:srgbClr val="2530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40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EECE695D : Deep Learning Theory</a:t>
            </a:r>
            <a:endParaRPr kumimoji="1" lang="ko-Kore-KR" altLang="en-US" sz="4000" b="1" dirty="0">
              <a:solidFill>
                <a:schemeClr val="bg1"/>
              </a:solidFill>
              <a:latin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2711765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D72C1-9E77-6473-5B8A-1A292C9CF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84FE83-52C5-0F47-14BE-CAA31C9DC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00" y="144463"/>
            <a:ext cx="11424720" cy="752792"/>
          </a:xfrm>
        </p:spPr>
        <p:txBody>
          <a:bodyPr/>
          <a:lstStyle/>
          <a:p>
            <a:r>
              <a:rPr lang="en-US" altLang="ko-KR" dirty="0"/>
              <a:t>Experiments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98EA3-B159-3EF2-FC63-132376126D2A}"/>
              </a:ext>
            </a:extLst>
          </p:cNvPr>
          <p:cNvSpPr txBox="1"/>
          <p:nvPr/>
        </p:nvSpPr>
        <p:spPr>
          <a:xfrm>
            <a:off x="0" y="6590426"/>
            <a:ext cx="114247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Afzal, Zahra Rahimi, et al. "Linearization Explains Fine-Tuning in Large Language Models." </a:t>
            </a:r>
            <a:r>
              <a:rPr lang="en-US" altLang="ko-KR" sz="1000" i="1" dirty="0">
                <a:solidFill>
                  <a:schemeClr val="bg1">
                    <a:lumMod val="65000"/>
                  </a:schemeClr>
                </a:solidFill>
              </a:rPr>
              <a:t>The 39th Annual Conference on </a:t>
            </a:r>
            <a:r>
              <a:rPr lang="en-US" altLang="ko-KR" sz="1000" i="1" dirty="0" err="1">
                <a:solidFill>
                  <a:schemeClr val="bg1">
                    <a:lumMod val="65000"/>
                  </a:schemeClr>
                </a:solidFill>
              </a:rPr>
              <a:t>NeurIPS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1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C6DAD8-9C93-96C2-343C-B091FFBB8AAB}"/>
              </a:ext>
            </a:extLst>
          </p:cNvPr>
          <p:cNvSpPr txBox="1"/>
          <p:nvPr/>
        </p:nvSpPr>
        <p:spPr>
          <a:xfrm>
            <a:off x="347880" y="1125427"/>
            <a:ext cx="11424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endParaRPr lang="en-US" altLang="ko-KR" b="1" dirty="0">
              <a:latin typeface="Arial Nova" panose="020B05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294CE0-091D-0033-D664-338B70AC6830}"/>
              </a:ext>
            </a:extLst>
          </p:cNvPr>
          <p:cNvSpPr txBox="1"/>
          <p:nvPr/>
        </p:nvSpPr>
        <p:spPr>
          <a:xfrm>
            <a:off x="383640" y="1125427"/>
            <a:ext cx="1142472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Arial Nova" panose="020B0504020202020204" pitchFamily="34" charset="0"/>
              </a:rPr>
              <a:t>What they show: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b="1" dirty="0">
                <a:latin typeface="Arial Nova" panose="020B0504020202020204" pitchFamily="34" charset="0"/>
              </a:rPr>
              <a:t>Does the </a:t>
            </a:r>
            <a:r>
              <a:rPr lang="en-US" altLang="ko-KR" b="1" dirty="0" err="1">
                <a:latin typeface="Arial Nova" panose="020B0504020202020204" pitchFamily="34" charset="0"/>
              </a:rPr>
              <a:t>regularizer</a:t>
            </a:r>
            <a:r>
              <a:rPr lang="en-US" altLang="ko-KR" b="1" dirty="0">
                <a:latin typeface="Arial Nova" panose="020B0504020202020204" pitchFamily="34" charset="0"/>
              </a:rPr>
              <a:t> in fact make the model linear?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b="1" dirty="0">
                <a:latin typeface="Arial Nova" panose="020B0504020202020204" pitchFamily="34" charset="0"/>
              </a:rPr>
              <a:t>Does the condition number on matrix K really bound the empirical risk?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b="1" dirty="0">
              <a:latin typeface="Arial Nova" panose="020B0504020202020204" pitchFamily="34" charset="0"/>
            </a:endParaRPr>
          </a:p>
          <a:p>
            <a:endParaRPr lang="en-US" altLang="ko-KR" b="1" dirty="0">
              <a:latin typeface="Arial Nova" panose="020B0504020202020204" pitchFamily="34" charset="0"/>
            </a:endParaRPr>
          </a:p>
          <a:p>
            <a:endParaRPr lang="en-US" altLang="ko-KR" b="1" dirty="0">
              <a:latin typeface="Arial Nova" panose="020B0504020202020204" pitchFamily="34" charset="0"/>
            </a:endParaRPr>
          </a:p>
          <a:p>
            <a:r>
              <a:rPr lang="en-US" altLang="ko-KR" b="1" dirty="0">
                <a:latin typeface="Arial Nova" panose="020B0504020202020204" pitchFamily="34" charset="0"/>
              </a:rPr>
              <a:t>Experiment setup: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b="1" dirty="0" err="1">
                <a:latin typeface="Arial Nova" panose="020B0504020202020204" pitchFamily="34" charset="0"/>
              </a:rPr>
              <a:t>RoBERTa</a:t>
            </a:r>
            <a:r>
              <a:rPr lang="en-US" altLang="ko-KR" b="1" dirty="0">
                <a:latin typeface="Arial Nova" panose="020B0504020202020204" pitchFamily="34" charset="0"/>
              </a:rPr>
              <a:t> base fine-tuning task with </a:t>
            </a:r>
            <a:r>
              <a:rPr lang="en-US" altLang="ko-KR" b="1" dirty="0" err="1">
                <a:latin typeface="Arial Nova" panose="020B0504020202020204" pitchFamily="34" charset="0"/>
              </a:rPr>
              <a:t>LoRA</a:t>
            </a:r>
            <a:endParaRPr lang="en-US" altLang="ko-KR" b="1" dirty="0">
              <a:latin typeface="Arial Nova" panose="020B05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b="1" dirty="0">
                <a:latin typeface="Arial Nova" panose="020B0504020202020204" pitchFamily="34" charset="0"/>
              </a:rPr>
              <a:t>Dataset: Binary classification (SST-2, </a:t>
            </a:r>
            <a:r>
              <a:rPr lang="en-US" altLang="ko-KR" b="1" dirty="0" err="1">
                <a:latin typeface="Arial Nova" panose="020B0504020202020204" pitchFamily="34" charset="0"/>
              </a:rPr>
              <a:t>CoLA</a:t>
            </a:r>
            <a:r>
              <a:rPr lang="en-US" altLang="ko-KR" b="1" dirty="0">
                <a:latin typeface="Arial Nova" panose="020B0504020202020204" pitchFamily="34" charset="0"/>
              </a:rPr>
              <a:t>, IMDb, Yelp)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b="1" dirty="0">
              <a:latin typeface="Arial Nova" panose="020B0504020202020204" pitchFamily="34" charset="0"/>
            </a:endParaRPr>
          </a:p>
          <a:p>
            <a:endParaRPr lang="en-US" altLang="ko-KR" b="1" dirty="0">
              <a:latin typeface="Arial Nova" panose="020B0504020202020204" pitchFamily="34" charset="0"/>
            </a:endParaRPr>
          </a:p>
          <a:p>
            <a:endParaRPr lang="en-US" altLang="ko-KR" b="1" dirty="0">
              <a:latin typeface="Arial Nova" panose="020B0504020202020204" pitchFamily="34" charset="0"/>
            </a:endParaRPr>
          </a:p>
          <a:p>
            <a:endParaRPr lang="en-US" altLang="ko-KR" b="1" dirty="0">
              <a:latin typeface="Arial Nova" panose="020B0504020202020204" pitchFamily="34" charset="0"/>
            </a:endParaRPr>
          </a:p>
          <a:p>
            <a:r>
              <a:rPr lang="en-US" altLang="ko-KR" b="1" dirty="0">
                <a:latin typeface="Arial Nova" panose="020B0504020202020204" pitchFamily="34" charset="0"/>
              </a:rPr>
              <a:t>Some notes: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b="1" dirty="0">
                <a:latin typeface="Arial Nova" panose="020B0504020202020204" pitchFamily="34" charset="0"/>
              </a:rPr>
              <a:t>They transfer their findings into </a:t>
            </a:r>
            <a:r>
              <a:rPr lang="en-US" altLang="ko-KR" b="1" dirty="0">
                <a:solidFill>
                  <a:srgbClr val="FF0000"/>
                </a:solidFill>
                <a:latin typeface="Arial Nova" panose="020B0504020202020204" pitchFamily="34" charset="0"/>
              </a:rPr>
              <a:t>MSE to cross-entropy</a:t>
            </a:r>
            <a:r>
              <a:rPr lang="en-US" altLang="ko-KR" b="1" dirty="0">
                <a:latin typeface="Arial Nova" panose="020B0504020202020204" pitchFamily="34" charset="0"/>
              </a:rPr>
              <a:t>, and </a:t>
            </a:r>
            <a:r>
              <a:rPr lang="en-US" altLang="ko-KR" b="1" dirty="0">
                <a:solidFill>
                  <a:srgbClr val="FF0000"/>
                </a:solidFill>
                <a:latin typeface="Arial Nova" panose="020B0504020202020204" pitchFamily="34" charset="0"/>
              </a:rPr>
              <a:t>GD to </a:t>
            </a:r>
            <a:r>
              <a:rPr lang="en-US" altLang="ko-KR" b="1" dirty="0" err="1">
                <a:solidFill>
                  <a:srgbClr val="FF0000"/>
                </a:solidFill>
                <a:latin typeface="Arial Nova" panose="020B0504020202020204" pitchFamily="34" charset="0"/>
              </a:rPr>
              <a:t>AdamW</a:t>
            </a:r>
            <a:r>
              <a:rPr lang="en-US" altLang="ko-KR" b="1" dirty="0">
                <a:solidFill>
                  <a:srgbClr val="FF0000"/>
                </a:solidFill>
                <a:latin typeface="Arial Nova" panose="020B0504020202020204" pitchFamily="34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b="1" dirty="0">
                <a:latin typeface="Arial Nova" panose="020B0504020202020204" pitchFamily="34" charset="0"/>
              </a:rPr>
              <a:t>To fair comparison with other tasks, they converted Yelp dataset into binary classification</a:t>
            </a:r>
          </a:p>
          <a:p>
            <a:endParaRPr lang="en-US" altLang="ko-KR" b="1" dirty="0">
              <a:latin typeface="Arial Nova" panose="020B0504020202020204" pitchFamily="34" charset="0"/>
            </a:endParaRPr>
          </a:p>
          <a:p>
            <a:r>
              <a:rPr lang="en-US" altLang="ko-KR" b="1" dirty="0">
                <a:latin typeface="Arial Nova" panose="020B0504020202020204" pitchFamily="34" charset="0"/>
              </a:rPr>
              <a:t> </a:t>
            </a:r>
          </a:p>
          <a:p>
            <a:endParaRPr lang="en-US" altLang="ko-KR" dirty="0">
              <a:latin typeface="Arial Nova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1200358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36DDA-E05E-421D-7CB1-FD0BC97EC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B95F83-6BB3-AB2A-3ABB-810120C80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00" y="144463"/>
            <a:ext cx="11424720" cy="752792"/>
          </a:xfrm>
        </p:spPr>
        <p:txBody>
          <a:bodyPr/>
          <a:lstStyle/>
          <a:p>
            <a:r>
              <a:rPr lang="en-US" altLang="ko-KR" dirty="0"/>
              <a:t>Does the </a:t>
            </a:r>
            <a:r>
              <a:rPr lang="en-US" altLang="ko-KR" dirty="0" err="1"/>
              <a:t>regularizer</a:t>
            </a:r>
            <a:r>
              <a:rPr lang="en-US" altLang="ko-KR" dirty="0"/>
              <a:t> in fact make the model linear? 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4902D8-3AE3-23D9-3F47-AF09A7332EEC}"/>
              </a:ext>
            </a:extLst>
          </p:cNvPr>
          <p:cNvSpPr txBox="1"/>
          <p:nvPr/>
        </p:nvSpPr>
        <p:spPr>
          <a:xfrm>
            <a:off x="0" y="6590426"/>
            <a:ext cx="114247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Afzal, Zahra Rahimi, et al. "Linearization Explains Fine-Tuning in Large Language Models." </a:t>
            </a:r>
            <a:r>
              <a:rPr lang="en-US" altLang="ko-KR" sz="1000" i="1" dirty="0">
                <a:solidFill>
                  <a:schemeClr val="bg1">
                    <a:lumMod val="65000"/>
                  </a:schemeClr>
                </a:solidFill>
              </a:rPr>
              <a:t>The 39th Annual Conference on </a:t>
            </a:r>
            <a:r>
              <a:rPr lang="en-US" altLang="ko-KR" sz="1000" i="1" dirty="0" err="1">
                <a:solidFill>
                  <a:schemeClr val="bg1">
                    <a:lumMod val="65000"/>
                  </a:schemeClr>
                </a:solidFill>
              </a:rPr>
              <a:t>NeurIPS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1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B7AB50-13F0-9D46-67E7-F10D06CF935C}"/>
              </a:ext>
            </a:extLst>
          </p:cNvPr>
          <p:cNvSpPr txBox="1"/>
          <p:nvPr/>
        </p:nvSpPr>
        <p:spPr>
          <a:xfrm>
            <a:off x="347880" y="1125427"/>
            <a:ext cx="11424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endParaRPr lang="en-US" altLang="ko-KR" b="1" dirty="0">
              <a:latin typeface="Arial Nova" panose="020B05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8CFCFC-867B-82A7-CE6B-AB13AD3507A3}"/>
              </a:ext>
            </a:extLst>
          </p:cNvPr>
          <p:cNvSpPr txBox="1"/>
          <p:nvPr/>
        </p:nvSpPr>
        <p:spPr>
          <a:xfrm>
            <a:off x="215900" y="4703379"/>
            <a:ext cx="11424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latin typeface="Arial Nova" panose="020B0504020202020204" pitchFamily="34" charset="0"/>
              </a:rPr>
              <a:t>As the regularization strength increases, the model behaves more like a linear model.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2A2EA8A-4256-62B6-6331-6FF449657B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400" y="1310093"/>
            <a:ext cx="11088066" cy="2946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227189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9A821-246A-321B-5F2B-4311DE032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10BC31-4F02-69D3-95ED-F5E4D4042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00" y="144463"/>
            <a:ext cx="11424720" cy="752792"/>
          </a:xfrm>
        </p:spPr>
        <p:txBody>
          <a:bodyPr/>
          <a:lstStyle/>
          <a:p>
            <a:r>
              <a:rPr lang="en-US" altLang="ko-KR" sz="2400" dirty="0"/>
              <a:t>Does the condition number on matrix K really bound the empirical risk?</a:t>
            </a:r>
            <a:endParaRPr lang="ko-KR" alt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AD0894-E6D4-5021-481A-54E278EC39F2}"/>
              </a:ext>
            </a:extLst>
          </p:cNvPr>
          <p:cNvSpPr txBox="1"/>
          <p:nvPr/>
        </p:nvSpPr>
        <p:spPr>
          <a:xfrm>
            <a:off x="0" y="6590426"/>
            <a:ext cx="114247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Afzal, Zahra Rahimi, et al. "Linearization Explains Fine-Tuning in Large Language Models." </a:t>
            </a:r>
            <a:r>
              <a:rPr lang="en-US" altLang="ko-KR" sz="1000" i="1" dirty="0">
                <a:solidFill>
                  <a:schemeClr val="bg1">
                    <a:lumMod val="65000"/>
                  </a:schemeClr>
                </a:solidFill>
              </a:rPr>
              <a:t>The 39th Annual Conference on </a:t>
            </a:r>
            <a:r>
              <a:rPr lang="en-US" altLang="ko-KR" sz="1000" i="1" dirty="0" err="1">
                <a:solidFill>
                  <a:schemeClr val="bg1">
                    <a:lumMod val="65000"/>
                  </a:schemeClr>
                </a:solidFill>
              </a:rPr>
              <a:t>NeurIPS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1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303991-6CCA-90DA-6694-B6A2205026C7}"/>
              </a:ext>
            </a:extLst>
          </p:cNvPr>
          <p:cNvSpPr txBox="1"/>
          <p:nvPr/>
        </p:nvSpPr>
        <p:spPr>
          <a:xfrm>
            <a:off x="347880" y="1125427"/>
            <a:ext cx="11424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endParaRPr lang="en-US" altLang="ko-KR" b="1" dirty="0">
              <a:latin typeface="Arial Nova" panose="020B0504020202020204" pitchFamily="34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739FD6B-08C5-4F74-9E5B-4D08B6EEA4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685" y="1520672"/>
            <a:ext cx="10725150" cy="31337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78FF7DD-372B-4323-97EE-281326FA6575}"/>
              </a:ext>
            </a:extLst>
          </p:cNvPr>
          <p:cNvSpPr txBox="1"/>
          <p:nvPr/>
        </p:nvSpPr>
        <p:spPr>
          <a:xfrm>
            <a:off x="347880" y="5251901"/>
            <a:ext cx="11424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latin typeface="Arial Nova" panose="020B0504020202020204" pitchFamily="34" charset="0"/>
              </a:rPr>
              <a:t>Higher condition number </a:t>
            </a:r>
            <a:r>
              <a:rPr lang="en-US" altLang="ko-KR" sz="2400" b="1" dirty="0">
                <a:latin typeface="Arial Nova" panose="020B0504020202020204" pitchFamily="34" charset="0"/>
                <a:cs typeface="Arial" panose="020B0604020202020204" pitchFamily="34" charset="0"/>
              </a:rPr>
              <a:t>→ Higher train loss</a:t>
            </a:r>
            <a:endParaRPr lang="en-US" altLang="ko-KR" sz="2400" b="1" dirty="0">
              <a:latin typeface="Arial Nova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0929751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F3EAE-7FB5-A08E-0A7B-F498E3764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86D5DA9-6D5B-69A5-8C81-71D993DCD3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3878" y="2299640"/>
            <a:ext cx="11841922" cy="230194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sz="3600" dirty="0">
                <a:solidFill>
                  <a:schemeClr val="tx1"/>
                </a:solidFill>
                <a:latin typeface="Arial Nova"/>
                <a:cs typeface="Arial"/>
              </a:rPr>
              <a:t>Limitation</a:t>
            </a:r>
            <a:endParaRPr lang="ko-KR" altLang="en-US" b="0" dirty="0">
              <a:solidFill>
                <a:schemeClr val="tx1"/>
              </a:solidFill>
              <a:latin typeface="Arial Nova"/>
              <a:cs typeface="Arial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2D8247C-556A-85EA-4857-BEDBF4CD670E}"/>
              </a:ext>
            </a:extLst>
          </p:cNvPr>
          <p:cNvSpPr/>
          <p:nvPr/>
        </p:nvSpPr>
        <p:spPr>
          <a:xfrm>
            <a:off x="4" y="0"/>
            <a:ext cx="12191996" cy="950400"/>
          </a:xfrm>
          <a:prstGeom prst="rect">
            <a:avLst/>
          </a:prstGeom>
          <a:solidFill>
            <a:srgbClr val="2530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40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EECE695D : Deep Learning Theory</a:t>
            </a:r>
            <a:endParaRPr kumimoji="1" lang="ko-Kore-KR" altLang="en-US" sz="4000" b="1" dirty="0">
              <a:solidFill>
                <a:schemeClr val="bg1"/>
              </a:solidFill>
              <a:latin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3711948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46AB2-805E-FB0C-403D-F04E9D12D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29DC52-F47E-902B-C2EE-CA066D427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00" y="144463"/>
            <a:ext cx="11424720" cy="752792"/>
          </a:xfrm>
        </p:spPr>
        <p:txBody>
          <a:bodyPr/>
          <a:lstStyle/>
          <a:p>
            <a:r>
              <a:rPr lang="en-US" altLang="ko-KR" dirty="0"/>
              <a:t>Limitation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EF4F3E-C602-B1EA-37E2-C9BC4F053ED1}"/>
              </a:ext>
            </a:extLst>
          </p:cNvPr>
          <p:cNvSpPr txBox="1"/>
          <p:nvPr/>
        </p:nvSpPr>
        <p:spPr>
          <a:xfrm>
            <a:off x="0" y="6590426"/>
            <a:ext cx="114247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Afzal, Zahra Rahimi, et al. "Linearization Explains Fine-Tuning in Large Language Models." </a:t>
            </a:r>
            <a:r>
              <a:rPr lang="en-US" altLang="ko-KR" sz="1000" i="1" dirty="0">
                <a:solidFill>
                  <a:schemeClr val="bg1">
                    <a:lumMod val="65000"/>
                  </a:schemeClr>
                </a:solidFill>
              </a:rPr>
              <a:t>The 39th Annual Conference on </a:t>
            </a:r>
            <a:r>
              <a:rPr lang="en-US" altLang="ko-KR" sz="1000" i="1" dirty="0" err="1">
                <a:solidFill>
                  <a:schemeClr val="bg1">
                    <a:lumMod val="65000"/>
                  </a:schemeClr>
                </a:solidFill>
              </a:rPr>
              <a:t>NeurIPS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1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A1BDDE-08C3-8ECE-1775-8EA2C2A4F044}"/>
              </a:ext>
            </a:extLst>
          </p:cNvPr>
          <p:cNvSpPr txBox="1"/>
          <p:nvPr/>
        </p:nvSpPr>
        <p:spPr>
          <a:xfrm>
            <a:off x="347880" y="1125427"/>
            <a:ext cx="11424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endParaRPr lang="en-US" altLang="ko-KR" b="1" dirty="0">
              <a:latin typeface="Arial Nova" panose="020B05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D1A28A-65AB-AE2E-1FD5-3DF225F44C6E}"/>
              </a:ext>
            </a:extLst>
          </p:cNvPr>
          <p:cNvSpPr txBox="1"/>
          <p:nvPr/>
        </p:nvSpPr>
        <p:spPr>
          <a:xfrm>
            <a:off x="419400" y="1125427"/>
            <a:ext cx="1142472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altLang="ko-KR" sz="2400" b="1" dirty="0">
                <a:latin typeface="Arial Nova" panose="020B0504020202020204" pitchFamily="34" charset="0"/>
              </a:rPr>
              <a:t>Discrepancy between theoretical findings and experimental setup</a:t>
            </a:r>
          </a:p>
          <a:p>
            <a:pPr marL="457200" indent="-457200">
              <a:buAutoNum type="arabicPeriod"/>
            </a:pPr>
            <a:endParaRPr lang="en-US" altLang="ko-KR" sz="2400" b="1" dirty="0">
              <a:latin typeface="Arial Nova" panose="020B0504020202020204" pitchFamily="34" charset="0"/>
            </a:endParaRPr>
          </a:p>
          <a:p>
            <a:pPr marL="457200" indent="-457200">
              <a:buFontTx/>
              <a:buAutoNum type="arabicPeriod"/>
            </a:pPr>
            <a:r>
              <a:rPr lang="en-US" altLang="ko-KR" sz="2400" b="1" dirty="0">
                <a:latin typeface="Arial Nova" panose="020B0504020202020204" pitchFamily="34" charset="0"/>
              </a:rPr>
              <a:t>Weak validation of the main assumption: fine-tuned parameters remain close to the initialization.</a:t>
            </a:r>
          </a:p>
          <a:p>
            <a:pPr marL="457200" indent="-457200">
              <a:buFontTx/>
              <a:buAutoNum type="arabicPeriod"/>
            </a:pPr>
            <a:endParaRPr lang="en-US" altLang="ko-KR" sz="2400" b="1" dirty="0">
              <a:latin typeface="Arial Nova" panose="020B0504020202020204" pitchFamily="34" charset="0"/>
            </a:endParaRPr>
          </a:p>
          <a:p>
            <a:pPr marL="457200" indent="-457200">
              <a:buAutoNum type="arabicPeriod"/>
            </a:pPr>
            <a:r>
              <a:rPr lang="en-US" altLang="ko-KR" sz="2400" b="1" dirty="0">
                <a:latin typeface="Arial Nova" panose="020B0504020202020204" pitchFamily="34" charset="0"/>
              </a:rPr>
              <a:t>Unclear and weak support for the layer selection algorithm they propose.</a:t>
            </a:r>
          </a:p>
          <a:p>
            <a:pPr marL="457200" indent="-457200">
              <a:buAutoNum type="arabicPeriod"/>
            </a:pPr>
            <a:endParaRPr lang="en-US" altLang="ko-KR" sz="2400" b="1" dirty="0">
              <a:latin typeface="Arial Nova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6680627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834D67F1-C701-4FC7-8288-6C6D9FE53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3878" y="2299640"/>
            <a:ext cx="11841922" cy="230194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sz="3600" dirty="0">
                <a:solidFill>
                  <a:schemeClr val="tx1"/>
                </a:solidFill>
                <a:latin typeface="Arial Nova"/>
                <a:cs typeface="Arial"/>
              </a:rPr>
              <a:t>End of Document</a:t>
            </a:r>
            <a:endParaRPr lang="ko-KR" altLang="en-US" b="0" dirty="0">
              <a:solidFill>
                <a:schemeClr val="tx1"/>
              </a:solidFill>
              <a:latin typeface="Arial Nova"/>
              <a:cs typeface="Arial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C1AD05A-FA70-3BCE-FDE6-EF232FA22D8E}"/>
              </a:ext>
            </a:extLst>
          </p:cNvPr>
          <p:cNvSpPr/>
          <p:nvPr/>
        </p:nvSpPr>
        <p:spPr>
          <a:xfrm>
            <a:off x="4" y="0"/>
            <a:ext cx="12191996" cy="950400"/>
          </a:xfrm>
          <a:prstGeom prst="rect">
            <a:avLst/>
          </a:prstGeom>
          <a:solidFill>
            <a:srgbClr val="2530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40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EECE695D : Deep Learning Theory</a:t>
            </a:r>
            <a:endParaRPr kumimoji="1" lang="ko-Kore-KR" altLang="en-US" sz="4000" b="1" dirty="0">
              <a:solidFill>
                <a:schemeClr val="bg1"/>
              </a:solidFill>
              <a:latin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8943580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7C4B4-2FC6-5103-83C2-8C43497F5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26B8CBA1-0E9E-315D-2AEB-1A52F01C50D5}"/>
              </a:ext>
            </a:extLst>
          </p:cNvPr>
          <p:cNvSpPr/>
          <p:nvPr/>
        </p:nvSpPr>
        <p:spPr bwMode="auto">
          <a:xfrm>
            <a:off x="347880" y="1096851"/>
            <a:ext cx="11424720" cy="1560623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7DEB894-E21A-854B-3F8C-E0EFB9ED1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00" y="144463"/>
            <a:ext cx="11424720" cy="752792"/>
          </a:xfrm>
        </p:spPr>
        <p:txBody>
          <a:bodyPr/>
          <a:lstStyle/>
          <a:p>
            <a:r>
              <a:rPr lang="en-US" altLang="ko-KR" dirty="0"/>
              <a:t>Lemma 3. Gradient Flow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90AB58-DF03-D704-51A3-E1A7F8849FD8}"/>
              </a:ext>
            </a:extLst>
          </p:cNvPr>
          <p:cNvSpPr txBox="1"/>
          <p:nvPr/>
        </p:nvSpPr>
        <p:spPr>
          <a:xfrm>
            <a:off x="0" y="6590426"/>
            <a:ext cx="114247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Afzal, Zahra Rahimi, et al. "Linearization Explains Fine-Tuning in Large Language Models." </a:t>
            </a:r>
            <a:r>
              <a:rPr lang="en-US" altLang="ko-KR" sz="1000" i="1" dirty="0">
                <a:solidFill>
                  <a:schemeClr val="bg1">
                    <a:lumMod val="65000"/>
                  </a:schemeClr>
                </a:solidFill>
              </a:rPr>
              <a:t>The 39th Annual Conference on </a:t>
            </a:r>
            <a:r>
              <a:rPr lang="en-US" altLang="ko-KR" sz="1000" i="1" dirty="0" err="1">
                <a:solidFill>
                  <a:schemeClr val="bg1">
                    <a:lumMod val="65000"/>
                  </a:schemeClr>
                </a:solidFill>
              </a:rPr>
              <a:t>NeurIPS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1000" dirty="0">
              <a:solidFill>
                <a:schemeClr val="bg1">
                  <a:lumMod val="6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E8BDC1A-0B62-CC01-E6CB-C7FF1E7FD95B}"/>
                  </a:ext>
                </a:extLst>
              </p:cNvPr>
              <p:cNvSpPr txBox="1"/>
              <p:nvPr/>
            </p:nvSpPr>
            <p:spPr>
              <a:xfrm>
                <a:off x="347880" y="1125427"/>
                <a:ext cx="11424720" cy="4922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Tx/>
                  <a:buChar char="-"/>
                </a:pPr>
                <a:r>
                  <a:rPr lang="en-US" altLang="ko-KR" b="1" dirty="0">
                    <a:latin typeface="Arial Nova" panose="020B0504020202020204" pitchFamily="34" charset="0"/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be the gradient flow limit of the regularized fine-tuning gradient descent described above. If we assume that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switches at most countably often and denote instantaneous value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𝝀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,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satisfies the following differential equation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𝒅</m:t>
                          </m:r>
                        </m:num>
                        <m:den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𝒅𝒕</m:t>
                          </m:r>
                        </m:den>
                      </m:f>
                      <m:sSub>
                        <m:sSubPr>
                          <m:ctrlPr>
                            <a:rPr lang="en-US" altLang="ko-KR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altLang="ko-KR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US" altLang="ko-KR" b="1" i="1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altLang="ko-KR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>
                              <a:latin typeface="Cambria Math" panose="02040503050406030204" pitchFamily="18" charset="0"/>
                            </a:rPr>
                            <m:t>𝛁</m:t>
                          </m:r>
                        </m:e>
                        <m:sub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acc>
                        <m:accPr>
                          <m:chr m:val="̃"/>
                          <m:ctrlPr>
                            <a:rPr lang="en-US" altLang="ko-KR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accPr>
                        <m:e>
                          <m:r>
                            <a:rPr lang="en-US" altLang="ko-KR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𝑹</m:t>
                          </m:r>
                        </m:e>
                      </m:acc>
                      <m:sSup>
                        <m:sSupPr>
                          <m:ctrlPr>
                            <a:rPr lang="en-US" altLang="ko-KR" b="1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b="1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𝜽</m:t>
                                  </m:r>
                                </m:e>
                                <m:sub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𝒕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ko-KR" b="1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⏉</m:t>
                          </m:r>
                        </m:sup>
                      </m:sSup>
                      <m:r>
                        <a:rPr lang="en-US" altLang="ko-KR" b="1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−</m:t>
                      </m:r>
                      <m:sSub>
                        <m:sSubPr>
                          <m:ctrlPr>
                            <a:rPr lang="en-US" altLang="ko-KR" b="1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ko-KR" b="1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𝝀</m:t>
                          </m:r>
                        </m:e>
                        <m:sub>
                          <m:r>
                            <a:rPr lang="en-US" altLang="ko-KR" b="1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𝒕</m:t>
                          </m:r>
                        </m:sub>
                      </m:sSub>
                      <m:r>
                        <a:rPr lang="en-US" altLang="ko-KR" b="1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(</m:t>
                      </m:r>
                      <m:sSub>
                        <m:sSubPr>
                          <m:ctrlPr>
                            <a:rPr lang="en-US" altLang="ko-KR" b="1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ko-KR" b="1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𝜽</m:t>
                          </m:r>
                        </m:e>
                        <m:sub>
                          <m:r>
                            <a:rPr lang="en-US" altLang="ko-KR" b="1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𝒕</m:t>
                          </m:r>
                        </m:sub>
                      </m:sSub>
                      <m:r>
                        <a:rPr lang="en-US" altLang="ko-KR" b="1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−</m:t>
                      </m:r>
                      <m:sSub>
                        <m:sSubPr>
                          <m:ctrlPr>
                            <a:rPr lang="en-US" altLang="ko-KR" b="1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ko-KR" b="1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𝜽</m:t>
                          </m:r>
                        </m:e>
                        <m:sub>
                          <m:r>
                            <a:rPr lang="en-US" altLang="ko-KR" b="1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𝟎</m:t>
                          </m:r>
                        </m:sub>
                      </m:sSub>
                      <m:r>
                        <a:rPr lang="en-US" altLang="ko-KR" b="1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)</m:t>
                      </m:r>
                    </m:oMath>
                  </m:oMathPara>
                </a14:m>
                <a:endParaRPr lang="en-US" altLang="ko-KR" b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endParaRPr lang="en-US" altLang="ko-KR" b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r>
                  <a:rPr lang="en-US" altLang="ko-KR" b="1" dirty="0">
                    <a:latin typeface="Arial Nova" panose="020B0504020202020204" pitchFamily="34" charset="0"/>
                    <a:sym typeface="Wingdings" panose="05000000000000000000" pitchFamily="2" charset="2"/>
                  </a:rPr>
                  <a:t>Gradient descent on regularization term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ko-KR" altLang="en-US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𝜽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𝒕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accPr>
                          <m:e>
                            <m:r>
                              <a:rPr lang="ko-KR" altLang="en-US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𝜽</m:t>
                            </m:r>
                          </m:e>
                        </m:acc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𝒕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−</m:t>
                    </m:r>
                    <m:r>
                      <a:rPr lang="en-US" altLang="ko-KR" b="1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𝝀𝜼</m:t>
                    </m:r>
                    <m:d>
                      <m:dPr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accPr>
                              <m:e>
                                <m:r>
                                  <a:rPr lang="ko-KR" altLang="en-US" b="1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𝜽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𝒕</m:t>
                            </m:r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𝟎</m:t>
                            </m:r>
                          </m:sub>
                        </m:sSub>
                      </m:e>
                    </m:d>
                    <m:r>
                      <a:rPr lang="en-US" altLang="ko-KR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→</m:t>
                    </m:r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ko-KR" altLang="en-US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𝜽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𝒕</m:t>
                        </m:r>
                      </m:sub>
                    </m:sSub>
                    <m:r>
                      <a:rPr lang="en-US" altLang="ko-KR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−</m:t>
                    </m:r>
                    <m:sSub>
                      <m:sSubPr>
                        <m:ctrlPr>
                          <a:rPr lang="en-US" altLang="ko-KR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𝜽</m:t>
                        </m:r>
                      </m:e>
                      <m:sub>
                        <m:r>
                          <a:rPr lang="en-US" altLang="ko-KR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𝟎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accPr>
                          <m:e>
                            <m:r>
                              <a:rPr lang="ko-KR" altLang="en-US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𝜽</m:t>
                            </m:r>
                          </m:e>
                        </m:acc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𝒕</m:t>
                        </m:r>
                      </m:sub>
                    </m:sSub>
                    <m:r>
                      <a:rPr lang="en-US" altLang="ko-KR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−</m:t>
                    </m:r>
                    <m:sSub>
                      <m:sSubPr>
                        <m:ctrlPr>
                          <a:rPr lang="en-US" altLang="ko-KR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𝜽</m:t>
                        </m:r>
                      </m:e>
                      <m:sub>
                        <m:r>
                          <a:rPr lang="en-US" altLang="ko-KR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𝟎</m:t>
                        </m:r>
                      </m:sub>
                    </m:sSub>
                    <m:r>
                      <a:rPr lang="en-US" altLang="ko-KR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a:rPr lang="en-US" altLang="ko-KR" b="1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−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𝝀𝜼</m:t>
                    </m:r>
                    <m:d>
                      <m:dPr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accPr>
                              <m:e>
                                <m:r>
                                  <a:rPr lang="ko-KR" altLang="en-US" b="1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𝜽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𝒕</m:t>
                            </m:r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𝟎</m:t>
                            </m:r>
                          </m:sub>
                        </m:sSub>
                      </m:e>
                    </m:d>
                  </m:oMath>
                </a14:m>
                <a:endParaRPr lang="en-US" altLang="ko-KR" b="1" dirty="0">
                  <a:latin typeface="Arial Nova" panose="020B0504020202020204" pitchFamily="34" charset="0"/>
                  <a:sym typeface="Wingdings" panose="05000000000000000000" pitchFamily="2" charset="2"/>
                </a:endParaRPr>
              </a:p>
              <a:p>
                <a:pPr marL="285750" indent="-285750">
                  <a:buFontTx/>
                  <a:buChar char="-"/>
                </a:pPr>
                <a:r>
                  <a:rPr lang="en-US" altLang="ko-KR" b="1" dirty="0">
                    <a:latin typeface="Arial Nova" panose="020B0504020202020204" pitchFamily="34" charset="0"/>
                    <a:sym typeface="Wingdings" panose="05000000000000000000" pitchFamily="2" charset="2"/>
                  </a:rPr>
                  <a:t>Modified regularization step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ko-KR" altLang="en-US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𝜽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𝒕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{</m:t>
                    </m:r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mPr>
                      <m:mr>
                        <m:e>
                          <m:sSub>
                            <m:sSubPr>
                              <m:ctrlPr>
                                <a:rPr lang="en-US" altLang="ko-KR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en-US" altLang="ko-KR" b="1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accPr>
                                <m:e>
                                  <m:r>
                                    <a:rPr lang="ko-KR" altLang="en-US" b="1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ko-KR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𝒕</m:t>
                              </m:r>
                            </m:sub>
                          </m:sSub>
                          <m:r>
                            <a:rPr lang="en-US" altLang="ko-KR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 −</m:t>
                          </m:r>
                          <m:r>
                            <a:rPr lang="en-US" altLang="ko-KR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𝝀𝜼</m:t>
                          </m:r>
                          <m:d>
                            <m:dPr>
                              <m:ctrlPr>
                                <a:rPr lang="en-US" altLang="ko-KR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b="1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ko-KR" b="1" i="1">
                                          <a:latin typeface="Cambria Math" panose="02040503050406030204" pitchFamily="18" charset="0"/>
                                          <a:sym typeface="Wingdings" panose="05000000000000000000" pitchFamily="2" charset="2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ko-KR" altLang="en-US" b="1" i="1">
                                          <a:latin typeface="Cambria Math" panose="02040503050406030204" pitchFamily="18" charset="0"/>
                                          <a:sym typeface="Wingdings" panose="05000000000000000000" pitchFamily="2" charset="2"/>
                                        </a:rPr>
                                        <m:t>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𝒕</m:t>
                                  </m:r>
                                </m:sub>
                              </m:sSub>
                              <m:r>
                                <a:rPr lang="en-US" altLang="ko-KR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b="1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𝜽</m:t>
                                  </m:r>
                                </m:e>
                                <m:sub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𝟎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ko-KR" b="1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    </m:t>
                          </m:r>
                          <m:r>
                            <a:rPr lang="en-US" altLang="ko-KR" b="1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𝒊𝒇</m:t>
                          </m:r>
                          <m:r>
                            <m:rPr>
                              <m:nor/>
                            </m:rPr>
                            <a:rPr lang="en-US" altLang="ko-KR" b="1" i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  </m:t>
                          </m:r>
                          <m:sSub>
                            <m:sSubPr>
                              <m:ctrlP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>
                                  <a:latin typeface="Cambria Math" panose="02040503050406030204" pitchFamily="18" charset="0"/>
                                </a:rPr>
                                <m:t>𝛁</m:t>
                              </m:r>
                            </m:e>
                            <m:sub>
                              <m: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sub>
                          </m:sSub>
                          <m:acc>
                            <m:accPr>
                              <m:chr m:val="̃"/>
                              <m:ctrlPr>
                                <a:rPr lang="en-US" altLang="ko-KR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accPr>
                            <m:e>
                              <m:r>
                                <a:rPr lang="en-US" altLang="ko-KR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𝑹</m:t>
                              </m:r>
                            </m:e>
                          </m:acc>
                          <m:d>
                            <m:dPr>
                              <m:ctrlPr>
                                <a:rPr lang="en-US" altLang="ko-KR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b="1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𝜽</m:t>
                                  </m:r>
                                </m:e>
                                <m:sub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𝒕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en-US" altLang="ko-KR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b="1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𝜽</m:t>
                                  </m:r>
                                </m:e>
                                <m:sub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𝒕</m:t>
                                  </m:r>
                                </m:sub>
                              </m:sSub>
                              <m:r>
                                <a:rPr lang="en-US" altLang="ko-KR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b="1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𝜽</m:t>
                                  </m:r>
                                </m:e>
                                <m:sub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𝟎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ko-KR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≥</m:t>
                          </m:r>
                          <m:r>
                            <a:rPr lang="en-US" altLang="ko-KR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𝟎</m:t>
                          </m:r>
                        </m:e>
                      </m:mr>
                      <m:mr>
                        <m:e>
                          <m:sSub>
                            <m:sSubPr>
                              <m:ctrlPr>
                                <a:rPr lang="en-US" altLang="ko-KR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en-US" altLang="ko-KR" b="1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accPr>
                                <m:e>
                                  <m:r>
                                    <a:rPr lang="ko-KR" altLang="en-US" b="1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ko-KR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𝒕</m:t>
                              </m:r>
                            </m:sub>
                          </m:sSub>
                          <m:r>
                            <a:rPr lang="en-US" altLang="ko-KR" b="1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                                   </m:t>
                          </m:r>
                          <m:r>
                            <a:rPr lang="en-US" altLang="ko-KR" b="1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𝒊𝒇</m:t>
                          </m:r>
                          <m:sSub>
                            <m:sSubPr>
                              <m:ctrlP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0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altLang="ko-KR" b="1">
                                  <a:latin typeface="Cambria Math" panose="02040503050406030204" pitchFamily="18" charset="0"/>
                                </a:rPr>
                                <m:t>𝛁</m:t>
                              </m:r>
                            </m:e>
                            <m:sub>
                              <m: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sub>
                          </m:sSub>
                          <m:acc>
                            <m:accPr>
                              <m:chr m:val="̃"/>
                              <m:ctrlPr>
                                <a:rPr lang="en-US" altLang="ko-KR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accPr>
                            <m:e>
                              <m:r>
                                <a:rPr lang="en-US" altLang="ko-KR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𝑹</m:t>
                              </m:r>
                            </m:e>
                          </m:acc>
                          <m:d>
                            <m:dPr>
                              <m:ctrlPr>
                                <a:rPr lang="en-US" altLang="ko-KR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b="1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𝜽</m:t>
                                  </m:r>
                                </m:e>
                                <m:sub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𝒕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en-US" altLang="ko-KR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b="1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𝜽</m:t>
                                  </m:r>
                                </m:e>
                                <m:sub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𝒕</m:t>
                                  </m:r>
                                </m:sub>
                              </m:sSub>
                              <m:r>
                                <a:rPr lang="en-US" altLang="ko-KR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b="1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𝜽</m:t>
                                  </m:r>
                                </m:e>
                                <m:sub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𝟎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ko-KR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&lt;</m:t>
                          </m:r>
                          <m:r>
                            <a:rPr lang="en-US" altLang="ko-KR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𝟎</m:t>
                          </m:r>
                        </m:e>
                      </m:mr>
                    </m:m>
                  </m:oMath>
                </a14:m>
                <a:endParaRPr lang="en-US" altLang="ko-KR" b="1" dirty="0">
                  <a:latin typeface="Arial Nova" panose="020B0504020202020204" pitchFamily="34" charset="0"/>
                  <a:sym typeface="Wingdings" panose="05000000000000000000" pitchFamily="2" charset="2"/>
                </a:endParaRPr>
              </a:p>
              <a:p>
                <a:pPr marL="742950" lvl="1" indent="-285750"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ko-KR" altLang="en-US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𝜽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𝒕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𝜽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𝟎</m:t>
                        </m:r>
                      </m:sub>
                    </m:sSub>
                    <m:r>
                      <a:rPr lang="en-US" altLang="ko-KR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  <m:d>
                      <m:dPr>
                        <m:ctrlP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𝟏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𝝀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𝒕</m:t>
                            </m:r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𝜼</m:t>
                        </m:r>
                      </m:e>
                    </m:d>
                    <m:d>
                      <m:dPr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accPr>
                              <m:e>
                                <m:r>
                                  <a:rPr lang="ko-KR" altLang="en-US" b="1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𝜽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𝒕</m:t>
                            </m:r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𝟎</m:t>
                            </m:r>
                          </m:sub>
                        </m:sSub>
                      </m:e>
                    </m:d>
                    <m:r>
                      <a:rPr lang="en-US" altLang="ko-KR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𝒘𝒉𝒆𝒓𝒆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sSub>
                      <m:sSubPr>
                        <m:ctrlPr>
                          <a:rPr lang="en-US" altLang="ko-KR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𝝀</m:t>
                        </m:r>
                      </m:e>
                      <m:sub>
                        <m:r>
                          <a:rPr lang="en-US" altLang="ko-KR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𝒕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={</m:t>
                    </m:r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mPr>
                      <m:mr>
                        <m:e>
                          <m:r>
                            <a:rPr lang="en-US" altLang="ko-KR" b="1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𝝀</m:t>
                          </m:r>
                          <m:r>
                            <a:rPr lang="en-US" altLang="ko-KR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    </m:t>
                          </m:r>
                          <m:r>
                            <a:rPr lang="en-US" altLang="ko-KR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𝒊𝒇</m:t>
                          </m:r>
                          <m:r>
                            <m:rPr>
                              <m:nor/>
                            </m:rPr>
                            <a:rPr lang="en-US" altLang="ko-KR" b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  </m:t>
                          </m:r>
                          <m:sSub>
                            <m:sSubPr>
                              <m:ctrlP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>
                                  <a:latin typeface="Cambria Math" panose="02040503050406030204" pitchFamily="18" charset="0"/>
                                </a:rPr>
                                <m:t>𝛁</m:t>
                              </m:r>
                            </m:e>
                            <m:sub>
                              <m: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sub>
                          </m:sSub>
                          <m:acc>
                            <m:accPr>
                              <m:chr m:val="̃"/>
                              <m:ctrlPr>
                                <a:rPr lang="en-US" altLang="ko-KR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accPr>
                            <m:e>
                              <m:r>
                                <a:rPr lang="en-US" altLang="ko-KR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𝑹</m:t>
                              </m:r>
                            </m:e>
                          </m:acc>
                          <m:d>
                            <m:dPr>
                              <m:ctrlPr>
                                <a:rPr lang="en-US" altLang="ko-KR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b="1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𝜽</m:t>
                                  </m:r>
                                </m:e>
                                <m:sub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𝒕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en-US" altLang="ko-KR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b="1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𝜽</m:t>
                                  </m:r>
                                </m:e>
                                <m:sub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𝒕</m:t>
                                  </m:r>
                                </m:sub>
                              </m:sSub>
                              <m:r>
                                <a:rPr lang="en-US" altLang="ko-KR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b="1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𝜽</m:t>
                                  </m:r>
                                </m:e>
                                <m:sub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𝟎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ko-KR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≥</m:t>
                          </m:r>
                          <m:r>
                            <a:rPr lang="en-US" altLang="ko-KR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𝟎</m:t>
                          </m:r>
                        </m:e>
                      </m:mr>
                      <m:mr>
                        <m:e>
                          <m:r>
                            <a:rPr lang="en-US" altLang="ko-KR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𝟎</m:t>
                          </m:r>
                          <m:r>
                            <a:rPr lang="en-US" altLang="ko-KR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    </m:t>
                          </m:r>
                          <m:r>
                            <a:rPr lang="en-US" altLang="ko-KR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𝒊𝒇</m:t>
                          </m:r>
                          <m:sSub>
                            <m:sSubPr>
                              <m:ctrlP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altLang="ko-KR" b="1">
                                  <a:latin typeface="Cambria Math" panose="02040503050406030204" pitchFamily="18" charset="0"/>
                                </a:rPr>
                                <m:t>𝛁</m:t>
                              </m:r>
                            </m:e>
                            <m:sub>
                              <m: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sub>
                          </m:sSub>
                          <m:acc>
                            <m:accPr>
                              <m:chr m:val="̃"/>
                              <m:ctrlPr>
                                <a:rPr lang="en-US" altLang="ko-KR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accPr>
                            <m:e>
                              <m:r>
                                <a:rPr lang="en-US" altLang="ko-KR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𝑹</m:t>
                              </m:r>
                            </m:e>
                          </m:acc>
                          <m:d>
                            <m:dPr>
                              <m:ctrlPr>
                                <a:rPr lang="en-US" altLang="ko-KR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b="1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𝜽</m:t>
                                  </m:r>
                                </m:e>
                                <m:sub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𝒕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en-US" altLang="ko-KR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b="1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𝜽</m:t>
                                  </m:r>
                                </m:e>
                                <m:sub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𝒕</m:t>
                                  </m:r>
                                </m:sub>
                              </m:sSub>
                              <m:r>
                                <a:rPr lang="en-US" altLang="ko-KR" b="1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b="1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𝜽</m:t>
                                  </m:r>
                                </m:e>
                                <m:sub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𝟎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ko-KR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&lt;</m:t>
                          </m:r>
                          <m:r>
                            <a:rPr lang="en-US" altLang="ko-KR" b="1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𝟎</m:t>
                          </m:r>
                        </m:e>
                      </m:mr>
                    </m:m>
                  </m:oMath>
                </a14:m>
                <a:endParaRPr lang="en-US" altLang="ko-KR" b="1" dirty="0">
                  <a:latin typeface="Arial Nova" panose="020B0504020202020204" pitchFamily="34" charset="0"/>
                  <a:sym typeface="Wingdings" panose="05000000000000000000" pitchFamily="2" charset="2"/>
                </a:endParaRP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ko-KR" altLang="en-US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𝜽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𝒕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+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𝟏</m:t>
                        </m:r>
                      </m:sub>
                    </m:sSub>
                    <m:r>
                      <a:rPr lang="en-US" altLang="ko-KR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ko-KR" altLang="en-US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𝜽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𝒕</m:t>
                        </m:r>
                      </m:sub>
                    </m:sSub>
                    <m:r>
                      <a:rPr lang="en-US" altLang="ko-KR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−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𝜼</m:t>
                    </m:r>
                    <m:r>
                      <a:rPr lang="en-US" altLang="ko-KR" b="1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𝛁</m:t>
                    </m:r>
                    <m:acc>
                      <m:accPr>
                        <m:chr m:val="̃"/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acc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𝑹</m:t>
                        </m:r>
                      </m:e>
                    </m:acc>
                    <m:sSup>
                      <m:sSupPr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𝜽</m:t>
                                </m:r>
                              </m:e>
                              <m:sub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𝒕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⏉</m:t>
                        </m:r>
                      </m:sup>
                    </m:sSup>
                    <m:r>
                      <a:rPr lang="en-US" altLang="ko-KR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−</m:t>
                    </m:r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𝝀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𝒕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+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𝟏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𝜼</m:t>
                    </m:r>
                    <m:d>
                      <m:dPr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accPr>
                              <m:e>
                                <m:r>
                                  <a:rPr lang="ko-KR" altLang="en-US" b="1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𝜽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𝒕</m:t>
                            </m:r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+</m:t>
                            </m:r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𝟏</m:t>
                            </m:r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𝟎</m:t>
                            </m:r>
                          </m:sub>
                        </m:sSub>
                      </m:e>
                    </m:d>
                  </m:oMath>
                </a14:m>
                <a:endParaRPr lang="en-US" altLang="ko-KR" b="1" i="1" dirty="0">
                  <a:latin typeface="Cambria Math" panose="02040503050406030204" pitchFamily="18" charset="0"/>
                  <a:sym typeface="Wingdings" panose="05000000000000000000" pitchFamily="2" charset="2"/>
                </a:endParaRPr>
              </a:p>
              <a:p>
                <a:r>
                  <a:rPr lang="en-US" altLang="ko-KR" b="1" dirty="0">
                    <a:sym typeface="Wingdings" panose="05000000000000000000" pitchFamily="2" charset="2"/>
                  </a:rPr>
                  <a:t>          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ko-KR" altLang="en-US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𝜽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𝒕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−</m:t>
                    </m:r>
                    <m:r>
                      <a:rPr lang="en-US" altLang="ko-KR" b="1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𝜼</m:t>
                    </m:r>
                    <m:r>
                      <a:rPr lang="en-US" altLang="ko-KR" b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𝛁</m:t>
                    </m:r>
                    <m:acc>
                      <m:accPr>
                        <m:chr m:val="̃"/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acc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𝑹</m:t>
                        </m:r>
                      </m:e>
                    </m:acc>
                    <m:sSup>
                      <m:sSupPr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𝜽</m:t>
                                </m:r>
                              </m:e>
                              <m:sub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𝒕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⏉</m:t>
                        </m:r>
                      </m:sup>
                    </m:sSup>
                    <m:r>
                      <a:rPr lang="en-US" altLang="ko-KR" b="1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−</m:t>
                    </m:r>
                    <m:f>
                      <m:fPr>
                        <m:ctrlP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𝝀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𝒕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+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𝟏</m:t>
                            </m:r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𝜼</m:t>
                        </m:r>
                      </m:num>
                      <m:den>
                        <m: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𝟏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𝝀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𝒕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+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𝟏</m:t>
                            </m:r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𝜼</m:t>
                        </m:r>
                      </m:den>
                    </m:f>
                    <m:d>
                      <m:dPr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𝒕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+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𝟏</m:t>
                            </m:r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𝟎</m:t>
                            </m:r>
                          </m:sub>
                        </m:sSub>
                      </m:e>
                    </m:d>
                    <m:r>
                      <a:rPr lang="en-US" altLang="ko-KR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a:rPr lang="en-US" altLang="ko-KR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(∵</m:t>
                    </m:r>
                    <m:sSub>
                      <m:sSubPr>
                        <m:ctrlPr>
                          <a:rPr lang="en-US" altLang="ko-KR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ko-KR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accPr>
                          <m:e>
                            <m:r>
                              <a:rPr lang="ko-KR" altLang="en-US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𝜽</m:t>
                            </m:r>
                          </m:e>
                        </m:acc>
                      </m:e>
                      <m:sub>
                        <m:r>
                          <a:rPr lang="en-US" altLang="ko-KR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𝒕</m:t>
                        </m:r>
                        <m:r>
                          <a:rPr lang="en-US" altLang="ko-KR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+</m:t>
                        </m:r>
                        <m:r>
                          <a:rPr lang="en-US" altLang="ko-KR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𝟏</m:t>
                        </m:r>
                      </m:sub>
                    </m:sSub>
                    <m:r>
                      <a:rPr lang="en-US" altLang="ko-KR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−</m:t>
                    </m:r>
                    <m:sSub>
                      <m:sSubPr>
                        <m:ctrlPr>
                          <a:rPr lang="en-US" altLang="ko-KR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𝜽</m:t>
                        </m:r>
                      </m:e>
                      <m:sub>
                        <m:r>
                          <a:rPr lang="en-US" altLang="ko-KR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𝟎</m:t>
                        </m:r>
                      </m:sub>
                    </m:sSub>
                    <m:r>
                      <a:rPr lang="en-US" altLang="ko-KR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f>
                      <m:fPr>
                        <m:ctrlPr>
                          <a:rPr lang="en-US" altLang="ko-KR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𝝀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𝒕</m:t>
                            </m:r>
                            <m:r>
                              <a:rPr lang="en-US" altLang="ko-KR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+</m:t>
                            </m:r>
                            <m:r>
                              <a:rPr lang="en-US" altLang="ko-KR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𝟏</m:t>
                            </m:r>
                          </m:sub>
                        </m:sSub>
                        <m:r>
                          <a:rPr lang="en-US" altLang="ko-KR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𝜼</m:t>
                        </m:r>
                      </m:num>
                      <m:den>
                        <m:r>
                          <a:rPr lang="en-US" altLang="ko-KR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𝟏</m:t>
                        </m:r>
                        <m:r>
                          <a:rPr lang="en-US" altLang="ko-KR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𝝀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𝒕</m:t>
                            </m:r>
                            <m:r>
                              <a:rPr lang="en-US" altLang="ko-KR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+</m:t>
                            </m:r>
                            <m:r>
                              <a:rPr lang="en-US" altLang="ko-KR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𝟏</m:t>
                            </m:r>
                          </m:sub>
                        </m:sSub>
                        <m:r>
                          <a:rPr lang="en-US" altLang="ko-KR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𝜼</m:t>
                        </m:r>
                      </m:den>
                    </m:f>
                    <m:d>
                      <m:dPr>
                        <m:ctrlPr>
                          <a:rPr lang="en-US" altLang="ko-KR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𝒕</m:t>
                            </m:r>
                            <m:r>
                              <a:rPr lang="en-US" altLang="ko-KR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+</m:t>
                            </m:r>
                            <m:r>
                              <a:rPr lang="en-US" altLang="ko-KR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𝟏</m:t>
                            </m:r>
                          </m:sub>
                        </m:sSub>
                        <m:r>
                          <a:rPr lang="en-US" altLang="ko-KR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𝟎</m:t>
                            </m:r>
                          </m:sub>
                        </m:sSub>
                      </m:e>
                    </m:d>
                    <m:r>
                      <a:rPr lang="en-US" altLang="ko-KR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endParaRPr lang="en-US" altLang="ko-KR" b="1" dirty="0">
                  <a:solidFill>
                    <a:srgbClr val="0070C0"/>
                  </a:solidFill>
                  <a:latin typeface="Arial Nova" panose="020B0504020202020204" pitchFamily="34" charset="0"/>
                  <a:sym typeface="Wingdings" panose="05000000000000000000" pitchFamily="2" charset="2"/>
                </a:endParaRP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ko-KR" altLang="en-US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𝜽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𝒕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+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𝟏</m:t>
                        </m:r>
                      </m:sub>
                    </m:sSub>
                    <m:r>
                      <a:rPr lang="en-US" altLang="ko-KR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d>
                      <m:dPr>
                        <m:ctrlP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𝟏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𝝀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𝒕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+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𝟏</m:t>
                            </m:r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𝜼</m:t>
                        </m:r>
                      </m:e>
                    </m:d>
                    <m:d>
                      <m:dPr>
                        <m:ctrlP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ko-KR" altLang="en-US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𝒕</m:t>
                            </m:r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𝜼</m:t>
                        </m:r>
                        <m:r>
                          <a:rPr lang="en-US" altLang="ko-KR" b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𝛁</m:t>
                        </m:r>
                        <m:acc>
                          <m:accPr>
                            <m:chr m:val="̃"/>
                            <m:ctrlP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acc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𝑹</m:t>
                            </m:r>
                          </m:e>
                        </m:acc>
                        <m:sSup>
                          <m:sSupPr>
                            <m:ctrlP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b="1" i="1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1" i="1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en-US" altLang="ko-KR" b="1" i="1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𝒕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⏉</m:t>
                            </m:r>
                          </m:sup>
                        </m:sSup>
                        <m: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+</m:t>
                        </m:r>
                        <m:f>
                          <m:fPr>
                            <m:ctrlP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𝝀</m:t>
                                </m:r>
                              </m:e>
                              <m:sub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𝒕</m:t>
                                </m:r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+</m:t>
                                </m:r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𝜼</m:t>
                            </m:r>
                          </m:num>
                          <m:den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𝟏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𝝀</m:t>
                                </m:r>
                              </m:e>
                              <m:sub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𝒕</m:t>
                                </m:r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+</m:t>
                                </m:r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𝜼</m:t>
                            </m:r>
                          </m:den>
                        </m:f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𝟎</m:t>
                            </m:r>
                          </m:sub>
                        </m:sSub>
                      </m:e>
                    </m:d>
                    <m:r>
                      <a:rPr lang="en-US" altLang="ko-KR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d>
                      <m:dPr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𝟏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𝝀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𝒕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+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𝟏</m:t>
                            </m:r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𝜼</m:t>
                        </m:r>
                      </m:e>
                    </m:d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ko-KR" altLang="en-US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𝜽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𝒕</m:t>
                        </m:r>
                      </m:sub>
                    </m:sSub>
                    <m:r>
                      <a:rPr lang="en-US" altLang="ko-KR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−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𝜼</m:t>
                    </m:r>
                    <m:d>
                      <m:dPr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𝟏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𝝀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𝒕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+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𝟏</m:t>
                            </m:r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𝜼</m:t>
                        </m:r>
                      </m:e>
                    </m:d>
                    <m:r>
                      <a:rPr lang="en-US" altLang="ko-KR" b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𝛁</m:t>
                    </m:r>
                    <m:acc>
                      <m:accPr>
                        <m:chr m:val="̃"/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acc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𝑹</m:t>
                        </m:r>
                      </m:e>
                    </m:acc>
                    <m:sSup>
                      <m:sSupPr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𝜽</m:t>
                                </m:r>
                              </m:e>
                              <m:sub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𝒕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⏉</m:t>
                        </m:r>
                      </m:sup>
                    </m:sSup>
                    <m:r>
                      <a:rPr lang="en-US" altLang="ko-KR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𝝀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𝒕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+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𝟏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𝜼</m:t>
                    </m:r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𝜽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𝟎</m:t>
                        </m:r>
                      </m:sub>
                    </m:sSub>
                  </m:oMath>
                </a14:m>
                <a:endParaRPr lang="en-US" altLang="ko-KR" b="1" dirty="0">
                  <a:latin typeface="Arial Nova" panose="020B0504020202020204" pitchFamily="34" charset="0"/>
                  <a:sym typeface="Wingdings" panose="05000000000000000000" pitchFamily="2" charset="2"/>
                </a:endParaRP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ko-KR" altLang="en-US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𝒕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+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𝟏</m:t>
                            </m:r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𝒕</m:t>
                            </m:r>
                          </m:sub>
                        </m:sSub>
                      </m:num>
                      <m:den>
                        <m:r>
                          <a:rPr lang="en-US" altLang="ko-KR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𝜼</m:t>
                        </m:r>
                      </m:den>
                    </m:f>
                    <m:r>
                      <a:rPr lang="en-US" altLang="ko-KR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ko-KR" b="1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−</m:t>
                    </m:r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𝝀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𝒕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+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ko-KR" altLang="en-US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𝜽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𝒕</m:t>
                        </m:r>
                      </m:sub>
                    </m:sSub>
                    <m:r>
                      <a:rPr lang="en-US" altLang="ko-KR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−</m:t>
                    </m:r>
                    <m:d>
                      <m:dPr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𝟏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𝝀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𝒕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+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𝟏</m:t>
                            </m:r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𝜼</m:t>
                        </m:r>
                      </m:e>
                    </m:d>
                    <m:r>
                      <a:rPr lang="en-US" altLang="ko-KR" b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𝛁</m:t>
                    </m:r>
                    <m:acc>
                      <m:accPr>
                        <m:chr m:val="̃"/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acc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𝑹</m:t>
                        </m:r>
                      </m:e>
                    </m:acc>
                    <m:sSup>
                      <m:sSupPr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𝜽</m:t>
                                </m:r>
                              </m:e>
                              <m:sub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𝒕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⏉</m:t>
                        </m:r>
                      </m:sup>
                    </m:sSup>
                    <m:r>
                      <a:rPr lang="en-US" altLang="ko-KR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𝝀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𝒕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+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𝟏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𝜼</m:t>
                    </m:r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𝜽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𝟎</m:t>
                        </m:r>
                      </m:sub>
                    </m:sSub>
                    <m:r>
                      <a:rPr lang="en-US" altLang="ko-KR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→ </m:t>
                    </m:r>
                    <m:func>
                      <m:funcPr>
                        <m:ctrlPr>
                          <a:rPr lang="en-US" altLang="ko-KR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ko-KR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ko-KR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𝜼</m:t>
                            </m:r>
                            <m:r>
                              <a:rPr lang="en-US" altLang="ko-KR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→</m:t>
                            </m:r>
                            <m:r>
                              <a:rPr lang="en-US" altLang="ko-KR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𝟎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ko-KR" altLang="en-US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𝜽</m:t>
                                </m:r>
                              </m:e>
                              <m:sub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𝒕</m:t>
                                </m:r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+</m:t>
                                </m:r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𝜽</m:t>
                                </m:r>
                              </m:e>
                              <m:sub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𝒕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𝜼</m:t>
                            </m:r>
                          </m:den>
                        </m:f>
                      </m:e>
                    </m:func>
                    <m:r>
                      <a:rPr lang="en-US" altLang="ko-KR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f>
                      <m:f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𝒅</m:t>
                        </m:r>
                      </m:num>
                      <m:den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𝒅𝒕</m:t>
                        </m:r>
                      </m:den>
                    </m:f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>
                            <a:latin typeface="Cambria Math" panose="02040503050406030204" pitchFamily="18" charset="0"/>
                          </a:rPr>
                          <m:t>𝛁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𝜽</m:t>
                        </m:r>
                      </m:sub>
                    </m:sSub>
                    <m:acc>
                      <m:accPr>
                        <m:chr m:val="̃"/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acc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𝑹</m:t>
                        </m:r>
                      </m:e>
                    </m:acc>
                    <m:sSup>
                      <m:sSupPr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𝜽</m:t>
                                </m:r>
                              </m:e>
                              <m:sub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𝒕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⏉</m:t>
                        </m:r>
                      </m:sup>
                    </m:sSup>
                    <m:r>
                      <a:rPr lang="en-US" altLang="ko-KR" b="1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−</m:t>
                    </m:r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𝝀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𝒕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𝜽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𝒕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−</m:t>
                    </m:r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𝜽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𝟎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endParaRPr lang="en-US" altLang="ko-KR" b="1" dirty="0"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F6B82E2-20A8-195F-8318-49415662D6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880" y="1125427"/>
                <a:ext cx="11424720" cy="4922758"/>
              </a:xfrm>
              <a:prstGeom prst="rect">
                <a:avLst/>
              </a:prstGeom>
              <a:blipFill>
                <a:blip r:embed="rId3"/>
                <a:stretch>
                  <a:fillRect l="-427" t="-620" r="-48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1294545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FC9B6-9312-362C-32E2-8FD06EC30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64D0B7BF-B482-EC65-CC36-09218E79832C}"/>
              </a:ext>
            </a:extLst>
          </p:cNvPr>
          <p:cNvSpPr/>
          <p:nvPr/>
        </p:nvSpPr>
        <p:spPr bwMode="auto">
          <a:xfrm>
            <a:off x="347880" y="1096852"/>
            <a:ext cx="11424720" cy="137922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6AF33FE-C39B-EFA8-084C-608123BEB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00" y="144463"/>
            <a:ext cx="11424720" cy="752792"/>
          </a:xfrm>
        </p:spPr>
        <p:txBody>
          <a:bodyPr/>
          <a:lstStyle/>
          <a:p>
            <a:r>
              <a:rPr lang="en-US" altLang="ko-KR" dirty="0"/>
              <a:t>Lemma 1. Norm Bounds and </a:t>
            </a:r>
            <a:r>
              <a:rPr lang="en-US" altLang="ko-KR" dirty="0" err="1"/>
              <a:t>Lipschitzness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4BBD6D-EF06-C7E7-0091-15AD18277CCD}"/>
              </a:ext>
            </a:extLst>
          </p:cNvPr>
          <p:cNvSpPr txBox="1"/>
          <p:nvPr/>
        </p:nvSpPr>
        <p:spPr>
          <a:xfrm>
            <a:off x="0" y="6590426"/>
            <a:ext cx="114247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Afzal, Zahra Rahimi, et al. "Linearization Explains Fine-Tuning in Large Language Models." </a:t>
            </a:r>
            <a:r>
              <a:rPr lang="en-US" altLang="ko-KR" sz="1000" i="1" dirty="0">
                <a:solidFill>
                  <a:schemeClr val="bg1">
                    <a:lumMod val="65000"/>
                  </a:schemeClr>
                </a:solidFill>
              </a:rPr>
              <a:t>The 39th Annual Conference on </a:t>
            </a:r>
            <a:r>
              <a:rPr lang="en-US" altLang="ko-KR" sz="1000" i="1" dirty="0" err="1">
                <a:solidFill>
                  <a:schemeClr val="bg1">
                    <a:lumMod val="65000"/>
                  </a:schemeClr>
                </a:solidFill>
              </a:rPr>
              <a:t>NeurIPS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1000" dirty="0">
              <a:solidFill>
                <a:schemeClr val="bg1">
                  <a:lumMod val="6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D8DA931-9DC2-4FF1-9A73-8FE96D6C24BB}"/>
                  </a:ext>
                </a:extLst>
              </p:cNvPr>
              <p:cNvSpPr txBox="1"/>
              <p:nvPr/>
            </p:nvSpPr>
            <p:spPr>
              <a:xfrm>
                <a:off x="347880" y="1125427"/>
                <a:ext cx="11424720" cy="2982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Tx/>
                  <a:buChar char="-"/>
                </a:pPr>
                <a:r>
                  <a:rPr lang="en-US" altLang="ko-KR" b="1" dirty="0">
                    <a:latin typeface="Arial Nova" panose="020B0504020202020204" pitchFamily="34" charset="0"/>
                  </a:rPr>
                  <a:t>Consider the selectively regularized fine-tuning solution, under the squared loss. Denote the instantaneous value of the regularization parameter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𝝀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, which can be either 0 or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.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sub>
                    </m:sSub>
                    <m:d>
                      <m:d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is 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𝑳𝒊𝒑</m:t>
                    </m:r>
                    <m:d>
                      <m:d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</m:d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𝑳𝒊𝒑𝒔𝒄𝒉𝒊𝒕𝒛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in 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𝒍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𝒃𝒂𝒍𝒍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of radius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𝝉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around pretrained parameters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,</a:t>
                </a: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ko-KR" altLang="en-US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𝜽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ko-KR" altLang="en-US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𝟎</m:t>
                            </m:r>
                          </m:sub>
                        </m:sSub>
                      </m:e>
                    </m:d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≤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𝟐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𝑳𝒊𝒑</m:t>
                    </m:r>
                    <m:d>
                      <m:dPr>
                        <m:ctrlPr>
                          <a:rPr lang="en-US" altLang="ko-K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𝒇</m:t>
                        </m:r>
                      </m:e>
                    </m:d>
                    <m:d>
                      <m:dPr>
                        <m:begChr m:val="‖"/>
                        <m:endChr m:val="‖"/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𝜽</m:t>
                                </m:r>
                              </m:e>
                              <m:sub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p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nary>
                      <m:nary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  <m:sup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sup>
                      <m:e>
                        <m:sSup>
                          <m:sSupPr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p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altLang="ko-KR" b="1" i="1" smtClean="0">
                                        <a:latin typeface="Cambria Math" panose="02040503050406030204" pitchFamily="18" charset="0"/>
                                      </a:rPr>
                                      <m:t>Λ</m:t>
                                    </m:r>
                                  </m:e>
                                  <m:sub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sub>
                                </m:sSub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altLang="ko-KR" b="1" i="1">
                                        <a:latin typeface="Cambria Math" panose="02040503050406030204" pitchFamily="18" charset="0"/>
                                      </a:rPr>
                                      <m:t>Λ</m:t>
                                    </m:r>
                                  </m:e>
                                  <m:sub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sub>
                                </m:sSub>
                              </m:e>
                            </m:d>
                          </m:sup>
                        </m:sSup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𝒅𝒔</m:t>
                        </m:r>
                      </m:e>
                    </m:nary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ko-KR" b="1" i="1"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  <m:sup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𝒕</m:t>
                        </m:r>
                      </m:sup>
                      <m:e>
                        <m:sSub>
                          <m:sSubPr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𝝀</m:t>
                            </m:r>
                          </m:e>
                          <m:sub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𝒔</m:t>
                            </m:r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𝒅𝒔</m:t>
                        </m:r>
                      </m:e>
                    </m:nary>
                  </m:oMath>
                </a14:m>
                <a:endParaRPr lang="en-US" altLang="ko-KR" b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endParaRPr lang="en-US" altLang="ko-KR" b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>
                            <a:latin typeface="Cambria Math" panose="02040503050406030204" pitchFamily="18" charset="0"/>
                          </a:rPr>
                          <m:t>𝛁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𝜽</m:t>
                        </m:r>
                      </m:sub>
                    </m:sSub>
                    <m:acc>
                      <m:accPr>
                        <m:chr m:val="̃"/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acc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𝑹</m:t>
                        </m:r>
                      </m:e>
                    </m:acc>
                    <m:d>
                      <m:dPr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𝒕</m:t>
                            </m:r>
                          </m:sub>
                        </m:sSub>
                      </m:e>
                    </m:d>
                    <m:r>
                      <a:rPr lang="en-US" altLang="ko-KR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𝟐</m:t>
                    </m:r>
                    <m:sSup>
                      <m:sSupPr>
                        <m:ctrlPr>
                          <a:rPr lang="en-US" altLang="ko-KR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  <m:d>
                              <m:dPr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e>
                            </m:d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  <m:sup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⏉</m:t>
                        </m:r>
                      </m:sup>
                    </m:sSup>
                    <m:r>
                      <a:rPr lang="en-US" altLang="ko-KR" b="1">
                        <a:latin typeface="Cambria Math" panose="02040503050406030204" pitchFamily="18" charset="0"/>
                      </a:rPr>
                      <m:t>𝛁</m:t>
                    </m:r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endParaRPr lang="en-US" altLang="ko-KR" b="1" i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𝒅</m:t>
                        </m:r>
                      </m:num>
                      <m:den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𝒅𝒕</m:t>
                        </m:r>
                      </m:den>
                    </m:f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altLang="ko-KR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𝛁</m:t>
                        </m:r>
                      </m:e>
                      <m:sub>
                        <m:r>
                          <a:rPr lang="en-US" altLang="ko-KR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sub>
                    </m:sSub>
                    <m:acc>
                      <m:accPr>
                        <m:chr m:val="̃"/>
                        <m:ctrlPr>
                          <a:rPr lang="en-US" altLang="ko-KR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accPr>
                      <m:e>
                        <m:r>
                          <a:rPr lang="en-US" altLang="ko-KR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𝑹</m:t>
                        </m:r>
                      </m:e>
                    </m:acc>
                    <m:sSup>
                      <m:sSupPr>
                        <m:ctrlPr>
                          <a:rPr lang="en-US" altLang="ko-KR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𝜽</m:t>
                                </m:r>
                              </m:e>
                              <m:sub>
                                <m:r>
                                  <a:rPr lang="en-US" altLang="ko-KR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𝒕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ko-KR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⏉</m:t>
                        </m:r>
                      </m:sup>
                    </m:sSup>
                    <m:r>
                      <a:rPr lang="en-US" altLang="ko-KR" b="1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−</m:t>
                    </m:r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𝝀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𝒕</m:t>
                        </m:r>
                      </m:sub>
                    </m:sSub>
                    <m:d>
                      <m:dPr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𝒕</m:t>
                            </m:r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𝟎</m:t>
                            </m:r>
                          </m:sub>
                        </m:sSub>
                      </m:e>
                    </m:d>
                    <m:r>
                      <a:rPr lang="en-US" altLang="ko-KR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=−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𝟐</m:t>
                    </m:r>
                    <m:r>
                      <a:rPr lang="en-US" altLang="ko-KR" b="1">
                        <a:latin typeface="Cambria Math" panose="02040503050406030204" pitchFamily="18" charset="0"/>
                      </a:rPr>
                      <m:t>𝛁</m:t>
                    </m:r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</m:sub>
                    </m:sSub>
                    <m:sSup>
                      <m:sSup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⏉</m:t>
                        </m:r>
                      </m:sup>
                    </m:sSup>
                    <m:d>
                      <m:d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𝒚</m:t>
                        </m:r>
                        <m:d>
                          <m:d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</m:d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p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b="1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−</m:t>
                    </m:r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𝝀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𝒕</m:t>
                        </m:r>
                      </m:sub>
                    </m:sSub>
                    <m:d>
                      <m:dPr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𝒕</m:t>
                            </m:r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𝟎</m:t>
                            </m:r>
                          </m:sub>
                        </m:sSub>
                      </m:e>
                    </m:d>
                  </m:oMath>
                </a14:m>
                <a:endParaRPr lang="en-US" altLang="ko-KR" b="1" dirty="0">
                  <a:latin typeface="Arial Nova" panose="020B0504020202020204" pitchFamily="34" charset="0"/>
                  <a:sym typeface="Wingdings" panose="05000000000000000000" pitchFamily="2" charset="2"/>
                </a:endParaRP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𝒅</m:t>
                        </m:r>
                      </m:num>
                      <m:den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𝒅𝒕</m:t>
                        </m:r>
                      </m:den>
                    </m:f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=−</m:t>
                    </m:r>
                    <m:r>
                      <a:rPr lang="en-US" altLang="ko-KR" b="1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𝟐</m:t>
                    </m:r>
                    <m:r>
                      <a:rPr lang="en-US" altLang="ko-KR" b="1">
                        <a:latin typeface="Cambria Math" panose="02040503050406030204" pitchFamily="18" charset="0"/>
                      </a:rPr>
                      <m:t>𝛁</m:t>
                    </m:r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</m:sub>
                    </m:sSub>
                    <m:sSup>
                      <m:sSup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⏉</m:t>
                        </m:r>
                      </m:sup>
                    </m:sSup>
                    <m:d>
                      <m:d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𝒚</m:t>
                        </m:r>
                        <m:d>
                          <m:d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</m:d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p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b="1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−</m:t>
                    </m:r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𝝀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𝒕</m:t>
                        </m:r>
                      </m:sub>
                    </m:sSub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𝒖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𝒖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𝒕</m:t>
                        </m:r>
                      </m:sub>
                    </m:sSub>
                    <m:r>
                      <a:rPr lang="en-US" altLang="ko-KR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d>
                      <m:dPr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𝒕</m:t>
                            </m:r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𝟎</m:t>
                            </m:r>
                          </m:sub>
                        </m:sSub>
                      </m:e>
                    </m:d>
                  </m:oMath>
                </a14:m>
                <a:endParaRPr lang="en-US" altLang="ko-KR" b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endParaRPr lang="en-US" altLang="ko-KR" b="1" i="1" dirty="0"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9284D0C-6445-6D51-5C4C-4B4C7E32BF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880" y="1125427"/>
                <a:ext cx="11424720" cy="2982804"/>
              </a:xfrm>
              <a:prstGeom prst="rect">
                <a:avLst/>
              </a:prstGeom>
              <a:blipFill>
                <a:blip r:embed="rId3"/>
                <a:stretch>
                  <a:fillRect l="-427" t="-10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1221634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780EB-C042-D198-D634-D57CB1494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3456ED58-DBBE-FFF7-CFA3-051D5C572FDD}"/>
              </a:ext>
            </a:extLst>
          </p:cNvPr>
          <p:cNvSpPr/>
          <p:nvPr/>
        </p:nvSpPr>
        <p:spPr bwMode="auto">
          <a:xfrm>
            <a:off x="347880" y="1096852"/>
            <a:ext cx="11424720" cy="2534069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2AE48D9-50E4-AD8D-269E-676C4A220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00" y="144463"/>
            <a:ext cx="11424720" cy="752792"/>
          </a:xfrm>
        </p:spPr>
        <p:txBody>
          <a:bodyPr/>
          <a:lstStyle/>
          <a:p>
            <a:r>
              <a:rPr lang="en-US" altLang="ko-KR" dirty="0"/>
              <a:t>Theorem 4. 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A4D65A-C4B2-4527-02FC-39CC91F4E2AF}"/>
              </a:ext>
            </a:extLst>
          </p:cNvPr>
          <p:cNvSpPr txBox="1"/>
          <p:nvPr/>
        </p:nvSpPr>
        <p:spPr>
          <a:xfrm>
            <a:off x="0" y="6590426"/>
            <a:ext cx="114247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Afzal, Zahra Rahimi, et al. "Linearization Explains Fine-Tuning in Large Language Models." </a:t>
            </a:r>
            <a:r>
              <a:rPr lang="en-US" altLang="ko-KR" sz="1000" i="1" dirty="0">
                <a:solidFill>
                  <a:schemeClr val="bg1">
                    <a:lumMod val="65000"/>
                  </a:schemeClr>
                </a:solidFill>
              </a:rPr>
              <a:t>The 39th Annual Conference on </a:t>
            </a:r>
            <a:r>
              <a:rPr lang="en-US" altLang="ko-KR" sz="1000" i="1" dirty="0" err="1">
                <a:solidFill>
                  <a:schemeClr val="bg1">
                    <a:lumMod val="65000"/>
                  </a:schemeClr>
                </a:solidFill>
              </a:rPr>
              <a:t>NeurIPS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1000" dirty="0">
              <a:solidFill>
                <a:schemeClr val="bg1">
                  <a:lumMod val="6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E316EB3-B1E6-DBCA-3B69-1955795595E7}"/>
                  </a:ext>
                </a:extLst>
              </p:cNvPr>
              <p:cNvSpPr txBox="1"/>
              <p:nvPr/>
            </p:nvSpPr>
            <p:spPr>
              <a:xfrm>
                <a:off x="347880" y="1125427"/>
                <a:ext cx="11424720" cy="52525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Tx/>
                  <a:buChar char="-"/>
                </a:pPr>
                <a:r>
                  <a:rPr lang="en-US" altLang="ko-KR" b="1" dirty="0">
                    <a:latin typeface="Arial Nova" panose="020B0504020202020204" pitchFamily="34" charset="0"/>
                  </a:rPr>
                  <a:t>Under the squared loss,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ko-KR" b="1">
                        <a:latin typeface="Cambria Math" panose="02040503050406030204" pitchFamily="18" charset="0"/>
                      </a:rPr>
                      <m:t>𝛁</m:t>
                    </m:r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are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𝑳𝒊𝒑</m:t>
                    </m:r>
                    <m:d>
                      <m:d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</m:d>
                    <m:r>
                      <a:rPr lang="en-US" altLang="ko-KR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𝑳𝒊𝒑𝒔𝒄𝒉𝒊𝒕𝒛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𝑳𝒊𝒑</m:t>
                    </m:r>
                    <m:d>
                      <m:d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b="1" i="1" smtClean="0">
                            <a:latin typeface="Cambria Math" panose="02040503050406030204" pitchFamily="18" charset="0"/>
                          </a:rPr>
                          <m:t>∇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</m:d>
                    <m:r>
                      <a:rPr lang="en-US" altLang="ko-KR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𝑳𝒊𝒑𝒔𝒄𝒉𝒊𝒕𝒛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 in 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𝒍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𝒃𝒂𝒍𝒍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of radius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𝝉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around pretrained parameters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ko-KR" b="1" i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r>
                  <a:rPr lang="en-US" altLang="ko-KR" b="1" i="1" dirty="0">
                    <a:latin typeface="Arial Nova" panose="020B0504020202020204" pitchFamily="34" charset="0"/>
                  </a:rPr>
                  <a:t>Define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𝝀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∘</m:t>
                        </m:r>
                      </m:sub>
                    </m:sSub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d>
                          <m:dPr>
                            <m:begChr m:val="‖"/>
                            <m:endChr m:val="‖"/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>
                                    <a:latin typeface="Cambria Math" panose="02040503050406030204" pitchFamily="18" charset="0"/>
                                  </a:rPr>
                                  <m:t>𝐟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ko-KR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1" i="1"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sub>
                            </m:sSub>
                            <m:d>
                              <m:dPr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ko-KR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altLang="ko-KR" b="1" i="1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  <m:sup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𝑳𝒊𝒑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𝒓</m:t>
                        </m:r>
                      </m:den>
                    </m:f>
                  </m:oMath>
                </a14:m>
                <a:endParaRPr lang="en-US" altLang="ko-KR" b="1" i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r>
                  <a:rPr lang="en-US" altLang="ko-KR" b="1" i="1" dirty="0">
                    <a:latin typeface="Arial Nova" panose="020B050402020202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𝝀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𝝀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∘</m:t>
                        </m:r>
                      </m:sub>
                    </m:sSub>
                  </m:oMath>
                </a14:m>
                <a:r>
                  <a:rPr lang="en-US" altLang="ko-KR" b="1" i="1" dirty="0">
                    <a:latin typeface="Arial Nova" panose="020B0504020202020204" pitchFamily="34" charset="0"/>
                  </a:rPr>
                  <a:t>, then for all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altLang="ko-KR" b="1" i="1" dirty="0">
                    <a:latin typeface="Arial Nova" panose="020B0504020202020204" pitchFamily="34" charset="0"/>
                  </a:rPr>
                  <a:t>, the following holds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altLang="ko-KR" b="1" i="1" dirty="0">
                    <a:latin typeface="Arial Nova" panose="020B050402020202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𝝀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𝝀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∘</m:t>
                        </m:r>
                      </m:sub>
                    </m:sSub>
                  </m:oMath>
                </a14:m>
                <a:r>
                  <a:rPr lang="en-US" altLang="ko-KR" b="1" i="1" dirty="0">
                    <a:latin typeface="Arial Nova" panose="020B0504020202020204" pitchFamily="34" charset="0"/>
                  </a:rPr>
                  <a:t>, then the following holds for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𝝀</m:t>
                        </m:r>
                      </m:den>
                    </m:f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𝒍𝒏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𝝀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𝝀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∘</m:t>
                            </m:r>
                          </m:sub>
                        </m:sSub>
                      </m:den>
                    </m:f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b="1" i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r>
                  <a:rPr lang="en-US" altLang="ko-KR" b="1" i="1" dirty="0">
                    <a:latin typeface="Arial Nova" panose="020B0504020202020204" pitchFamily="34" charset="0"/>
                  </a:rPr>
                  <a:t>In particular, for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𝝀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𝝀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∘</m:t>
                        </m:r>
                      </m:sub>
                    </m:sSub>
                  </m:oMath>
                </a14:m>
                <a:r>
                  <a:rPr lang="en-US" altLang="ko-KR" b="1" i="1" dirty="0">
                    <a:latin typeface="Arial Nova" panose="020B0504020202020204" pitchFamily="34" charset="0"/>
                  </a:rPr>
                  <a:t>, the bound from theorem 3 always holds and simplifies to </a:t>
                </a: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𝜽</m:t>
                                </m:r>
                              </m:e>
                              <m:sub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</m:e>
                            </m:acc>
                          </m:e>
                          <m:sub>
                            <m:sSub>
                              <m:sSubPr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ko-KR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b="1" i="1"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b>
                            </m:sSub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𝑳𝒊𝒑</m:t>
                    </m:r>
                    <m:d>
                      <m:d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</m:d>
                    <m:acc>
                      <m:accPr>
                        <m:chr m:val="̃"/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acc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𝑹</m:t>
                        </m:r>
                      </m:e>
                    </m:acc>
                    <m:d>
                      <m:dPr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ko-KR" altLang="en-US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𝟎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𝟐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𝒓𝑳𝒊𝒑</m:t>
                        </m:r>
                        <m:d>
                          <m:dPr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en-US" altLang="ko-KR" b="1" i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𝛁</m:t>
                            </m:r>
                            <m:r>
                              <a:rPr lang="en-US" altLang="ko-KR" b="1" i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𝐟</m:t>
                            </m:r>
                          </m:e>
                        </m:d>
                        <m: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+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𝑳𝒊𝒑</m:t>
                        </m:r>
                        <m:d>
                          <m:dPr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𝒇</m:t>
                            </m:r>
                          </m:e>
                        </m:d>
                      </m:e>
                    </m:d>
                    <m:r>
                      <a:rPr lang="en-US" altLang="ko-KR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𝒕</m:t>
                    </m:r>
                  </m:oMath>
                </a14:m>
                <a:endParaRPr lang="en-US" altLang="ko-KR" b="1" i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endParaRPr lang="en-US" altLang="ko-KR" b="1" i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r>
                  <a:rPr lang="en-US" altLang="ko-KR" b="1" dirty="0">
                    <a:latin typeface="Arial Nova" panose="020B0504020202020204" pitchFamily="34" charset="0"/>
                    <a:sym typeface="Wingdings" panose="05000000000000000000" pitchFamily="2" charset="2"/>
                  </a:rPr>
                  <a:t>Theorem 2 :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𝒕</m:t>
                            </m:r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𝟎</m:t>
                            </m:r>
                          </m:sub>
                        </m:sSub>
                      </m:e>
                    </m:d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≤</m:t>
                    </m:r>
                    <m:f>
                      <m:fPr>
                        <m:ctrlPr>
                          <a:rPr lang="en-US" altLang="ko-K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𝟐</m:t>
                        </m:r>
                        <m:d>
                          <m:dPr>
                            <m:begChr m:val="‖"/>
                            <m:endChr m:val="‖"/>
                            <m:ctrlP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  <m:d>
                              <m:dPr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</m:d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  <m:sup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𝑳𝒊𝒑</m:t>
                        </m:r>
                        <m:d>
                          <m:dPr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</m:d>
                      </m:num>
                      <m:den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𝝀</m:t>
                        </m:r>
                      </m:den>
                    </m:f>
                    <m:d>
                      <m:dPr>
                        <m:ctrlPr>
                          <a:rPr lang="en-US" altLang="ko-K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p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𝝀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p>
                        </m:sSup>
                      </m:e>
                    </m:d>
                  </m:oMath>
                </a14:m>
                <a:endParaRPr lang="en-US" altLang="ko-KR" b="1" i="1" dirty="0">
                  <a:latin typeface="Arial Nova" panose="020B0504020202020204" pitchFamily="34" charset="0"/>
                  <a:ea typeface="Cambria Math" panose="02040503050406030204" pitchFamily="18" charset="0"/>
                  <a:sym typeface="Wingdings" panose="05000000000000000000" pitchFamily="2" charset="2"/>
                </a:endParaRPr>
              </a:p>
              <a:p>
                <a:pPr marL="285750" indent="-285750">
                  <a:buFontTx/>
                  <a:buChar char="-"/>
                </a:pPr>
                <a:r>
                  <a:rPr lang="en-US" altLang="ko-KR" b="1" dirty="0">
                    <a:latin typeface="Arial Nova" panose="020B0504020202020204" pitchFamily="34" charset="0"/>
                  </a:rPr>
                  <a:t>In order for the </a:t>
                </a:r>
                <a:r>
                  <a:rPr lang="en-US" altLang="ko-KR" b="1" dirty="0" err="1">
                    <a:latin typeface="Arial Nova" panose="020B0504020202020204" pitchFamily="34" charset="0"/>
                  </a:rPr>
                  <a:t>regularizer</a:t>
                </a:r>
                <a:r>
                  <a:rPr lang="en-US" altLang="ko-KR" b="1" dirty="0">
                    <a:latin typeface="Arial Nova" panose="020B0504020202020204" pitchFamily="34" charset="0"/>
                  </a:rPr>
                  <a:t> to satisfy the Lipschitz continuity assumptions, mainly that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ko-KR" b="1" i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𝛉</m:t>
                            </m:r>
                          </m:e>
                          <m:sub>
                            <m:r>
                              <a:rPr lang="en-US" altLang="ko-KR" b="1" i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𝐭</m:t>
                            </m:r>
                          </m:sub>
                        </m:sSub>
                        <m:r>
                          <a:rPr lang="en-US" altLang="ko-KR" b="1" i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ko-KR" b="1" i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𝛉</m:t>
                            </m:r>
                          </m:e>
                          <m:sub>
                            <m:r>
                              <a:rPr lang="en-US" altLang="ko-KR" b="1" i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𝟎</m:t>
                            </m:r>
                          </m:sub>
                        </m:sSub>
                      </m:e>
                    </m:d>
                    <m:r>
                      <a:rPr lang="en-US" altLang="ko-KR" b="1" i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≤</m:t>
                    </m:r>
                    <m:r>
                      <a:rPr lang="en-US" altLang="ko-KR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𝐫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, this shows that there are two phases of behavior depending on how large </a:t>
                </a:r>
                <a14:m>
                  <m:oMath xmlns:m="http://schemas.openxmlformats.org/officeDocument/2006/math">
                    <m:r>
                      <a:rPr lang="en-US" altLang="ko-KR" b="1" i="0">
                        <a:latin typeface="Cambria Math" panose="02040503050406030204" pitchFamily="18" charset="0"/>
                      </a:rPr>
                      <m:t>𝛌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is, where the threshold is given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0">
                            <a:latin typeface="Cambria Math" panose="02040503050406030204" pitchFamily="18" charset="0"/>
                          </a:rPr>
                          <m:t>𝛌</m:t>
                        </m:r>
                      </m:e>
                      <m:sub>
                        <m:r>
                          <a:rPr lang="en-US" altLang="ko-KR" b="1" i="0">
                            <a:latin typeface="Cambria Math" panose="02040503050406030204" pitchFamily="18" charset="0"/>
                          </a:rPr>
                          <m:t>∘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𝟐</m:t>
                        </m:r>
                        <m:d>
                          <m:dPr>
                            <m:begChr m:val="‖"/>
                            <m:endChr m:val="‖"/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>
                                    <a:latin typeface="Cambria Math" panose="02040503050406030204" pitchFamily="18" charset="0"/>
                                  </a:rPr>
                                  <m:t>𝐟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ko-KR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1" i="1"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en-US" altLang="ko-KR" b="1" i="1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sub>
                            </m:sSub>
                            <m:d>
                              <m:dPr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ko-KR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altLang="ko-KR" b="1" i="1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  <m:sup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𝑳𝒊𝒑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𝒇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𝒓</m:t>
                        </m:r>
                      </m:den>
                    </m:f>
                  </m:oMath>
                </a14:m>
                <a:endParaRPr lang="en-US" altLang="ko-KR" b="1" i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r>
                  <a:rPr lang="en-US" altLang="ko-KR" b="1" dirty="0">
                    <a:latin typeface="Arial Nova" panose="020B0504020202020204" pitchFamily="34" charset="0"/>
                  </a:rPr>
                  <a:t>In particular, if </a:t>
                </a:r>
                <a14:m>
                  <m:oMath xmlns:m="http://schemas.openxmlformats.org/officeDocument/2006/math">
                    <m:r>
                      <a:rPr lang="en-US" altLang="ko-KR" b="1" i="0">
                        <a:latin typeface="Cambria Math" panose="02040503050406030204" pitchFamily="18" charset="0"/>
                      </a:rPr>
                      <m:t>𝛌</m:t>
                    </m:r>
                    <m:r>
                      <a:rPr lang="en-US" altLang="ko-KR" b="1" i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0">
                            <a:latin typeface="Cambria Math" panose="02040503050406030204" pitchFamily="18" charset="0"/>
                          </a:rPr>
                          <m:t>𝛌</m:t>
                        </m:r>
                      </m:e>
                      <m:sub>
                        <m:r>
                          <a:rPr lang="en-US" altLang="ko-KR" b="1" i="0">
                            <a:latin typeface="Cambria Math" panose="02040503050406030204" pitchFamily="18" charset="0"/>
                          </a:rPr>
                          <m:t>∘</m:t>
                        </m:r>
                      </m:sub>
                    </m:sSub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ko-KR" b="1" i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𝛉</m:t>
                        </m:r>
                      </m:e>
                      <m:sub>
                        <m:r>
                          <a:rPr lang="en-US" altLang="ko-KR" b="1" i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𝐭</m:t>
                        </m:r>
                      </m:sub>
                    </m:sSub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remains in the </a:t>
                </a:r>
                <a14:m>
                  <m:oMath xmlns:m="http://schemas.openxmlformats.org/officeDocument/2006/math">
                    <m:r>
                      <a:rPr lang="en-US" altLang="ko-KR" b="1" i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𝐫</m:t>
                    </m:r>
                    <m:r>
                      <a:rPr lang="en-US" altLang="ko-KR" b="1" i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-ball around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ko-KR" altLang="en-US" b="1" i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𝛉</m:t>
                        </m:r>
                      </m:e>
                      <m:sub>
                        <m:r>
                          <a:rPr lang="en-US" altLang="ko-KR" b="1" i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for all </a:t>
                </a:r>
                <a14:m>
                  <m:oMath xmlns:m="http://schemas.openxmlformats.org/officeDocument/2006/math">
                    <m:r>
                      <a:rPr lang="en-US" altLang="ko-KR" b="1" i="0">
                        <a:latin typeface="Cambria Math" panose="02040503050406030204" pitchFamily="18" charset="0"/>
                      </a:rPr>
                      <m:t>𝐭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. Otherwise, it remains in this ball only as long as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𝝀</m:t>
                        </m:r>
                      </m:den>
                    </m:f>
                    <m:r>
                      <a:rPr lang="en-US" altLang="ko-KR" b="1" i="1">
                        <a:latin typeface="Cambria Math" panose="02040503050406030204" pitchFamily="18" charset="0"/>
                      </a:rPr>
                      <m:t>𝒍𝒏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𝝀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𝝀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∘</m:t>
                            </m:r>
                          </m:sub>
                        </m:sSub>
                      </m:den>
                    </m:f>
                    <m:r>
                      <a:rPr lang="en-US" altLang="ko-KR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b="1" i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endParaRPr lang="en-US" altLang="ko-KR" b="1" i="1" dirty="0"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E316EB3-B1E6-DBCA-3B69-1955795595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880" y="1125427"/>
                <a:ext cx="11424720" cy="5252592"/>
              </a:xfrm>
              <a:prstGeom prst="rect">
                <a:avLst/>
              </a:prstGeom>
              <a:blipFill>
                <a:blip r:embed="rId3"/>
                <a:stretch>
                  <a:fillRect l="-427" t="-697" r="-48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208287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7A675-55BD-663E-98DF-3C68405A0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38F64B7B-3D50-7B83-F33A-F93DA049E6A2}"/>
              </a:ext>
            </a:extLst>
          </p:cNvPr>
          <p:cNvSpPr/>
          <p:nvPr/>
        </p:nvSpPr>
        <p:spPr bwMode="auto">
          <a:xfrm>
            <a:off x="347880" y="1096852"/>
            <a:ext cx="11424720" cy="2534069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FCFEDEE-1394-1020-861F-7CABB35D4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00" y="144463"/>
            <a:ext cx="11424720" cy="752792"/>
          </a:xfrm>
        </p:spPr>
        <p:txBody>
          <a:bodyPr/>
          <a:lstStyle/>
          <a:p>
            <a:r>
              <a:rPr lang="en-US" altLang="ko-KR" dirty="0"/>
              <a:t>Theorem 4. 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73B516-01DC-C089-32F5-DE6C65D2E4AC}"/>
              </a:ext>
            </a:extLst>
          </p:cNvPr>
          <p:cNvSpPr txBox="1"/>
          <p:nvPr/>
        </p:nvSpPr>
        <p:spPr>
          <a:xfrm>
            <a:off x="0" y="6590426"/>
            <a:ext cx="114247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Afzal, Zahra Rahimi, et al. "Linearization Explains Fine-Tuning in Large Language Models." </a:t>
            </a:r>
            <a:r>
              <a:rPr lang="en-US" altLang="ko-KR" sz="1000" i="1" dirty="0">
                <a:solidFill>
                  <a:schemeClr val="bg1">
                    <a:lumMod val="65000"/>
                  </a:schemeClr>
                </a:solidFill>
              </a:rPr>
              <a:t>The 39th Annual Conference on </a:t>
            </a:r>
            <a:r>
              <a:rPr lang="en-US" altLang="ko-KR" sz="1000" i="1" dirty="0" err="1">
                <a:solidFill>
                  <a:schemeClr val="bg1">
                    <a:lumMod val="65000"/>
                  </a:schemeClr>
                </a:solidFill>
              </a:rPr>
              <a:t>NeurIPS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1000" dirty="0">
              <a:solidFill>
                <a:schemeClr val="bg1">
                  <a:lumMod val="6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3583601-6442-A546-764F-26C9AB40A4DA}"/>
                  </a:ext>
                </a:extLst>
              </p:cNvPr>
              <p:cNvSpPr txBox="1"/>
              <p:nvPr/>
            </p:nvSpPr>
            <p:spPr>
              <a:xfrm>
                <a:off x="347880" y="1125427"/>
                <a:ext cx="11424720" cy="43351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Tx/>
                  <a:buChar char="-"/>
                </a:pPr>
                <a:r>
                  <a:rPr lang="en-US" altLang="ko-KR" b="1" dirty="0">
                    <a:latin typeface="Arial Nova" panose="020B0504020202020204" pitchFamily="34" charset="0"/>
                  </a:rPr>
                  <a:t>Under the squared loss,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ko-KR" b="1">
                        <a:latin typeface="Cambria Math" panose="02040503050406030204" pitchFamily="18" charset="0"/>
                      </a:rPr>
                      <m:t>𝛁</m:t>
                    </m:r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are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𝑳𝒊𝒑</m:t>
                    </m:r>
                    <m:d>
                      <m:d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</m:d>
                    <m:r>
                      <a:rPr lang="en-US" altLang="ko-KR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𝑳𝒊𝒑𝒔𝒄𝒉𝒊𝒕𝒛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𝑳𝒊𝒑</m:t>
                    </m:r>
                    <m:d>
                      <m:d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b="1" i="1" smtClean="0">
                            <a:latin typeface="Cambria Math" panose="02040503050406030204" pitchFamily="18" charset="0"/>
                          </a:rPr>
                          <m:t>∇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</m:d>
                    <m:r>
                      <a:rPr lang="en-US" altLang="ko-KR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𝑳𝒊𝒑𝒔𝒄𝒉𝒊𝒕𝒛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 in 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𝒍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𝒃𝒂𝒍𝒍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of radius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𝝉</m:t>
                    </m:r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around pretrained parameters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ko-KR" b="1" i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r>
                  <a:rPr lang="en-US" altLang="ko-KR" b="1" i="1" dirty="0">
                    <a:latin typeface="Arial Nova" panose="020B0504020202020204" pitchFamily="34" charset="0"/>
                  </a:rPr>
                  <a:t>Define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𝝀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∘</m:t>
                        </m:r>
                      </m:sub>
                    </m:sSub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d>
                          <m:dPr>
                            <m:begChr m:val="‖"/>
                            <m:endChr m:val="‖"/>
                            <m:ctrlPr>
                              <a:rPr lang="en-US" altLang="ko-KR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>
                                    <a:latin typeface="Cambria Math" panose="02040503050406030204" pitchFamily="18" charset="0"/>
                                  </a:rPr>
                                  <m:t>𝐟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altLang="ko-KR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1" i="1"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sub>
                            </m:sSub>
                            <m:d>
                              <m:dPr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ko-KR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altLang="ko-KR" b="1" i="1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  <m:sup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𝑳𝒊𝒑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𝒓</m:t>
                        </m:r>
                      </m:den>
                    </m:f>
                  </m:oMath>
                </a14:m>
                <a:endParaRPr lang="en-US" altLang="ko-KR" b="1" i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r>
                  <a:rPr lang="en-US" altLang="ko-KR" b="1" i="1" dirty="0">
                    <a:latin typeface="Arial Nova" panose="020B050402020202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𝝀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𝝀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∘</m:t>
                        </m:r>
                      </m:sub>
                    </m:sSub>
                  </m:oMath>
                </a14:m>
                <a:r>
                  <a:rPr lang="en-US" altLang="ko-KR" b="1" i="1" dirty="0">
                    <a:latin typeface="Arial Nova" panose="020B0504020202020204" pitchFamily="34" charset="0"/>
                  </a:rPr>
                  <a:t>, then for all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altLang="ko-KR" b="1" i="1" dirty="0">
                    <a:latin typeface="Arial Nova" panose="020B0504020202020204" pitchFamily="34" charset="0"/>
                  </a:rPr>
                  <a:t>, the following holds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altLang="ko-KR" b="1" i="1" dirty="0">
                    <a:latin typeface="Arial Nova" panose="020B050402020202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𝝀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𝝀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∘</m:t>
                        </m:r>
                      </m:sub>
                    </m:sSub>
                  </m:oMath>
                </a14:m>
                <a:r>
                  <a:rPr lang="en-US" altLang="ko-KR" b="1" i="1" dirty="0">
                    <a:latin typeface="Arial Nova" panose="020B0504020202020204" pitchFamily="34" charset="0"/>
                  </a:rPr>
                  <a:t>, then the following holds for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𝝀</m:t>
                        </m:r>
                      </m:den>
                    </m:f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𝒍𝒏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𝝀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𝝀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∘</m:t>
                            </m:r>
                          </m:sub>
                        </m:sSub>
                      </m:den>
                    </m:f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b="1" i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r>
                  <a:rPr lang="en-US" altLang="ko-KR" b="1" i="1" dirty="0">
                    <a:latin typeface="Arial Nova" panose="020B0504020202020204" pitchFamily="34" charset="0"/>
                  </a:rPr>
                  <a:t>In particular, for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𝝀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𝝀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∘</m:t>
                        </m:r>
                      </m:sub>
                    </m:sSub>
                  </m:oMath>
                </a14:m>
                <a:r>
                  <a:rPr lang="en-US" altLang="ko-KR" b="1" i="1" dirty="0">
                    <a:latin typeface="Arial Nova" panose="020B0504020202020204" pitchFamily="34" charset="0"/>
                  </a:rPr>
                  <a:t>, the bound from theorem 3 always holds and simplifies to </a:t>
                </a: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𝜽</m:t>
                                </m:r>
                              </m:e>
                              <m:sub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</m:e>
                            </m:acc>
                          </m:e>
                          <m:sub>
                            <m:sSub>
                              <m:sSubPr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ko-KR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b="1" i="1"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sub>
                            </m:sSub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𝑳𝒊𝒑</m:t>
                    </m:r>
                    <m:d>
                      <m:d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</m:d>
                    <m:acc>
                      <m:accPr>
                        <m:chr m:val="̃"/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acc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𝑹</m:t>
                        </m:r>
                      </m:e>
                    </m:acc>
                    <m:d>
                      <m:dPr>
                        <m:ctrlPr>
                          <a:rPr lang="en-US" altLang="ko-KR" b="1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ko-KR" altLang="en-US" b="1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𝟎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𝟐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𝒓𝑳𝒊𝒑</m:t>
                        </m:r>
                        <m:d>
                          <m:dPr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en-US" altLang="ko-KR" b="1" i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𝛁</m:t>
                            </m:r>
                            <m:r>
                              <a:rPr lang="en-US" altLang="ko-KR" b="1" i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𝐟</m:t>
                            </m:r>
                          </m:e>
                        </m:d>
                        <m: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+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𝑳𝒊𝒑</m:t>
                        </m:r>
                        <m:d>
                          <m:dPr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𝒇</m:t>
                            </m:r>
                          </m:e>
                        </m:d>
                      </m:e>
                    </m:d>
                    <m:r>
                      <a:rPr lang="en-US" altLang="ko-KR" b="1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𝒕</m:t>
                    </m:r>
                  </m:oMath>
                </a14:m>
                <a:endParaRPr lang="en-US" altLang="ko-KR" b="1" i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endParaRPr lang="en-US" altLang="ko-KR" b="1" i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r>
                  <a:rPr lang="en-US" altLang="ko-KR" b="1" dirty="0">
                    <a:latin typeface="Arial Nova" panose="020B0504020202020204" pitchFamily="34" charset="0"/>
                  </a:rPr>
                  <a:t>Based on Theorem 3, we get that </a:t>
                </a: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d>
                      <m:dPr>
                        <m:ctrlP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𝒕</m:t>
                        </m:r>
                      </m:e>
                    </m:d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𝑳𝒊𝒑</m:t>
                    </m:r>
                    <m:sSup>
                      <m:sSup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</m:d>
                      </m:e>
                      <m:sup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d>
                      <m:dPr>
                        <m:begChr m:val="‖"/>
                        <m:endChr m:val="‖"/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𝜽</m:t>
                                </m:r>
                              </m:e>
                              <m:sub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p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b="1" i="1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𝟒</m:t>
                        </m:r>
                      </m:num>
                      <m:den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𝝀</m:t>
                        </m:r>
                      </m:den>
                    </m:f>
                    <m:r>
                      <a:rPr lang="en-US" altLang="ko-KR" b="1" i="1">
                        <a:latin typeface="Cambria Math" panose="02040503050406030204" pitchFamily="18" charset="0"/>
                      </a:rPr>
                      <m:t>𝑳𝒊𝒑</m:t>
                    </m:r>
                    <m:d>
                      <m:d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𝜵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</m:d>
                    <m:d>
                      <m:dPr>
                        <m:begChr m:val="‖"/>
                        <m:endChr m:val="‖"/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𝜽</m:t>
                                </m:r>
                              </m:e>
                              <m:sub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p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)(</m:t>
                    </m:r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𝒕</m:t>
                    </m:r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𝝀</m:t>
                        </m:r>
                      </m:den>
                    </m:f>
                    <m:sSup>
                      <m:sSupPr>
                        <m:ctrlP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𝒆</m:t>
                        </m:r>
                      </m:e>
                      <m:sup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𝝀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𝒕</m:t>
                        </m:r>
                      </m:sup>
                    </m:sSup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𝝀</m:t>
                        </m:r>
                      </m:den>
                    </m:f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b="1" i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r>
                  <a:rPr lang="en-US" altLang="ko-KR" b="1" dirty="0">
                    <a:latin typeface="Arial Nova" panose="020B0504020202020204" pitchFamily="34" charset="0"/>
                  </a:rPr>
                  <a:t>When </a:t>
                </a:r>
                <a14:m>
                  <m:oMath xmlns:m="http://schemas.openxmlformats.org/officeDocument/2006/math">
                    <m:r>
                      <a:rPr lang="en-US" altLang="ko-KR" b="1" i="0">
                        <a:latin typeface="Cambria Math" panose="02040503050406030204" pitchFamily="18" charset="0"/>
                      </a:rPr>
                      <m:t>𝛌</m:t>
                    </m:r>
                    <m:r>
                      <a:rPr lang="en-US" altLang="ko-KR" b="1" i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0">
                            <a:latin typeface="Cambria Math" panose="02040503050406030204" pitchFamily="18" charset="0"/>
                          </a:rPr>
                          <m:t>𝛌</m:t>
                        </m:r>
                      </m:e>
                      <m:sub>
                        <m:r>
                          <a:rPr lang="en-US" altLang="ko-KR" b="1" i="0">
                            <a:latin typeface="Cambria Math" panose="02040503050406030204" pitchFamily="18" charset="0"/>
                          </a:rPr>
                          <m:t>∘</m:t>
                        </m:r>
                      </m:sub>
                    </m:sSub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b="1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d>
                      <m:dPr>
                        <m:ctrlP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𝐭</m:t>
                        </m:r>
                      </m:e>
                    </m:d>
                  </m:oMath>
                </a14:m>
                <a:r>
                  <a:rPr lang="en-US" altLang="ko-KR" b="1" dirty="0">
                    <a:latin typeface="Arial Nova" panose="020B0504020202020204" pitchFamily="34" charset="0"/>
                  </a:rPr>
                  <a:t> grows linearly, with coefficient given by</a:t>
                </a: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d>
                      <m:dPr>
                        <m:ctrlP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𝒕</m:t>
                        </m:r>
                      </m:e>
                    </m:d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𝑳𝒊𝒑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b="1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)−</m:t>
                        </m:r>
                        <m:sSup>
                          <m:sSup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p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ko-KR" b="1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𝒓𝑳𝒊𝒑</m:t>
                        </m:r>
                        <m:d>
                          <m:d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1">
                                <a:latin typeface="Cambria Math" panose="02040503050406030204" pitchFamily="18" charset="0"/>
                              </a:rPr>
                              <m:t>𝛁</m:t>
                            </m:r>
                            <m:r>
                              <a:rPr lang="en-US" altLang="ko-KR" b="1">
                                <a:latin typeface="Cambria Math" panose="02040503050406030204" pitchFamily="18" charset="0"/>
                              </a:rPr>
                              <m:t>𝐟</m:t>
                            </m:r>
                          </m:e>
                        </m:d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𝑳𝒊𝒑</m:t>
                        </m:r>
                        <m:d>
                          <m:d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</m:d>
                      </m:e>
                    </m:d>
                    <m:r>
                      <a:rPr lang="en-US" altLang="ko-KR" b="1" i="1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endParaRPr lang="en-US" altLang="ko-KR" b="1" i="1" dirty="0">
                  <a:latin typeface="Arial Nova" panose="020B0504020202020204" pitchFamily="34" charset="0"/>
                </a:endParaRPr>
              </a:p>
              <a:p>
                <a:pPr marL="285750" indent="-285750">
                  <a:buFontTx/>
                  <a:buChar char="-"/>
                </a:pPr>
                <a:endParaRPr lang="en-US" altLang="ko-KR" b="1" i="1" dirty="0"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3583601-6442-A546-764F-26C9AB40A4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880" y="1125427"/>
                <a:ext cx="11424720" cy="4335161"/>
              </a:xfrm>
              <a:prstGeom prst="rect">
                <a:avLst/>
              </a:prstGeom>
              <a:blipFill>
                <a:blip r:embed="rId3"/>
                <a:stretch>
                  <a:fillRect l="-427" t="-84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5441423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SoCDL Thema Summary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gsrcPresentationTemplate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lnDef>
  </a:objectDefaults>
  <a:extraClrSchemeLst>
    <a:extraClrScheme>
      <a:clrScheme name="gsrcPresentationTemplate 1">
        <a:dk1>
          <a:srgbClr val="0033CC"/>
        </a:dk1>
        <a:lt1>
          <a:srgbClr val="99FFFF"/>
        </a:lt1>
        <a:dk2>
          <a:srgbClr val="000000"/>
        </a:dk2>
        <a:lt2>
          <a:srgbClr val="000000"/>
        </a:lt2>
        <a:accent1>
          <a:srgbClr val="00B8A5"/>
        </a:accent1>
        <a:accent2>
          <a:srgbClr val="2C005E"/>
        </a:accent2>
        <a:accent3>
          <a:srgbClr val="CAFFFF"/>
        </a:accent3>
        <a:accent4>
          <a:srgbClr val="002AAE"/>
        </a:accent4>
        <a:accent5>
          <a:srgbClr val="AAD8CF"/>
        </a:accent5>
        <a:accent6>
          <a:srgbClr val="270054"/>
        </a:accent6>
        <a:hlink>
          <a:srgbClr val="4C82FF"/>
        </a:hlink>
        <a:folHlink>
          <a:srgbClr val="FFB8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srcPresentation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srcPresentationTemplate 3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srcPresentationTemplate 4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srcPresentationTemplate 5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srcPresentationTemplate 6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srcPresentationTemplate 7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srcPresentationTemplate 8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SoCDL Thema Summary" id="{E08F21FB-2398-4265-A80C-CFD6250A64A1}" vid="{1A466CB2-4492-4854-8F0F-04482A62F99B}"/>
    </a:ext>
  </a:ext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ABKGroup_Weekly_Summary">
  <a:themeElements>
    <a:clrScheme name="ABKGroup_Weekly_Summary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ABKGroup_Weekly_Summary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0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0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ABKGroup_Weekly_Summary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BKGroup_Weekly_Summary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BKGroup_Weekly_Summary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BKGroup_Weekly_Summary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BKGroup_Weekly_Summary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BKGroup_Weekly_Summary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BKGroup_Weekly_Summary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BKGroup_Weekly_Summary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BKGroup_Weekly_Summary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BKGroup_Weekly_Summary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BKGroup_Weekly_Summary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BKGroup_Weekly_Summary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테마">
  <a:themeElements>
    <a:clrScheme name="ESAL-IMS">
      <a:dk1>
        <a:sysClr val="windowText" lastClr="000000"/>
      </a:dk1>
      <a:lt1>
        <a:sysClr val="window" lastClr="FFFFFF"/>
      </a:lt1>
      <a:dk2>
        <a:srgbClr val="66665C"/>
      </a:dk2>
      <a:lt2>
        <a:srgbClr val="C80150"/>
      </a:lt2>
      <a:accent1>
        <a:srgbClr val="4E67C8"/>
      </a:accent1>
      <a:accent2>
        <a:srgbClr val="59A8D1"/>
      </a:accent2>
      <a:accent3>
        <a:srgbClr val="5DCEAF"/>
      </a:accent3>
      <a:accent4>
        <a:srgbClr val="A7EA52"/>
      </a:accent4>
      <a:accent5>
        <a:srgbClr val="FFB300"/>
      </a:accent5>
      <a:accent6>
        <a:srgbClr val="FF8021"/>
      </a:accent6>
      <a:hlink>
        <a:srgbClr val="56C7AA"/>
      </a:hlink>
      <a:folHlink>
        <a:srgbClr val="59A8D1"/>
      </a:folHlink>
    </a:clrScheme>
    <a:fontScheme name="사용자 지정 3">
      <a:majorFont>
        <a:latin typeface="Arial Black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SoCDL Thmx Summary</Template>
  <TotalTime>73645</TotalTime>
  <Words>7324</Words>
  <Application>Microsoft Office PowerPoint</Application>
  <PresentationFormat>와이드스크린</PresentationFormat>
  <Paragraphs>744</Paragraphs>
  <Slides>49</Slides>
  <Notes>49</Notes>
  <HiddenSlides>0</HiddenSlides>
  <MMClips>0</MMClips>
  <ScaleCrop>false</ScaleCrop>
  <HeadingPairs>
    <vt:vector size="6" baseType="variant">
      <vt:variant>
        <vt:lpstr>사용한 글꼴</vt:lpstr>
      </vt:variant>
      <vt:variant>
        <vt:i4>14</vt:i4>
      </vt:variant>
      <vt:variant>
        <vt:lpstr>테마</vt:lpstr>
      </vt:variant>
      <vt:variant>
        <vt:i4>4</vt:i4>
      </vt:variant>
      <vt:variant>
        <vt:lpstr>슬라이드 제목</vt:lpstr>
      </vt:variant>
      <vt:variant>
        <vt:i4>49</vt:i4>
      </vt:variant>
    </vt:vector>
  </HeadingPairs>
  <TitlesOfParts>
    <vt:vector size="67" baseType="lpstr">
      <vt:lpstr>Helvetica Neue</vt:lpstr>
      <vt:lpstr>Monotype Sorts</vt:lpstr>
      <vt:lpstr>맑은 고딕</vt:lpstr>
      <vt:lpstr>Arial</vt:lpstr>
      <vt:lpstr>Arial Black</vt:lpstr>
      <vt:lpstr>Arial Narrow</vt:lpstr>
      <vt:lpstr>Arial Nova</vt:lpstr>
      <vt:lpstr>Calibri</vt:lpstr>
      <vt:lpstr>Calibri Light</vt:lpstr>
      <vt:lpstr>Cambria Math</vt:lpstr>
      <vt:lpstr>Script MT Bold</vt:lpstr>
      <vt:lpstr>Symbol</vt:lpstr>
      <vt:lpstr>Tahoma</vt:lpstr>
      <vt:lpstr>Wingdings</vt:lpstr>
      <vt:lpstr>SoCDL Thema Summary</vt:lpstr>
      <vt:lpstr>디자인 사용자 지정</vt:lpstr>
      <vt:lpstr>ABKGroup_Weekly_Summary</vt:lpstr>
      <vt:lpstr>Office 테마</vt:lpstr>
      <vt:lpstr>Linearization Explains Fine-Tuning in Large Language Models</vt:lpstr>
      <vt:lpstr>Section 1 : Motivation</vt:lpstr>
      <vt:lpstr>Motivation</vt:lpstr>
      <vt:lpstr>Section 2 : Problem Formulation</vt:lpstr>
      <vt:lpstr>Problem Formulation</vt:lpstr>
      <vt:lpstr>Problem Formulation : Additional Slide</vt:lpstr>
      <vt:lpstr>Section 3 : Proximity Promotes Linearity</vt:lpstr>
      <vt:lpstr>Proximity to the Pretrained Model Promotes Linearity</vt:lpstr>
      <vt:lpstr>Proximity : Additional Slide</vt:lpstr>
      <vt:lpstr>Lemma 3. Gradient Flow</vt:lpstr>
      <vt:lpstr>Theorem 1. Monotonic Updates in Regularized Fine-tuning </vt:lpstr>
      <vt:lpstr>Theorem 1. Monotonic Updates in Regularized Fine-tuning </vt:lpstr>
      <vt:lpstr>Theorem 1. Monotonic Updates in Regularized Fine-tuning </vt:lpstr>
      <vt:lpstr>Lemma 1. Norm Bounds and Lipschitzness</vt:lpstr>
      <vt:lpstr>Theorem 2. UB on Distance between Parameters</vt:lpstr>
      <vt:lpstr>Theorem 2. UB on Distance between Parameters</vt:lpstr>
      <vt:lpstr>Theorem 2. UB on Distance between Parameters</vt:lpstr>
      <vt:lpstr>Theorem 2. UB on Distance between Parameters</vt:lpstr>
      <vt:lpstr>Theorem 3. UB on Distance between Parameters</vt:lpstr>
      <vt:lpstr>Theorem 3. UB on Distance between Parameters</vt:lpstr>
      <vt:lpstr>Theorem 3. UB on Distance between Parameters</vt:lpstr>
      <vt:lpstr>Theorem 3. UB on Distance between Parameters</vt:lpstr>
      <vt:lpstr>Theorem 4. </vt:lpstr>
      <vt:lpstr>Section 4 : Fine-Tuning Meets NTK Regression</vt:lpstr>
      <vt:lpstr>Fine-tuning can be defined as RKHS</vt:lpstr>
      <vt:lpstr>Fine-tuning can be defined as RKHS</vt:lpstr>
      <vt:lpstr>Optimal parameter of MSE + weight decay objective</vt:lpstr>
      <vt:lpstr>Fine-tuning can be defined as RKHS</vt:lpstr>
      <vt:lpstr>Fine-tuning can be defined as RKHS</vt:lpstr>
      <vt:lpstr>NTK directly affects the empirical risk</vt:lpstr>
      <vt:lpstr>Proof of theorem 5</vt:lpstr>
      <vt:lpstr>Section 5 : Spectral Perturbation of Layers</vt:lpstr>
      <vt:lpstr>So far…</vt:lpstr>
      <vt:lpstr>NTK Eigenvalue Stability under Layer Addition</vt:lpstr>
      <vt:lpstr>Predictive Risk Bound for Layer-wise Fine-tuning</vt:lpstr>
      <vt:lpstr>Proof of theorem 7</vt:lpstr>
      <vt:lpstr>Proof of theorem 7</vt:lpstr>
      <vt:lpstr>Proof of theorem 7</vt:lpstr>
      <vt:lpstr>Section 6 : Experiments</vt:lpstr>
      <vt:lpstr>Experiments</vt:lpstr>
      <vt:lpstr>Does the regularizer in fact make the model linear? </vt:lpstr>
      <vt:lpstr>Does the condition number on matrix K really bound the empirical risk?</vt:lpstr>
      <vt:lpstr>Limitation</vt:lpstr>
      <vt:lpstr>Limitation</vt:lpstr>
      <vt:lpstr>End of Document</vt:lpstr>
      <vt:lpstr>Lemma 3. Gradient Flow</vt:lpstr>
      <vt:lpstr>Lemma 1. Norm Bounds and Lipschitzness</vt:lpstr>
      <vt:lpstr>Theorem 4. </vt:lpstr>
      <vt:lpstr>Theorem 4.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김성훈 Sunghoon Kim</dc:creator>
  <cp:lastModifiedBy>김준석(전자전기공학과)</cp:lastModifiedBy>
  <cp:revision>1829</cp:revision>
  <dcterms:created xsi:type="dcterms:W3CDTF">2018-06-21T04:10:50Z</dcterms:created>
  <dcterms:modified xsi:type="dcterms:W3CDTF">2025-12-13T13:19:37Z</dcterms:modified>
</cp:coreProperties>
</file>